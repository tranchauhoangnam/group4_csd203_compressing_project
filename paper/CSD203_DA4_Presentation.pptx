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728655" cy="2011680"/>
          </a:xfrm>
          <a:prstGeom prst="rect">
            <a:avLst/>
          </a:prstGeom>
          <a:noFill/>
        </p:spPr>
        <p:txBody>
          <a:bodyPr wrap="square" lIns="0" tIns="0" rIns="0" bIns="0">
            <a:spAutoFit/>
          </a:bodyPr>
          <a:lstStyle/>
          <a:p>
            <a:pPr>
              <a:defRPr sz="1100" b="1">
                <a:solidFill>
                  <a:srgbClr val="0D9488"/>
                </a:solidFill>
                <a:latin typeface="Segoe UI"/>
              </a:defRPr>
            </a:pPr>
            <a:r>
              <a:t>BÁO CÁO ĐỒ ÁN HỌC PHẦN · CSD203 (DATA STRUCTURES &amp; ALGORITHMS WITH PYTHON)</a:t>
            </a:r>
          </a:p>
          <a:p>
            <a:pPr>
              <a:spcBef>
                <a:spcPts val="800"/>
              </a:spcBef>
              <a:defRPr sz="2500" b="1">
                <a:solidFill>
                  <a:srgbClr val="F8FAFC"/>
                </a:solidFill>
                <a:latin typeface="Segoe UI"/>
              </a:defRPr>
            </a:pPr>
            <a:r>
              <a:t>Khảo sát Thực nghiệm các Thuật toán Nén Không Mất Mát</a:t>
            </a:r>
            <a:br/>
            <a:r>
              <a:t>và Tokenizer Byte Pair Encoding của LLM</a:t>
            </a:r>
          </a:p>
          <a:p>
            <a:pPr>
              <a:spcBef>
                <a:spcPts val="400"/>
              </a:spcBef>
              <a:defRPr sz="1200">
                <a:solidFill>
                  <a:srgbClr val="94A3B8"/>
                </a:solidFill>
                <a:latin typeface="Segoe UI"/>
              </a:defRPr>
            </a:pPr>
            <a:r>
              <a:t>An Empirical Benchmark of Lossless Compression (RLE, Canonical Huffman, LZW) and BPE Tokenization</a:t>
            </a:r>
          </a:p>
        </p:txBody>
      </p:sp>
      <p:sp>
        <p:nvSpPr>
          <p:cNvPr id="5" name="TextBox 4"/>
          <p:cNvSpPr txBox="1"/>
          <p:nvPr/>
        </p:nvSpPr>
        <p:spPr>
          <a:xfrm>
            <a:off x="731520" y="2788920"/>
            <a:ext cx="10728655" cy="365760"/>
          </a:xfrm>
          <a:prstGeom prst="rect">
            <a:avLst/>
          </a:prstGeom>
          <a:noFill/>
        </p:spPr>
        <p:txBody>
          <a:bodyPr wrap="square" lIns="0" tIns="0">
            <a:spAutoFit/>
          </a:bodyPr>
          <a:lstStyle/>
          <a:p>
            <a:pPr>
              <a:defRPr sz="1300" b="1">
                <a:solidFill>
                  <a:srgbClr val="D97706"/>
                </a:solidFill>
                <a:latin typeface="Segoe UI"/>
              </a:defRPr>
            </a:pPr>
            <a:r>
              <a:t>Nhóm 4 — Lớp AI21B — Học kỳ Fall 2026 (FA26) · Đề tài 4: Nén Văn Bản &amp; Tokenizer LLM</a:t>
            </a:r>
          </a:p>
        </p:txBody>
      </p:sp>
      <p:sp>
        <p:nvSpPr>
          <p:cNvPr id="6" name="Rounded Rectangle 5"/>
          <p:cNvSpPr/>
          <p:nvPr/>
        </p:nvSpPr>
        <p:spPr>
          <a:xfrm>
            <a:off x="731520" y="3337560"/>
            <a:ext cx="3429000" cy="1371600"/>
          </a:xfrm>
          <a:prstGeom prst="roundRect">
            <a:avLst/>
          </a:prstGeom>
          <a:solidFill>
            <a:srgbClr val="1C2541"/>
          </a:solidFill>
          <a:ln w="1270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3447288"/>
            <a:ext cx="3099816" cy="1152144"/>
          </a:xfrm>
          <a:prstGeom prst="rect">
            <a:avLst/>
          </a:prstGeom>
          <a:noFill/>
        </p:spPr>
        <p:txBody>
          <a:bodyPr wrap="square" lIns="0" tIns="0" rIns="0" bIns="0">
            <a:spAutoFit/>
          </a:bodyPr>
          <a:lstStyle/>
          <a:p>
            <a:pPr>
              <a:defRPr sz="1300" b="1">
                <a:solidFill>
                  <a:srgbClr val="F8FAFC"/>
                </a:solidFill>
                <a:latin typeface="Segoe UI"/>
              </a:defRPr>
            </a:pPr>
            <a:r>
              <a:t>Trần Châu Hoàng Nam</a:t>
            </a:r>
          </a:p>
          <a:p>
            <a:pPr>
              <a:spcBef>
                <a:spcPts val="200"/>
              </a:spcBef>
              <a:defRPr sz="1000">
                <a:solidFill>
                  <a:srgbClr val="0D9488"/>
                </a:solidFill>
                <a:latin typeface="Segoe UI"/>
              </a:defRPr>
            </a:pPr>
            <a:r>
              <a:t>MSSV: QE210145  |  Nhóm trưởng (Leader) · Cặp 2</a:t>
            </a:r>
          </a:p>
          <a:p>
            <a:pPr>
              <a:spcBef>
                <a:spcPts val="300"/>
              </a:spcBef>
              <a:defRPr sz="950">
                <a:solidFill>
                  <a:srgbClr val="94A3B8"/>
                </a:solidFill>
                <a:latin typeface="Segoe UI"/>
              </a:defRPr>
            </a:pPr>
            <a:r>
              <a:t>RQ2 (Độ nhạy điều kiện) &amp; Lý thuyết</a:t>
            </a:r>
          </a:p>
        </p:txBody>
      </p:sp>
      <p:sp>
        <p:nvSpPr>
          <p:cNvPr id="8" name="Rounded Rectangle 7"/>
          <p:cNvSpPr/>
          <p:nvPr/>
        </p:nvSpPr>
        <p:spPr>
          <a:xfrm>
            <a:off x="4379976" y="3337560"/>
            <a:ext cx="3429000" cy="1371600"/>
          </a:xfrm>
          <a:prstGeom prst="roundRect">
            <a:avLst/>
          </a:prstGeom>
          <a:solidFill>
            <a:srgbClr val="1C2541"/>
          </a:solidFill>
          <a:ln w="1270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3447288"/>
            <a:ext cx="3099816" cy="1152144"/>
          </a:xfrm>
          <a:prstGeom prst="rect">
            <a:avLst/>
          </a:prstGeom>
          <a:noFill/>
        </p:spPr>
        <p:txBody>
          <a:bodyPr wrap="square" lIns="0" tIns="0" rIns="0" bIns="0">
            <a:spAutoFit/>
          </a:bodyPr>
          <a:lstStyle/>
          <a:p>
            <a:pPr>
              <a:defRPr sz="1300" b="1">
                <a:solidFill>
                  <a:srgbClr val="F8FAFC"/>
                </a:solidFill>
                <a:latin typeface="Segoe UI"/>
              </a:defRPr>
            </a:pPr>
            <a:r>
              <a:t>Nguyễn Trí Viễn</a:t>
            </a:r>
          </a:p>
          <a:p>
            <a:pPr>
              <a:spcBef>
                <a:spcPts val="200"/>
              </a:spcBef>
              <a:defRPr sz="1000">
                <a:solidFill>
                  <a:srgbClr val="0D9488"/>
                </a:solidFill>
                <a:latin typeface="Segoe UI"/>
              </a:defRPr>
            </a:pPr>
            <a:r>
              <a:t>MSSV: QE210041  |  Thành viên · Cặp 1</a:t>
            </a:r>
          </a:p>
          <a:p>
            <a:pPr>
              <a:spcBef>
                <a:spcPts val="300"/>
              </a:spcBef>
              <a:defRPr sz="950">
                <a:solidFill>
                  <a:srgbClr val="94A3B8"/>
                </a:solidFill>
                <a:latin typeface="Segoe UI"/>
              </a:defRPr>
            </a:pPr>
            <a:r>
              <a:t>RQ1: Cài đặt RLE, LZW &amp; Container</a:t>
            </a:r>
          </a:p>
        </p:txBody>
      </p:sp>
      <p:sp>
        <p:nvSpPr>
          <p:cNvPr id="10" name="Rounded Rectangle 9"/>
          <p:cNvSpPr/>
          <p:nvPr/>
        </p:nvSpPr>
        <p:spPr>
          <a:xfrm>
            <a:off x="8028432" y="3337560"/>
            <a:ext cx="3429000" cy="1371600"/>
          </a:xfrm>
          <a:prstGeom prst="roundRect">
            <a:avLst/>
          </a:prstGeom>
          <a:solidFill>
            <a:srgbClr val="1C2541"/>
          </a:solidFill>
          <a:ln w="1270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4" y="3447288"/>
            <a:ext cx="3099816" cy="1152144"/>
          </a:xfrm>
          <a:prstGeom prst="rect">
            <a:avLst/>
          </a:prstGeom>
          <a:noFill/>
        </p:spPr>
        <p:txBody>
          <a:bodyPr wrap="square" lIns="0" tIns="0" rIns="0" bIns="0">
            <a:spAutoFit/>
          </a:bodyPr>
          <a:lstStyle/>
          <a:p>
            <a:pPr>
              <a:defRPr sz="1300" b="1">
                <a:solidFill>
                  <a:srgbClr val="F8FAFC"/>
                </a:solidFill>
                <a:latin typeface="Segoe UI"/>
              </a:defRPr>
            </a:pPr>
            <a:r>
              <a:t>Phạm Minh Tiến</a:t>
            </a:r>
          </a:p>
          <a:p>
            <a:pPr>
              <a:spcBef>
                <a:spcPts val="200"/>
              </a:spcBef>
              <a:defRPr sz="1000">
                <a:solidFill>
                  <a:srgbClr val="0D9488"/>
                </a:solidFill>
                <a:latin typeface="Segoe UI"/>
              </a:defRPr>
            </a:pPr>
            <a:r>
              <a:t>MSSV: QE210079  |  Thành viên · Cặp 1</a:t>
            </a:r>
          </a:p>
          <a:p>
            <a:pPr>
              <a:spcBef>
                <a:spcPts val="300"/>
              </a:spcBef>
              <a:defRPr sz="950">
                <a:solidFill>
                  <a:srgbClr val="94A3B8"/>
                </a:solidFill>
                <a:latin typeface="Segoe UI"/>
              </a:defRPr>
            </a:pPr>
            <a:r>
              <a:t>RQ1: Benchmark Lead &amp; Sinh dữ liệu</a:t>
            </a:r>
          </a:p>
        </p:txBody>
      </p:sp>
      <p:sp>
        <p:nvSpPr>
          <p:cNvPr id="12" name="Rounded Rectangle 11"/>
          <p:cNvSpPr/>
          <p:nvPr/>
        </p:nvSpPr>
        <p:spPr>
          <a:xfrm>
            <a:off x="731520" y="4910328"/>
            <a:ext cx="3429000" cy="1371600"/>
          </a:xfrm>
          <a:prstGeom prst="roundRect">
            <a:avLst/>
          </a:prstGeom>
          <a:solidFill>
            <a:srgbClr val="1C2541"/>
          </a:solidFill>
          <a:ln w="1270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5020056"/>
            <a:ext cx="3099816" cy="1152144"/>
          </a:xfrm>
          <a:prstGeom prst="rect">
            <a:avLst/>
          </a:prstGeom>
          <a:noFill/>
        </p:spPr>
        <p:txBody>
          <a:bodyPr wrap="square" lIns="0" tIns="0" rIns="0" bIns="0">
            <a:spAutoFit/>
          </a:bodyPr>
          <a:lstStyle/>
          <a:p>
            <a:pPr>
              <a:defRPr sz="1300" b="1">
                <a:solidFill>
                  <a:srgbClr val="F8FAFC"/>
                </a:solidFill>
                <a:latin typeface="Segoe UI"/>
              </a:defRPr>
            </a:pPr>
            <a:r>
              <a:t>Hoàng Đức Khánh</a:t>
            </a:r>
          </a:p>
          <a:p>
            <a:pPr>
              <a:spcBef>
                <a:spcPts val="200"/>
              </a:spcBef>
              <a:defRPr sz="1000">
                <a:solidFill>
                  <a:srgbClr val="0D9488"/>
                </a:solidFill>
                <a:latin typeface="Segoe UI"/>
              </a:defRPr>
            </a:pPr>
            <a:r>
              <a:t>MSSV: SE180114  |  Thành viên · Cặp 2</a:t>
            </a:r>
          </a:p>
          <a:p>
            <a:pPr>
              <a:spcBef>
                <a:spcPts val="300"/>
              </a:spcBef>
              <a:defRPr sz="950">
                <a:solidFill>
                  <a:srgbClr val="94A3B8"/>
                </a:solidFill>
                <a:latin typeface="Segoe UI"/>
              </a:defRPr>
            </a:pPr>
            <a:r>
              <a:t>RQ2: Cài đặt Huffman chính tắc 2 lượt</a:t>
            </a:r>
          </a:p>
        </p:txBody>
      </p:sp>
      <p:sp>
        <p:nvSpPr>
          <p:cNvPr id="14" name="Rounded Rectangle 13"/>
          <p:cNvSpPr/>
          <p:nvPr/>
        </p:nvSpPr>
        <p:spPr>
          <a:xfrm>
            <a:off x="4379976" y="4910328"/>
            <a:ext cx="3429000" cy="1371600"/>
          </a:xfrm>
          <a:prstGeom prst="roundRect">
            <a:avLst/>
          </a:prstGeom>
          <a:solidFill>
            <a:srgbClr val="1C2541"/>
          </a:solidFill>
          <a:ln w="1270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4568" y="5020056"/>
            <a:ext cx="3099816" cy="1152144"/>
          </a:xfrm>
          <a:prstGeom prst="rect">
            <a:avLst/>
          </a:prstGeom>
          <a:noFill/>
        </p:spPr>
        <p:txBody>
          <a:bodyPr wrap="square" lIns="0" tIns="0" rIns="0" bIns="0">
            <a:spAutoFit/>
          </a:bodyPr>
          <a:lstStyle/>
          <a:p>
            <a:pPr>
              <a:defRPr sz="1300" b="1">
                <a:solidFill>
                  <a:srgbClr val="F8FAFC"/>
                </a:solidFill>
                <a:latin typeface="Segoe UI"/>
              </a:defRPr>
            </a:pPr>
            <a:r>
              <a:t>Trương Đình Tân</a:t>
            </a:r>
          </a:p>
          <a:p>
            <a:pPr>
              <a:spcBef>
                <a:spcPts val="200"/>
              </a:spcBef>
              <a:defRPr sz="1000">
                <a:solidFill>
                  <a:srgbClr val="0D9488"/>
                </a:solidFill>
                <a:latin typeface="Segoe UI"/>
              </a:defRPr>
            </a:pPr>
            <a:r>
              <a:t>MSSV: QE210065  |  Thành viên · Cặp 3</a:t>
            </a:r>
          </a:p>
          <a:p>
            <a:pPr>
              <a:spcBef>
                <a:spcPts val="300"/>
              </a:spcBef>
              <a:defRPr sz="950">
                <a:solidFill>
                  <a:srgbClr val="94A3B8"/>
                </a:solidFill>
                <a:latin typeface="Segoe UI"/>
              </a:defRPr>
            </a:pPr>
            <a:r>
              <a:t>RQ3: Huấn luyện BPE (3 biến thể) &amp; Ablation</a:t>
            </a:r>
          </a:p>
        </p:txBody>
      </p:sp>
      <p:sp>
        <p:nvSpPr>
          <p:cNvPr id="16" name="Rounded Rectangle 15"/>
          <p:cNvSpPr/>
          <p:nvPr/>
        </p:nvSpPr>
        <p:spPr>
          <a:xfrm>
            <a:off x="8028432" y="4910328"/>
            <a:ext cx="3429000" cy="1371600"/>
          </a:xfrm>
          <a:prstGeom prst="roundRect">
            <a:avLst/>
          </a:prstGeom>
          <a:solidFill>
            <a:srgbClr val="1C2541"/>
          </a:solidFill>
          <a:ln w="1270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4" y="5020056"/>
            <a:ext cx="3099816" cy="1152144"/>
          </a:xfrm>
          <a:prstGeom prst="rect">
            <a:avLst/>
          </a:prstGeom>
          <a:noFill/>
        </p:spPr>
        <p:txBody>
          <a:bodyPr wrap="square" lIns="0" tIns="0" rIns="0" bIns="0">
            <a:spAutoFit/>
          </a:bodyPr>
          <a:lstStyle/>
          <a:p>
            <a:pPr>
              <a:defRPr sz="1300" b="1">
                <a:solidFill>
                  <a:srgbClr val="F8FAFC"/>
                </a:solidFill>
                <a:latin typeface="Segoe UI"/>
              </a:defRPr>
            </a:pPr>
            <a:r>
              <a:t>Dương Quốc Thịnh</a:t>
            </a:r>
          </a:p>
          <a:p>
            <a:pPr>
              <a:spcBef>
                <a:spcPts val="200"/>
              </a:spcBef>
              <a:defRPr sz="1000">
                <a:solidFill>
                  <a:srgbClr val="0D9488"/>
                </a:solidFill>
                <a:latin typeface="Segoe UI"/>
              </a:defRPr>
            </a:pPr>
            <a:r>
              <a:t>MSSV: QE210121  |  Thành viên · Cặp 3</a:t>
            </a:r>
          </a:p>
          <a:p>
            <a:pPr>
              <a:spcBef>
                <a:spcPts val="300"/>
              </a:spcBef>
              <a:defRPr sz="950">
                <a:solidFill>
                  <a:srgbClr val="94A3B8"/>
                </a:solidFill>
                <a:latin typeface="Segoe UI"/>
              </a:defRPr>
            </a:pPr>
            <a:r>
              <a:t>RQ3: Pre-tokenization GPT &amp; BPE Tokenizer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74320"/>
          </a:xfrm>
          <a:prstGeom prst="rect">
            <a:avLst/>
          </a:prstGeom>
          <a:noFill/>
        </p:spPr>
        <p:txBody>
          <a:bodyPr wrap="square" lIns="0" tIns="0" rIns="0" bIns="0">
            <a:spAutoFit/>
          </a:bodyPr>
          <a:lstStyle/>
          <a:p>
            <a:pPr>
              <a:defRPr sz="1000" b="1">
                <a:solidFill>
                  <a:srgbClr val="2563EB"/>
                </a:solidFill>
                <a:latin typeface="Segoe UI"/>
              </a:defRPr>
            </a:pPr>
            <a:r>
              <a:t>BỐI CẢNH &amp; ĐỘNG LỰC ĐỀ TÀI</a:t>
            </a:r>
          </a:p>
        </p:txBody>
      </p:sp>
      <p:sp>
        <p:nvSpPr>
          <p:cNvPr id="4" name="TextBox 3"/>
          <p:cNvSpPr txBox="1"/>
          <p:nvPr/>
        </p:nvSpPr>
        <p:spPr>
          <a:xfrm>
            <a:off x="731520" y="621792"/>
            <a:ext cx="10728655" cy="502920"/>
          </a:xfrm>
          <a:prstGeom prst="rect">
            <a:avLst/>
          </a:prstGeom>
          <a:noFill/>
        </p:spPr>
        <p:txBody>
          <a:bodyPr wrap="square" lIns="0" tIns="0" rIns="0" bIns="0">
            <a:spAutoFit/>
          </a:bodyPr>
          <a:lstStyle/>
          <a:p>
            <a:pPr>
              <a:defRPr sz="2100" b="1">
                <a:solidFill>
                  <a:srgbClr val="0F172A"/>
                </a:solidFill>
                <a:latin typeface="Segoe UI"/>
              </a:defRPr>
            </a:pPr>
            <a:r>
              <a:t>Từ Nén Dữ Liệu Truyền Thống Đến Tokenizer Của LLM</a:t>
            </a:r>
          </a:p>
        </p:txBody>
      </p:sp>
      <p:sp>
        <p:nvSpPr>
          <p:cNvPr id="5" name="TextBox 4"/>
          <p:cNvSpPr txBox="1"/>
          <p:nvPr/>
        </p:nvSpPr>
        <p:spPr>
          <a:xfrm>
            <a:off x="731520" y="1115568"/>
            <a:ext cx="10728655" cy="274320"/>
          </a:xfrm>
          <a:prstGeom prst="rect">
            <a:avLst/>
          </a:prstGeom>
          <a:noFill/>
        </p:spPr>
        <p:txBody>
          <a:bodyPr wrap="square" lIns="0" tIns="0" rIns="0" bIns="0">
            <a:spAutoFit/>
          </a:bodyPr>
          <a:lstStyle/>
          <a:p>
            <a:pPr>
              <a:defRPr sz="1150">
                <a:solidFill>
                  <a:srgbClr val="475569"/>
                </a:solidFill>
                <a:latin typeface="Segoe UI"/>
              </a:defRPr>
            </a:pPr>
            <a:r>
              <a:t>Sự chuyển dịch từ tối ưu hóa dung lượng lưu trữ vật lý sang biểu diễn ngữ nghĩa trong mô hình ngôn ngữ lớn</a:t>
            </a:r>
          </a:p>
        </p:txBody>
      </p:sp>
      <p:sp>
        <p:nvSpPr>
          <p:cNvPr id="6" name="Rounded Rectangle 5"/>
          <p:cNvSpPr/>
          <p:nvPr/>
        </p:nvSpPr>
        <p:spPr>
          <a:xfrm>
            <a:off x="731520" y="150876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91640"/>
            <a:ext cx="4663440" cy="4480560"/>
          </a:xfrm>
          <a:prstGeom prst="rect">
            <a:avLst/>
          </a:prstGeom>
          <a:noFill/>
        </p:spPr>
        <p:txBody>
          <a:bodyPr wrap="square" lIns="0" tIns="0">
            <a:spAutoFit/>
          </a:bodyPr>
          <a:lstStyle/>
          <a:p>
            <a:pPr>
              <a:defRPr sz="1400" b="1">
                <a:solidFill>
                  <a:srgbClr val="1D4ED8"/>
                </a:solidFill>
                <a:latin typeface="Segoe UI"/>
              </a:defRPr>
            </a:pPr>
            <a:r>
              <a:t>1. Nén Dữ Liệu Truyền Thống (Classic Codecs)</a:t>
            </a:r>
          </a:p>
          <a:p>
            <a:pPr>
              <a:spcBef>
                <a:spcPts val="400"/>
              </a:spcBef>
              <a:defRPr sz="1100">
                <a:solidFill>
                  <a:srgbClr val="0F172A"/>
                </a:solidFill>
                <a:latin typeface="Segoe UI"/>
              </a:defRPr>
            </a:pPr>
            <a:r>
              <a:t>• Mục tiêu cốt lõi: Thu nhỏ dung lượng file bit-level để tiết kiệm đĩa cứng và băng thông mạng.</a:t>
            </a:r>
          </a:p>
          <a:p>
            <a:pPr>
              <a:spcBef>
                <a:spcPts val="400"/>
              </a:spcBef>
              <a:defRPr sz="1100">
                <a:solidFill>
                  <a:srgbClr val="0F172A"/>
                </a:solidFill>
                <a:latin typeface="Segoe UI"/>
              </a:defRPr>
            </a:pPr>
            <a:r>
              <a:t>• RLE (1960s): Thu gọn chuỗi byte lặp liên tiếp $O(N)$ không cần mô hình hóa.</a:t>
            </a:r>
          </a:p>
          <a:p>
            <a:pPr>
              <a:spcBef>
                <a:spcPts val="400"/>
              </a:spcBef>
              <a:defRPr sz="1100">
                <a:solidFill>
                  <a:srgbClr val="0F172A"/>
                </a:solidFill>
                <a:latin typeface="Segoe UI"/>
              </a:defRPr>
            </a:pPr>
            <a:r>
              <a:t>• Canonical Huffman (1952): Tối ưu độ dài mã bit theo entropy tần suất biên $H_0$.</a:t>
            </a:r>
          </a:p>
          <a:p>
            <a:pPr>
              <a:spcBef>
                <a:spcPts val="400"/>
              </a:spcBef>
              <a:defRPr sz="1100">
                <a:solidFill>
                  <a:srgbClr val="0F172A"/>
                </a:solidFill>
                <a:latin typeface="Segoe UI"/>
              </a:defRPr>
            </a:pPr>
            <a:r>
              <a:t>• LZW 12-bit (1984): Học thích nghi từ điển chuỗi con trong quá trình nén.</a:t>
            </a:r>
          </a:p>
          <a:p>
            <a:pPr>
              <a:spcBef>
                <a:spcPts val="1400"/>
              </a:spcBef>
              <a:defRPr sz="1400" b="1">
                <a:solidFill>
                  <a:srgbClr val="0D9488"/>
                </a:solidFill>
                <a:latin typeface="Segoe UI"/>
              </a:defRPr>
            </a:pPr>
            <a:r>
              <a:t>2. Tokenizer Mô Hình Ngôn Ngữ (Modern LLM)</a:t>
            </a:r>
          </a:p>
          <a:p>
            <a:pPr>
              <a:spcBef>
                <a:spcPts val="400"/>
              </a:spcBef>
              <a:defRPr sz="1100">
                <a:solidFill>
                  <a:srgbClr val="0F172A"/>
                </a:solidFill>
                <a:latin typeface="Segoe UI"/>
              </a:defRPr>
            </a:pPr>
            <a:r>
              <a:t>• Byte-level BPE (GPT-2/3/4): Khởi tạo từ 256 byte UTF-8 cơ sở, học hợp nhất cặp ký tự phổ biến nhất.</a:t>
            </a:r>
          </a:p>
          <a:p>
            <a:pPr>
              <a:spcBef>
                <a:spcPts val="400"/>
              </a:spcBef>
              <a:defRPr sz="1100">
                <a:solidFill>
                  <a:srgbClr val="0F172A"/>
                </a:solidFill>
                <a:latin typeface="Segoe UI"/>
              </a:defRPr>
            </a:pPr>
            <a:r>
              <a:t>• Giải quyết từ hiếm (Out-of-Vocabulary): Xử lý hoàn hảo mọi chuỗi nhị phân mà không gây lỗi.</a:t>
            </a:r>
          </a:p>
          <a:p>
            <a:pPr>
              <a:spcBef>
                <a:spcPts val="400"/>
              </a:spcBef>
              <a:defRPr sz="1100">
                <a:solidFill>
                  <a:srgbClr val="0F172A"/>
                </a:solidFill>
                <a:latin typeface="Segoe UI"/>
              </a:defRPr>
            </a:pPr>
            <a:r>
              <a:t>• Cân bằng độ dài ngữ cảnh: Số token càng ít, cửa sổ ngữ cảnh càng chứa được nhiều nội dung và chi phí tính toán API càng giảm.</a:t>
            </a:r>
          </a:p>
        </p:txBody>
      </p:sp>
      <p:sp>
        <p:nvSpPr>
          <p:cNvPr id="8" name="Rounded Rectangle 7"/>
          <p:cNvSpPr/>
          <p:nvPr/>
        </p:nvSpPr>
        <p:spPr>
          <a:xfrm>
            <a:off x="6035040" y="1508760"/>
            <a:ext cx="5425135" cy="15087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645920"/>
            <a:ext cx="4937760" cy="1234440"/>
          </a:xfrm>
          <a:prstGeom prst="rect">
            <a:avLst/>
          </a:prstGeom>
          <a:noFill/>
        </p:spPr>
        <p:txBody>
          <a:bodyPr wrap="square" lIns="0" tIns="0">
            <a:spAutoFit/>
          </a:bodyPr>
          <a:lstStyle/>
          <a:p>
            <a:pPr>
              <a:defRPr sz="1300" b="1">
                <a:solidFill>
                  <a:srgbClr val="2563EB"/>
                </a:solidFill>
                <a:latin typeface="Segoe UI"/>
              </a:defRPr>
            </a:pPr>
            <a:r>
              <a:t>RQ1: Khảo sát Định luật Tải (Scalability)</a:t>
            </a:r>
          </a:p>
          <a:p>
            <a:pPr>
              <a:spcBef>
                <a:spcPts val="400"/>
              </a:spcBef>
              <a:defRPr sz="1050">
                <a:solidFill>
                  <a:srgbClr val="0F172A"/>
                </a:solidFill>
                <a:latin typeface="Segoe UI"/>
              </a:defRPr>
            </a:pPr>
            <a:r>
              <a:t>Hiệu quả nén, thông lượng (KiB/s) và đỉnh RAM thay đổi thế nào khi quy mô dữ liệu tăng từ 256 KiB đến 4096 KiB trên 4 họ ngữ liệu (C1, C2, C3, V1)?</a:t>
            </a:r>
          </a:p>
        </p:txBody>
      </p:sp>
      <p:sp>
        <p:nvSpPr>
          <p:cNvPr id="10" name="Rounded Rectangle 9"/>
          <p:cNvSpPr/>
          <p:nvPr/>
        </p:nvSpPr>
        <p:spPr>
          <a:xfrm>
            <a:off x="6035040" y="3182112"/>
            <a:ext cx="5425135" cy="15087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3319272"/>
            <a:ext cx="4937760" cy="1234440"/>
          </a:xfrm>
          <a:prstGeom prst="rect">
            <a:avLst/>
          </a:prstGeom>
          <a:noFill/>
        </p:spPr>
        <p:txBody>
          <a:bodyPr wrap="square" lIns="0" tIns="0">
            <a:spAutoFit/>
          </a:bodyPr>
          <a:lstStyle/>
          <a:p>
            <a:pPr>
              <a:defRPr sz="1300" b="1">
                <a:solidFill>
                  <a:srgbClr val="0D9488"/>
                </a:solidFill>
                <a:latin typeface="Segoe UI"/>
              </a:defRPr>
            </a:pPr>
            <a:r>
              <a:t>RQ2: Khảo sát Độ nhạy Điều kiện (Condition Sensitivity)</a:t>
            </a:r>
          </a:p>
          <a:p>
            <a:pPr>
              <a:spcBef>
                <a:spcPts val="400"/>
              </a:spcBef>
              <a:defRPr sz="1050">
                <a:solidFill>
                  <a:srgbClr val="0F172A"/>
                </a:solidFill>
                <a:latin typeface="Segoe UI"/>
              </a:defRPr>
            </a:pPr>
            <a:r>
              <a:t>Khi hoán vị thứ tự byte (Counting Sort gom run vs Fisher-Yates xáo trộn) bảo toàn nguyên vẹn entropy Shannon bậc 0 (H₀), tỷ lệ nén của các thuật toán phản ứng ra sao?</a:t>
            </a:r>
          </a:p>
        </p:txBody>
      </p:sp>
      <p:sp>
        <p:nvSpPr>
          <p:cNvPr id="12" name="Rounded Rectangle 11"/>
          <p:cNvSpPr/>
          <p:nvPr/>
        </p:nvSpPr>
        <p:spPr>
          <a:xfrm>
            <a:off x="6035040" y="4855464"/>
            <a:ext cx="5425135" cy="15087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4992624"/>
            <a:ext cx="4937760" cy="1234440"/>
          </a:xfrm>
          <a:prstGeom prst="rect">
            <a:avLst/>
          </a:prstGeom>
          <a:noFill/>
        </p:spPr>
        <p:txBody>
          <a:bodyPr wrap="square" lIns="0" tIns="0">
            <a:spAutoFit/>
          </a:bodyPr>
          <a:lstStyle/>
          <a:p>
            <a:pPr>
              <a:defRPr sz="1300" b="1">
                <a:solidFill>
                  <a:srgbClr val="D97706"/>
                </a:solidFill>
                <a:latin typeface="Segoe UI"/>
              </a:defRPr>
            </a:pPr>
            <a:r>
              <a:t>RQ3: BPE vs LZW &amp; Bóc tách Cơ chế (Ablation Study)</a:t>
            </a:r>
          </a:p>
          <a:p>
            <a:pPr>
              <a:spcBef>
                <a:spcPts val="400"/>
              </a:spcBef>
              <a:defRPr sz="1050">
                <a:solidFill>
                  <a:srgbClr val="0F172A"/>
                </a:solidFill>
                <a:latin typeface="Segoe UI"/>
              </a:defRPr>
            </a:pPr>
            <a:r>
              <a:t>BPE vượt trội LZW ở điểm nào? Sự bất tương thích ngữ liệu song ngữ Anh - Việt gây lạm phát token ra sao? Và cấu trúc dữ liệu nào giúp huấn luyện BPE hiệu quả nhất?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74320"/>
          </a:xfrm>
          <a:prstGeom prst="rect">
            <a:avLst/>
          </a:prstGeom>
          <a:noFill/>
        </p:spPr>
        <p:txBody>
          <a:bodyPr wrap="square" lIns="0" tIns="0" rIns="0" bIns="0">
            <a:spAutoFit/>
          </a:bodyPr>
          <a:lstStyle/>
          <a:p>
            <a:pPr>
              <a:defRPr sz="1000" b="1">
                <a:solidFill>
                  <a:srgbClr val="2563EB"/>
                </a:solidFill>
                <a:latin typeface="Segoe UI"/>
              </a:defRPr>
            </a:pPr>
            <a:r>
              <a:t>CƠ SỞ LÝ THUYẾT</a:t>
            </a:r>
          </a:p>
        </p:txBody>
      </p:sp>
      <p:sp>
        <p:nvSpPr>
          <p:cNvPr id="4" name="TextBox 3"/>
          <p:cNvSpPr txBox="1"/>
          <p:nvPr/>
        </p:nvSpPr>
        <p:spPr>
          <a:xfrm>
            <a:off x="731520" y="621792"/>
            <a:ext cx="10728655" cy="502920"/>
          </a:xfrm>
          <a:prstGeom prst="rect">
            <a:avLst/>
          </a:prstGeom>
          <a:noFill/>
        </p:spPr>
        <p:txBody>
          <a:bodyPr wrap="square" lIns="0" tIns="0" rIns="0" bIns="0">
            <a:spAutoFit/>
          </a:bodyPr>
          <a:lstStyle/>
          <a:p>
            <a:pPr>
              <a:defRPr sz="2100" b="1">
                <a:solidFill>
                  <a:srgbClr val="0F172A"/>
                </a:solidFill>
                <a:latin typeface="Segoe UI"/>
              </a:defRPr>
            </a:pPr>
            <a:r>
              <a:t>Nguyên Lý Khai Thác Độ Dư Thừa Thông Tin Của 4 Giải Thuật</a:t>
            </a:r>
          </a:p>
        </p:txBody>
      </p:sp>
      <p:sp>
        <p:nvSpPr>
          <p:cNvPr id="5" name="TextBox 4"/>
          <p:cNvSpPr txBox="1"/>
          <p:nvPr/>
        </p:nvSpPr>
        <p:spPr>
          <a:xfrm>
            <a:off x="731520" y="1115568"/>
            <a:ext cx="10728655" cy="274320"/>
          </a:xfrm>
          <a:prstGeom prst="rect">
            <a:avLst/>
          </a:prstGeom>
          <a:noFill/>
        </p:spPr>
        <p:txBody>
          <a:bodyPr wrap="square" lIns="0" tIns="0" rIns="0" bIns="0">
            <a:spAutoFit/>
          </a:bodyPr>
          <a:lstStyle/>
          <a:p>
            <a:pPr>
              <a:defRPr sz="1150">
                <a:solidFill>
                  <a:srgbClr val="475569"/>
                </a:solidFill>
                <a:latin typeface="Segoe UI"/>
              </a:defRPr>
            </a:pPr>
            <a:r>
              <a:t>Mỗi thuật toán khai thác một khía cạnh cấu trúc dư thừa khác nhau trong chuỗi byte</a:t>
            </a:r>
          </a:p>
        </p:txBody>
      </p:sp>
      <p:sp>
        <p:nvSpPr>
          <p:cNvPr id="6" name="Rounded Rectangle 5"/>
          <p:cNvSpPr/>
          <p:nvPr/>
        </p:nvSpPr>
        <p:spPr>
          <a:xfrm>
            <a:off x="731520" y="1508760"/>
            <a:ext cx="5212080" cy="23317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18488"/>
            <a:ext cx="4846320" cy="2112264"/>
          </a:xfrm>
          <a:prstGeom prst="rect">
            <a:avLst/>
          </a:prstGeom>
          <a:noFill/>
        </p:spPr>
        <p:txBody>
          <a:bodyPr wrap="square" lIns="0" tIns="0">
            <a:spAutoFit/>
          </a:bodyPr>
          <a:lstStyle/>
          <a:p>
            <a:pPr>
              <a:defRPr sz="1300" b="1">
                <a:solidFill>
                  <a:srgbClr val="2563EB"/>
                </a:solidFill>
                <a:latin typeface="Segoe UI"/>
              </a:defRPr>
            </a:pPr>
            <a:r>
              <a:t>Run-Length Encoding (RLE)</a:t>
            </a:r>
          </a:p>
          <a:p>
            <a:pPr>
              <a:spcBef>
                <a:spcPts val="100"/>
              </a:spcBef>
              <a:defRPr sz="1000" b="1">
                <a:solidFill>
                  <a:srgbClr val="475569"/>
                </a:solidFill>
                <a:latin typeface="Segoe UI"/>
              </a:defRPr>
            </a:pPr>
            <a:r>
              <a:t>Khai thác chuỗi lặp liên tiếp</a:t>
            </a:r>
          </a:p>
          <a:p>
            <a:pPr>
              <a:spcBef>
                <a:spcPts val="250"/>
              </a:spcBef>
              <a:defRPr sz="950">
                <a:solidFill>
                  <a:srgbClr val="0F172A"/>
                </a:solidFill>
                <a:latin typeface="Segoe UI"/>
              </a:defRPr>
            </a:pPr>
            <a:r>
              <a:t>• Cơ chế: Gom các byte giống nhau liên tiếp thành cặp (count, byte), count từ 1 đến 255.</a:t>
            </a:r>
          </a:p>
          <a:p>
            <a:pPr>
              <a:spcBef>
                <a:spcPts val="250"/>
              </a:spcBef>
              <a:defRPr sz="950">
                <a:solidFill>
                  <a:srgbClr val="0F172A"/>
                </a:solidFill>
                <a:latin typeface="Segoe UI"/>
              </a:defRPr>
            </a:pPr>
            <a:r>
              <a:t>• Độ phức tạp: Thời gian O(N), bộ nhớ O(1) phụ trợ.</a:t>
            </a:r>
          </a:p>
          <a:p>
            <a:pPr>
              <a:spcBef>
                <a:spcPts val="250"/>
              </a:spcBef>
              <a:defRPr sz="950">
                <a:solidFill>
                  <a:srgbClr val="0F172A"/>
                </a:solidFill>
                <a:latin typeface="Segoe UI"/>
              </a:defRPr>
            </a:pPr>
            <a:r>
              <a:t>• Ưu điểm: Tối ưu tuyệt đối trên dữ liệu run dài hình học (flat / mask).</a:t>
            </a:r>
          </a:p>
          <a:p>
            <a:pPr>
              <a:spcBef>
                <a:spcPts val="250"/>
              </a:spcBef>
              <a:defRPr sz="950">
                <a:solidFill>
                  <a:srgbClr val="0F172A"/>
                </a:solidFill>
                <a:latin typeface="Segoe UI"/>
              </a:defRPr>
            </a:pPr>
            <a:r>
              <a:t>• Nhược điểm: Gây phình gấp đôi dung lượng (1.9x–2.0x) trên dữ liệu ngẫu nhiên hoặc phân tán.</a:t>
            </a:r>
          </a:p>
        </p:txBody>
      </p:sp>
      <p:sp>
        <p:nvSpPr>
          <p:cNvPr id="8" name="Rounded Rectangle 7"/>
          <p:cNvSpPr/>
          <p:nvPr/>
        </p:nvSpPr>
        <p:spPr>
          <a:xfrm>
            <a:off x="6248095" y="1508760"/>
            <a:ext cx="5212080" cy="23317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30975" y="1618488"/>
            <a:ext cx="4846320" cy="2112264"/>
          </a:xfrm>
          <a:prstGeom prst="rect">
            <a:avLst/>
          </a:prstGeom>
          <a:noFill/>
        </p:spPr>
        <p:txBody>
          <a:bodyPr wrap="square" lIns="0" tIns="0">
            <a:spAutoFit/>
          </a:bodyPr>
          <a:lstStyle/>
          <a:p>
            <a:pPr>
              <a:defRPr sz="1300" b="1">
                <a:solidFill>
                  <a:srgbClr val="0D9488"/>
                </a:solidFill>
                <a:latin typeface="Segoe UI"/>
              </a:defRPr>
            </a:pPr>
            <a:r>
              <a:t>Canonical Huffman (Chính tắc)</a:t>
            </a:r>
          </a:p>
          <a:p>
            <a:pPr>
              <a:spcBef>
                <a:spcPts val="100"/>
              </a:spcBef>
              <a:defRPr sz="1000" b="1">
                <a:solidFill>
                  <a:srgbClr val="475569"/>
                </a:solidFill>
                <a:latin typeface="Segoe UI"/>
              </a:defRPr>
            </a:pPr>
            <a:r>
              <a:t>Tối ưu theo Entropy bậc 0 (H₀)</a:t>
            </a:r>
          </a:p>
          <a:p>
            <a:pPr>
              <a:spcBef>
                <a:spcPts val="250"/>
              </a:spcBef>
              <a:defRPr sz="950">
                <a:solidFill>
                  <a:srgbClr val="0F172A"/>
                </a:solidFill>
                <a:latin typeface="Segoe UI"/>
              </a:defRPr>
            </a:pPr>
            <a:r>
              <a:t>• Cơ chế: Giải thuật 2 lượt; lượt 1 đếm tần suất dựng bảng độ dài bit mã; lượt 2 mã hóa bitstream.</a:t>
            </a:r>
          </a:p>
          <a:p>
            <a:pPr>
              <a:spcBef>
                <a:spcPts val="250"/>
              </a:spcBef>
              <a:defRPr sz="950">
                <a:solidFill>
                  <a:srgbClr val="0F172A"/>
                </a:solidFill>
                <a:latin typeface="Segoe UI"/>
              </a:defRPr>
            </a:pPr>
            <a:r>
              <a:t>• Chính tắc: Không lưu cây nhị phân, chỉ lưu bảng 256 byte độ dài mã và tái tạo qua Counting Sort.</a:t>
            </a:r>
          </a:p>
          <a:p>
            <a:pPr>
              <a:spcBef>
                <a:spcPts val="250"/>
              </a:spcBef>
              <a:defRPr sz="950">
                <a:solidFill>
                  <a:srgbClr val="0F172A"/>
                </a:solidFill>
                <a:latin typeface="Segoe UI"/>
              </a:defRPr>
            </a:pPr>
            <a:r>
              <a:t>• Giới hạn lý thuyết: Tỷ lệ nén tiệm cận entropy Shannon bậc 0: H₀ = -Σ pᵢ log₂ pᵢ.</a:t>
            </a:r>
          </a:p>
          <a:p>
            <a:pPr>
              <a:spcBef>
                <a:spcPts val="250"/>
              </a:spcBef>
              <a:defRPr sz="950">
                <a:solidFill>
                  <a:srgbClr val="0F172A"/>
                </a:solidFill>
                <a:latin typeface="Segoe UI"/>
              </a:defRPr>
            </a:pPr>
            <a:r>
              <a:t>• Bất biến: Tỷ lệ nén không đổi qua bất kỳ phép hoán vị nào giữ nguyên tần suất byte.</a:t>
            </a:r>
          </a:p>
        </p:txBody>
      </p:sp>
      <p:sp>
        <p:nvSpPr>
          <p:cNvPr id="10" name="Rounded Rectangle 9"/>
          <p:cNvSpPr/>
          <p:nvPr/>
        </p:nvSpPr>
        <p:spPr>
          <a:xfrm>
            <a:off x="731520" y="4023360"/>
            <a:ext cx="5212080" cy="23317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33088"/>
            <a:ext cx="4846320" cy="2112264"/>
          </a:xfrm>
          <a:prstGeom prst="rect">
            <a:avLst/>
          </a:prstGeom>
          <a:noFill/>
        </p:spPr>
        <p:txBody>
          <a:bodyPr wrap="square" lIns="0" tIns="0">
            <a:spAutoFit/>
          </a:bodyPr>
          <a:lstStyle/>
          <a:p>
            <a:pPr>
              <a:defRPr sz="1300" b="1">
                <a:solidFill>
                  <a:srgbClr val="D97706"/>
                </a:solidFill>
                <a:latin typeface="Segoe UI"/>
              </a:defRPr>
            </a:pPr>
            <a:r>
              <a:t>LZW 12-bit (Lempel-Ziv-Welch)</a:t>
            </a:r>
          </a:p>
          <a:p>
            <a:pPr>
              <a:spcBef>
                <a:spcPts val="100"/>
              </a:spcBef>
              <a:defRPr sz="1000" b="1">
                <a:solidFill>
                  <a:srgbClr val="475569"/>
                </a:solidFill>
                <a:latin typeface="Segoe UI"/>
              </a:defRPr>
            </a:pPr>
            <a:r>
              <a:t>Học từ điển chuỗi con thích nghi</a:t>
            </a:r>
          </a:p>
          <a:p>
            <a:pPr>
              <a:spcBef>
                <a:spcPts val="250"/>
              </a:spcBef>
              <a:defRPr sz="950">
                <a:solidFill>
                  <a:srgbClr val="0F172A"/>
                </a:solidFill>
                <a:latin typeface="Segoe UI"/>
              </a:defRPr>
            </a:pPr>
            <a:r>
              <a:t>• Cơ chế: Khởi tạo 256 ký tự cơ bản, học động chuỗi lặp qua khóa dict = prefix_code × 256 + byte.</a:t>
            </a:r>
          </a:p>
          <a:p>
            <a:pPr>
              <a:spcBef>
                <a:spcPts val="250"/>
              </a:spcBef>
              <a:defRPr sz="950">
                <a:solidFill>
                  <a:srgbClr val="0F172A"/>
                </a:solidFill>
                <a:latin typeface="Segoe UI"/>
              </a:defRPr>
            </a:pPr>
            <a:r>
              <a:t>• Giới hạn 12-bit: Cố định 4096 mã; đóng băng từ điển khi đầy (không cấp phát thêm).</a:t>
            </a:r>
          </a:p>
          <a:p>
            <a:pPr>
              <a:spcBef>
                <a:spcPts val="250"/>
              </a:spcBef>
              <a:defRPr sz="950">
                <a:solidFill>
                  <a:srgbClr val="0F172A"/>
                </a:solidFill>
                <a:latin typeface="Segoe UI"/>
              </a:defRPr>
            </a:pPr>
            <a:r>
              <a:t>• Không truyền từ điển: Bộ giải nén tự xây dựng lại từ điển song song theo luồng dữ liệu.</a:t>
            </a:r>
          </a:p>
          <a:p>
            <a:pPr>
              <a:spcBef>
                <a:spcPts val="250"/>
              </a:spcBef>
              <a:defRPr sz="950">
                <a:solidFill>
                  <a:srgbClr val="0F172A"/>
                </a:solidFill>
                <a:latin typeface="Segoe UI"/>
              </a:defRPr>
            </a:pPr>
            <a:r>
              <a:t>• Khai thác ngữ cảnh: Tận dụng phụ thuộc chuỗi con bậc cao (Hₖ), có thể nén thấp hơn mốc H₀/8.</a:t>
            </a:r>
          </a:p>
        </p:txBody>
      </p:sp>
      <p:sp>
        <p:nvSpPr>
          <p:cNvPr id="12" name="Rounded Rectangle 11"/>
          <p:cNvSpPr/>
          <p:nvPr/>
        </p:nvSpPr>
        <p:spPr>
          <a:xfrm>
            <a:off x="6248095" y="4023360"/>
            <a:ext cx="5212080" cy="233172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0975" y="4133088"/>
            <a:ext cx="4846320" cy="2112264"/>
          </a:xfrm>
          <a:prstGeom prst="rect">
            <a:avLst/>
          </a:prstGeom>
          <a:noFill/>
        </p:spPr>
        <p:txBody>
          <a:bodyPr wrap="square" lIns="0" tIns="0">
            <a:spAutoFit/>
          </a:bodyPr>
          <a:lstStyle/>
          <a:p>
            <a:pPr>
              <a:defRPr sz="1300" b="1">
                <a:solidFill>
                  <a:srgbClr val="E11D48"/>
                </a:solidFill>
                <a:latin typeface="Segoe UI"/>
              </a:defRPr>
            </a:pPr>
            <a:r>
              <a:t>Byte-level BPE (Họ GPT)</a:t>
            </a:r>
          </a:p>
          <a:p>
            <a:pPr>
              <a:spcBef>
                <a:spcPts val="100"/>
              </a:spcBef>
              <a:defRPr sz="1000" b="1">
                <a:solidFill>
                  <a:srgbClr val="475569"/>
                </a:solidFill>
                <a:latin typeface="Segoe UI"/>
              </a:defRPr>
            </a:pPr>
            <a:r>
              <a:t>Hợp nhất cặp byte tần suất cao</a:t>
            </a:r>
          </a:p>
          <a:p>
            <a:pPr>
              <a:spcBef>
                <a:spcPts val="250"/>
              </a:spcBef>
              <a:defRPr sz="950">
                <a:solidFill>
                  <a:srgbClr val="0F172A"/>
                </a:solidFill>
                <a:latin typeface="Segoe UI"/>
              </a:defRPr>
            </a:pPr>
            <a:r>
              <a:t>• Cơ chế: Bắt đầu từ 256 byte cơ sở UTF-8; lặp K vòng hợp nhất cặp token xuất hiện nhiều nhất.</a:t>
            </a:r>
          </a:p>
          <a:p>
            <a:pPr>
              <a:spcBef>
                <a:spcPts val="250"/>
              </a:spcBef>
              <a:defRPr sz="950">
                <a:solidFill>
                  <a:srgbClr val="0F172A"/>
                </a:solidFill>
                <a:latin typeface="Segoe UI"/>
              </a:defRPr>
            </a:pPr>
            <a:r>
              <a:t>• Pre-tokenization: Phân đoạn bằng regex byte rb" ?[^\s]+|\s+", không gộp qua ranh giới từ.</a:t>
            </a:r>
          </a:p>
          <a:p>
            <a:pPr>
              <a:spcBef>
                <a:spcPts val="250"/>
              </a:spcBef>
              <a:defRPr sz="950">
                <a:solidFill>
                  <a:srgbClr val="0F172A"/>
                </a:solidFill>
                <a:latin typeface="Segoe UI"/>
              </a:defRPr>
            </a:pPr>
            <a:r>
              <a:t>• Dual Roles: (1) Codec độc lập (lưu bảng merges) và (2) Tokenizer chia sẻ từ vựng.</a:t>
            </a:r>
          </a:p>
          <a:p>
            <a:pPr>
              <a:spcBef>
                <a:spcPts val="250"/>
              </a:spcBef>
              <a:defRPr sz="950">
                <a:solidFill>
                  <a:srgbClr val="0F172A"/>
                </a:solidFill>
                <a:latin typeface="Segoe UI"/>
              </a:defRPr>
            </a:pPr>
            <a:r>
              <a:t>• Ngân sách từ vựng: 256 + K token; độ rộng mã 12-bit tương đương LZW để đối chiếu công bằng.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74320"/>
          </a:xfrm>
          <a:prstGeom prst="rect">
            <a:avLst/>
          </a:prstGeom>
          <a:noFill/>
        </p:spPr>
        <p:txBody>
          <a:bodyPr wrap="square" lIns="0" tIns="0" rIns="0" bIns="0">
            <a:spAutoFit/>
          </a:bodyPr>
          <a:lstStyle/>
          <a:p>
            <a:pPr>
              <a:defRPr sz="1000" b="1">
                <a:solidFill>
                  <a:srgbClr val="2563EB"/>
                </a:solidFill>
                <a:latin typeface="Segoe UI"/>
              </a:defRPr>
            </a:pPr>
            <a:r>
              <a:t>PHƯƠNG PHÁP &amp; KIẾN TRÚC CÀI ĐẶT</a:t>
            </a:r>
          </a:p>
        </p:txBody>
      </p:sp>
      <p:sp>
        <p:nvSpPr>
          <p:cNvPr id="4" name="TextBox 3"/>
          <p:cNvSpPr txBox="1"/>
          <p:nvPr/>
        </p:nvSpPr>
        <p:spPr>
          <a:xfrm>
            <a:off x="731520" y="621792"/>
            <a:ext cx="10728655" cy="502920"/>
          </a:xfrm>
          <a:prstGeom prst="rect">
            <a:avLst/>
          </a:prstGeom>
          <a:noFill/>
        </p:spPr>
        <p:txBody>
          <a:bodyPr wrap="square" lIns="0" tIns="0" rIns="0" bIns="0">
            <a:spAutoFit/>
          </a:bodyPr>
          <a:lstStyle/>
          <a:p>
            <a:pPr>
              <a:defRPr sz="2100" b="1">
                <a:solidFill>
                  <a:srgbClr val="0F172A"/>
                </a:solidFill>
                <a:latin typeface="Segoe UI"/>
              </a:defRPr>
            </a:pPr>
            <a:r>
              <a:t>Cài Đặt 100% Pure Python &amp; Cấu Trúc Dữ Liệu Tự Thiết Kế</a:t>
            </a:r>
          </a:p>
        </p:txBody>
      </p:sp>
      <p:sp>
        <p:nvSpPr>
          <p:cNvPr id="5" name="TextBox 4"/>
          <p:cNvSpPr txBox="1"/>
          <p:nvPr/>
        </p:nvSpPr>
        <p:spPr>
          <a:xfrm>
            <a:off x="731520" y="1115568"/>
            <a:ext cx="10728655" cy="274320"/>
          </a:xfrm>
          <a:prstGeom prst="rect">
            <a:avLst/>
          </a:prstGeom>
          <a:noFill/>
        </p:spPr>
        <p:txBody>
          <a:bodyPr wrap="square" lIns="0" tIns="0" rIns="0" bIns="0">
            <a:spAutoFit/>
          </a:bodyPr>
          <a:lstStyle/>
          <a:p>
            <a:pPr>
              <a:defRPr sz="1150">
                <a:solidFill>
                  <a:srgbClr val="475569"/>
                </a:solidFill>
                <a:latin typeface="Segoe UI"/>
              </a:defRPr>
            </a:pPr>
            <a:r>
              <a:t>Tuân thủ nghiêm ngặt quy chế đề tài: không dùng thư viện sort và chuẩn hóa nhị phân</a:t>
            </a:r>
          </a:p>
        </p:txBody>
      </p:sp>
      <p:sp>
        <p:nvSpPr>
          <p:cNvPr id="6" name="Rounded Rectangle 5"/>
          <p:cNvSpPr/>
          <p:nvPr/>
        </p:nvSpPr>
        <p:spPr>
          <a:xfrm>
            <a:off x="731520" y="150876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91640"/>
            <a:ext cx="4663440" cy="4480560"/>
          </a:xfrm>
          <a:prstGeom prst="rect">
            <a:avLst/>
          </a:prstGeom>
          <a:noFill/>
        </p:spPr>
        <p:txBody>
          <a:bodyPr wrap="square" lIns="0" tIns="0">
            <a:spAutoFit/>
          </a:bodyPr>
          <a:lstStyle/>
          <a:p>
            <a:pPr>
              <a:defRPr sz="1350" b="1">
                <a:solidFill>
                  <a:srgbClr val="1D4ED8"/>
                </a:solidFill>
                <a:latin typeface="Segoe UI"/>
              </a:defRPr>
            </a:pPr>
            <a:r>
              <a:t>1. Quy Chuẩn Kỹ Thuật Pure Python</a:t>
            </a:r>
          </a:p>
          <a:p>
            <a:pPr>
              <a:spcBef>
                <a:spcPts val="300"/>
              </a:spcBef>
              <a:defRPr sz="1000">
                <a:solidFill>
                  <a:srgbClr val="0F172A"/>
                </a:solidFill>
                <a:latin typeface="Segoe UI"/>
              </a:defRPr>
            </a:pPr>
            <a:r>
              <a:t>• Không dùng thư viện nén: Toàn bộ thuật toán RLE, Huffman, LZW, BPE được tự tay lập trình từ đầu.</a:t>
            </a:r>
          </a:p>
          <a:p>
            <a:pPr>
              <a:spcBef>
                <a:spcPts val="300"/>
              </a:spcBef>
              <a:defRPr sz="1000">
                <a:solidFill>
                  <a:srgbClr val="0F172A"/>
                </a:solidFill>
                <a:latin typeface="Segoe UI"/>
              </a:defRPr>
            </a:pPr>
            <a:r>
              <a:t>• Cấm hoàn toàn thư viện sắp xếp: Loại bỏ toàn bộ lời gọi list.sort() và sorted(); tự cài đặt Counting Sort (O(N)) và QuickSort với AST Guard kiểm tra tự động.</a:t>
            </a:r>
          </a:p>
          <a:p>
            <a:pPr>
              <a:spcBef>
                <a:spcPts val="300"/>
              </a:spcBef>
              <a:defRPr sz="1000">
                <a:solidFill>
                  <a:srgbClr val="0F172A"/>
                </a:solidFill>
                <a:latin typeface="Segoe UI"/>
              </a:defRPr>
            </a:pPr>
            <a:r>
              <a:t>• Định dạng Bitstream: Đóng gói luồng bit MSB-first, tự động đệm 0 và kiểm tra padding byte cuối.</a:t>
            </a:r>
          </a:p>
          <a:p>
            <a:pPr>
              <a:spcBef>
                <a:spcPts val="1200"/>
              </a:spcBef>
              <a:defRPr sz="1350" b="1">
                <a:solidFill>
                  <a:srgbClr val="0D9488"/>
                </a:solidFill>
                <a:latin typeface="Segoe UI"/>
              </a:defRPr>
            </a:pPr>
            <a:r>
              <a:t>2. Cấu Trúc Binary Container Chuẩn Hóa</a:t>
            </a:r>
          </a:p>
          <a:p>
            <a:pPr>
              <a:spcBef>
                <a:spcPts val="300"/>
              </a:spcBef>
              <a:defRPr sz="1000">
                <a:solidFill>
                  <a:srgbClr val="0F172A"/>
                </a:solidFill>
                <a:latin typeface="Segoe UI"/>
              </a:defRPr>
            </a:pPr>
            <a:r>
              <a:t>• Magic bytes nhận diện (4B): RLE1, HUF1, LZW1, BPE1.</a:t>
            </a:r>
          </a:p>
          <a:p>
            <a:pPr>
              <a:spcBef>
                <a:spcPts val="300"/>
              </a:spcBef>
              <a:defRPr sz="1000">
                <a:solidFill>
                  <a:srgbClr val="0F172A"/>
                </a:solidFill>
                <a:latin typeface="Segoe UI"/>
              </a:defRPr>
            </a:pPr>
            <a:r>
              <a:t>• Độ dài gốc (8B): Big-endian unsigned long long bảo vệ giải nén.</a:t>
            </a:r>
          </a:p>
          <a:p>
            <a:pPr>
              <a:spcBef>
                <a:spcPts val="300"/>
              </a:spcBef>
              <a:defRPr sz="1000">
                <a:solidFill>
                  <a:srgbClr val="0F172A"/>
                </a:solidFill>
                <a:latin typeface="Segoe UI"/>
              </a:defRPr>
            </a:pPr>
            <a:r>
              <a:t>• Header Huffman: 256 bytes độ dài mã bit trực tiếp.</a:t>
            </a:r>
          </a:p>
          <a:p>
            <a:pPr>
              <a:spcBef>
                <a:spcPts val="300"/>
              </a:spcBef>
              <a:defRPr sz="1000">
                <a:solidFill>
                  <a:srgbClr val="0F172A"/>
                </a:solidFill>
                <a:latin typeface="Segoe UI"/>
              </a:defRPr>
            </a:pPr>
            <a:r>
              <a:t>• Header BPE: 2B số merge m, 3m bytes bảng merge (a, b, new_id), 8B số lượng token T, và payload mã 12-bit.</a:t>
            </a:r>
          </a:p>
        </p:txBody>
      </p:sp>
      <p:sp>
        <p:nvSpPr>
          <p:cNvPr id="8" name="Rounded Rectangle 7"/>
          <p:cNvSpPr/>
          <p:nvPr/>
        </p:nvSpPr>
        <p:spPr>
          <a:xfrm>
            <a:off x="6126480" y="1508760"/>
            <a:ext cx="533369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91640"/>
            <a:ext cx="4876495" cy="4480560"/>
          </a:xfrm>
          <a:prstGeom prst="rect">
            <a:avLst/>
          </a:prstGeom>
          <a:noFill/>
        </p:spPr>
        <p:txBody>
          <a:bodyPr wrap="square" lIns="0" tIns="0">
            <a:spAutoFit/>
          </a:bodyPr>
          <a:lstStyle/>
          <a:p>
            <a:pPr>
              <a:defRPr sz="1350" b="1">
                <a:solidFill>
                  <a:srgbClr val="D97706"/>
                </a:solidFill>
                <a:latin typeface="Segoe UI"/>
              </a:defRPr>
            </a:pPr>
            <a:r>
              <a:t>3 Biến Thể Huấn Luyện BPE (Ablation Study)</a:t>
            </a:r>
          </a:p>
          <a:p>
            <a:pPr>
              <a:spcBef>
                <a:spcPts val="800"/>
              </a:spcBef>
              <a:defRPr sz="1150" b="1">
                <a:solidFill>
                  <a:srgbClr val="1D4ED8"/>
                </a:solidFill>
                <a:latin typeface="Segoe UI"/>
              </a:defRPr>
            </a:pPr>
            <a:r>
              <a:t>Biến thể 1: Naive Trainer</a:t>
            </a:r>
          </a:p>
          <a:p>
            <a:pPr>
              <a:spcBef>
                <a:spcPts val="100"/>
              </a:spcBef>
              <a:defRPr sz="950" b="1">
                <a:solidFill>
                  <a:srgbClr val="0D9488"/>
                </a:solidFill>
                <a:latin typeface="Segoe UI"/>
              </a:defRPr>
            </a:pPr>
            <a:r>
              <a:t>Cận trên lý thuyết: O(N + K · U) | Bộ nhớ: O(U + Pₜ)</a:t>
            </a:r>
          </a:p>
          <a:p>
            <a:pPr>
              <a:spcBef>
                <a:spcPts val="200"/>
              </a:spcBef>
              <a:defRPr sz="950">
                <a:solidFill>
                  <a:srgbClr val="0F172A"/>
                </a:solidFill>
                <a:latin typeface="Segoe UI"/>
              </a:defRPr>
            </a:pPr>
            <a:r>
              <a:t>Mỗi vòng quét lại toàn bộ danh sách các phân đoạn duy nhất (unique segments) để đếm tần suất cặp và thay thế. Tốn kém chi phí quét lặp lại.</a:t>
            </a:r>
          </a:p>
          <a:p>
            <a:pPr>
              <a:spcBef>
                <a:spcPts val="800"/>
              </a:spcBef>
              <a:defRPr sz="1150" b="1">
                <a:solidFill>
                  <a:srgbClr val="1D4ED8"/>
                </a:solidFill>
                <a:latin typeface="Segoe UI"/>
              </a:defRPr>
            </a:pPr>
            <a:r>
              <a:t>Biến thể 2: No-Heap Trainer (Inverted Index)</a:t>
            </a:r>
          </a:p>
          <a:p>
            <a:pPr>
              <a:spcBef>
                <a:spcPts val="100"/>
              </a:spcBef>
              <a:defRPr sz="950" b="1">
                <a:solidFill>
                  <a:srgbClr val="0D9488"/>
                </a:solidFill>
                <a:latin typeface="Segoe UI"/>
              </a:defRPr>
            </a:pPr>
            <a:r>
              <a:t>Cận trên lý thuyết: O(N + K · Pₜ + Σ Aₜ log Aₜ)</a:t>
            </a:r>
          </a:p>
          <a:p>
            <a:pPr>
              <a:spcBef>
                <a:spcPts val="200"/>
              </a:spcBef>
              <a:defRPr sz="950">
                <a:solidFill>
                  <a:srgbClr val="0F172A"/>
                </a:solidFill>
                <a:latin typeface="Segoe UI"/>
              </a:defRPr>
            </a:pPr>
            <a:r>
              <a:t>Duy trì danh sách liên kết kép giữa các token và chỉ mục ngược (inverted index) vị trí. Chỉ cập nhật cục bộ các vị trí bị ảnh hưởng, nhưng quét tuyến tính dict để tìm cặp lớn nhất.</a:t>
            </a:r>
          </a:p>
          <a:p>
            <a:pPr>
              <a:spcBef>
                <a:spcPts val="800"/>
              </a:spcBef>
              <a:defRPr sz="1150" b="1">
                <a:solidFill>
                  <a:srgbClr val="1D4ED8"/>
                </a:solidFill>
                <a:latin typeface="Segoe UI"/>
              </a:defRPr>
            </a:pPr>
            <a:r>
              <a:t>Biến thể 3: Incremental Heap Trainer (Inc)</a:t>
            </a:r>
          </a:p>
          <a:p>
            <a:pPr>
              <a:spcBef>
                <a:spcPts val="100"/>
              </a:spcBef>
              <a:defRPr sz="950" b="1">
                <a:solidFill>
                  <a:srgbClr val="0D9488"/>
                </a:solidFill>
                <a:latin typeface="Segoe UI"/>
              </a:defRPr>
            </a:pPr>
            <a:r>
              <a:t>Cận trên lý thuyết: O(N + R log H + Σ Aₜ log Aₜ)</a:t>
            </a:r>
          </a:p>
          <a:p>
            <a:pPr>
              <a:spcBef>
                <a:spcPts val="200"/>
              </a:spcBef>
              <a:defRPr sz="950">
                <a:solidFill>
                  <a:srgbClr val="0F172A"/>
                </a:solidFill>
                <a:latin typeface="Segoe UI"/>
              </a:defRPr>
            </a:pPr>
            <a:r>
              <a:t>Duy trì cập nhật cục bộ và Max-Heap (-count, a, b) với kỹ thuật Xóa lười (Lazy Deletion). Lấy phần tử cực đại trong O(1), thêm mới trong O(log 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74320"/>
          </a:xfrm>
          <a:prstGeom prst="rect">
            <a:avLst/>
          </a:prstGeom>
          <a:noFill/>
        </p:spPr>
        <p:txBody>
          <a:bodyPr wrap="square" lIns="0" tIns="0" rIns="0" bIns="0">
            <a:spAutoFit/>
          </a:bodyPr>
          <a:lstStyle/>
          <a:p>
            <a:pPr>
              <a:defRPr sz="1000" b="1">
                <a:solidFill>
                  <a:srgbClr val="2563EB"/>
                </a:solidFill>
                <a:latin typeface="Segoe UI"/>
              </a:defRPr>
            </a:pPr>
            <a:r>
              <a:t>THIẾT LẬP THỰC NGHIỆM</a:t>
            </a:r>
          </a:p>
        </p:txBody>
      </p:sp>
      <p:sp>
        <p:nvSpPr>
          <p:cNvPr id="4" name="TextBox 3"/>
          <p:cNvSpPr txBox="1"/>
          <p:nvPr/>
        </p:nvSpPr>
        <p:spPr>
          <a:xfrm>
            <a:off x="731520" y="621792"/>
            <a:ext cx="10728655" cy="502920"/>
          </a:xfrm>
          <a:prstGeom prst="rect">
            <a:avLst/>
          </a:prstGeom>
          <a:noFill/>
        </p:spPr>
        <p:txBody>
          <a:bodyPr wrap="square" lIns="0" tIns="0" rIns="0" bIns="0">
            <a:spAutoFit/>
          </a:bodyPr>
          <a:lstStyle/>
          <a:p>
            <a:pPr>
              <a:defRPr sz="2100" b="1">
                <a:solidFill>
                  <a:srgbClr val="0F172A"/>
                </a:solidFill>
                <a:latin typeface="Segoe UI"/>
              </a:defRPr>
            </a:pPr>
            <a:r>
              <a:t>Ngữ Liệu Đa Dạng, Ma Trận Cấu Hình &amp; Kiểm Soát Sai Số</a:t>
            </a:r>
          </a:p>
        </p:txBody>
      </p:sp>
      <p:sp>
        <p:nvSpPr>
          <p:cNvPr id="5" name="TextBox 4"/>
          <p:cNvSpPr txBox="1"/>
          <p:nvPr/>
        </p:nvSpPr>
        <p:spPr>
          <a:xfrm>
            <a:off x="731520" y="1115568"/>
            <a:ext cx="10728655" cy="274320"/>
          </a:xfrm>
          <a:prstGeom prst="rect">
            <a:avLst/>
          </a:prstGeom>
          <a:noFill/>
        </p:spPr>
        <p:txBody>
          <a:bodyPr wrap="square" lIns="0" tIns="0" rIns="0" bIns="0">
            <a:spAutoFit/>
          </a:bodyPr>
          <a:lstStyle/>
          <a:p>
            <a:pPr>
              <a:defRPr sz="1150">
                <a:solidFill>
                  <a:srgbClr val="475569"/>
                </a:solidFill>
                <a:latin typeface="Segoe UI"/>
              </a:defRPr>
            </a:pPr>
            <a:r>
              <a:t>Thiết kế thực nghiệm có đối chứng, cách ly đo đạc và thẩm định toàn vẹn nghiêm ngặt</a:t>
            </a:r>
          </a:p>
        </p:txBody>
      </p:sp>
      <p:sp>
        <p:nvSpPr>
          <p:cNvPr id="6" name="Rounded Rectangle 5"/>
          <p:cNvSpPr/>
          <p:nvPr/>
        </p:nvSpPr>
        <p:spPr>
          <a:xfrm>
            <a:off x="731520" y="1508760"/>
            <a:ext cx="3328416" cy="48463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91640"/>
            <a:ext cx="2999232" cy="4480560"/>
          </a:xfrm>
          <a:prstGeom prst="rect">
            <a:avLst/>
          </a:prstGeom>
          <a:noFill/>
        </p:spPr>
        <p:txBody>
          <a:bodyPr wrap="square" lIns="0" tIns="0">
            <a:spAutoFit/>
          </a:bodyPr>
          <a:lstStyle/>
          <a:p>
            <a:pPr>
              <a:defRPr sz="1300" b="1">
                <a:solidFill>
                  <a:srgbClr val="2563EB"/>
                </a:solidFill>
                <a:latin typeface="Segoe UI"/>
              </a:defRPr>
            </a:pPr>
            <a:r>
              <a:t>1. Hệ Thống Ngữ Liệu</a:t>
            </a:r>
          </a:p>
          <a:p>
            <a:pPr>
              <a:spcBef>
                <a:spcPts val="300"/>
              </a:spcBef>
              <a:defRPr sz="1000">
                <a:solidFill>
                  <a:srgbClr val="0F172A"/>
                </a:solidFill>
                <a:latin typeface="Segoe UI"/>
              </a:defRPr>
            </a:pPr>
            <a:r>
              <a:t>Dữ liệu tổng hợp (Synthetic):</a:t>
            </a:r>
          </a:p>
          <a:p>
            <a:pPr>
              <a:spcBef>
                <a:spcPts val="300"/>
              </a:spcBef>
              <a:defRPr sz="1000">
                <a:solidFill>
                  <a:srgbClr val="0F172A"/>
                </a:solidFill>
                <a:latin typeface="Segoe UI"/>
              </a:defRPr>
            </a:pPr>
            <a:r>
              <a:t>  • C1: Run dài hình học (mean = 32B)</a:t>
            </a:r>
          </a:p>
          <a:p>
            <a:pPr>
              <a:spcBef>
                <a:spcPts val="300"/>
              </a:spcBef>
              <a:defRPr sz="1000">
                <a:solidFill>
                  <a:srgbClr val="0F172A"/>
                </a:solidFill>
                <a:latin typeface="Segoe UI"/>
              </a:defRPr>
            </a:pPr>
            <a:r>
              <a:t>  • C2: 1000 từ phân bố Zipf s=1</a:t>
            </a:r>
          </a:p>
          <a:p>
            <a:pPr>
              <a:spcBef>
                <a:spcPts val="300"/>
              </a:spcBef>
              <a:defRPr sz="1000">
                <a:solidFill>
                  <a:srgbClr val="0F172A"/>
                </a:solidFill>
                <a:latin typeface="Segoe UI"/>
              </a:defRPr>
            </a:pPr>
            <a:r>
              <a:t>  • C3: Byte ngẫu nhiên đều (Noise)</a:t>
            </a:r>
          </a:p>
          <a:p>
            <a:pPr>
              <a:spcBef>
                <a:spcPts val="300"/>
              </a:spcBef>
              <a:defRPr sz="1000">
                <a:solidFill>
                  <a:srgbClr val="0F172A"/>
                </a:solidFill>
                <a:latin typeface="Segoe UI"/>
              </a:defRPr>
            </a:pPr>
            <a:r>
              <a:t>  • Quy mô: 256, 512, 1024, 2048, 4096 KiB x 3 seeds ngẫu nhiên.</a:t>
            </a:r>
          </a:p>
          <a:p>
            <a:pPr>
              <a:spcBef>
                <a:spcPts val="300"/>
              </a:spcBef>
              <a:defRPr sz="1000">
                <a:solidFill>
                  <a:srgbClr val="0F172A"/>
                </a:solidFill>
                <a:latin typeface="Segoe UI"/>
              </a:defRPr>
            </a:pPr>
            <a:r>
              <a:t>Ngữ liệu chuẩn quốc tế:</a:t>
            </a:r>
          </a:p>
          <a:p>
            <a:pPr>
              <a:spcBef>
                <a:spcPts val="300"/>
              </a:spcBef>
              <a:defRPr sz="1000">
                <a:solidFill>
                  <a:srgbClr val="0F172A"/>
                </a:solidFill>
                <a:latin typeface="Segoe UI"/>
              </a:defRPr>
            </a:pPr>
            <a:r>
              <a:t>  • Canterbury: alice29.txt, kennedy.xls</a:t>
            </a:r>
          </a:p>
          <a:p>
            <a:pPr>
              <a:spcBef>
                <a:spcPts val="300"/>
              </a:spcBef>
              <a:defRPr sz="1000">
                <a:solidFill>
                  <a:srgbClr val="0F172A"/>
                </a:solidFill>
                <a:latin typeface="Segoe UI"/>
              </a:defRPr>
            </a:pPr>
            <a:r>
              <a:t>Ngữ liệu thực tế song ngữ:</a:t>
            </a:r>
          </a:p>
          <a:p>
            <a:pPr>
              <a:spcBef>
                <a:spcPts val="300"/>
              </a:spcBef>
              <a:defRPr sz="1000">
                <a:solidFill>
                  <a:srgbClr val="0F172A"/>
                </a:solidFill>
                <a:latin typeface="Segoe UI"/>
              </a:defRPr>
            </a:pPr>
            <a:r>
              <a:t>  • Wikipedia 20231101: Tiếng Việt (V1) và Tiếng Anh (E1), chuẩn hóa NFC (1 MiB train / 1 MiB test).</a:t>
            </a:r>
          </a:p>
        </p:txBody>
      </p:sp>
      <p:sp>
        <p:nvSpPr>
          <p:cNvPr id="8" name="Rounded Rectangle 7"/>
          <p:cNvSpPr/>
          <p:nvPr/>
        </p:nvSpPr>
        <p:spPr>
          <a:xfrm>
            <a:off x="4425696" y="1508760"/>
            <a:ext cx="3328416" cy="48463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1691640"/>
            <a:ext cx="2999232" cy="4480560"/>
          </a:xfrm>
          <a:prstGeom prst="rect">
            <a:avLst/>
          </a:prstGeom>
          <a:noFill/>
        </p:spPr>
        <p:txBody>
          <a:bodyPr wrap="square" lIns="0" tIns="0">
            <a:spAutoFit/>
          </a:bodyPr>
          <a:lstStyle/>
          <a:p>
            <a:pPr>
              <a:defRPr sz="1300" b="1">
                <a:solidFill>
                  <a:srgbClr val="0D9488"/>
                </a:solidFill>
                <a:latin typeface="Segoe UI"/>
              </a:defRPr>
            </a:pPr>
            <a:r>
              <a:t>2. Phương Pháp Đo Lường</a:t>
            </a:r>
          </a:p>
          <a:p>
            <a:pPr>
              <a:spcBef>
                <a:spcPts val="300"/>
              </a:spcBef>
              <a:defRPr sz="1000">
                <a:solidFill>
                  <a:srgbClr val="0F172A"/>
                </a:solidFill>
                <a:latin typeface="Segoe UI"/>
              </a:defRPr>
            </a:pPr>
            <a:r>
              <a:t>Đo thời gian độc lập:</a:t>
            </a:r>
          </a:p>
          <a:p>
            <a:pPr>
              <a:spcBef>
                <a:spcPts val="300"/>
              </a:spcBef>
              <a:defRPr sz="1000">
                <a:solidFill>
                  <a:srgbClr val="0F172A"/>
                </a:solidFill>
                <a:latin typeface="Segoe UI"/>
              </a:defRPr>
            </a:pPr>
            <a:r>
              <a:t>  • time.perf_counter()</a:t>
            </a:r>
          </a:p>
          <a:p>
            <a:pPr>
              <a:spcBef>
                <a:spcPts val="300"/>
              </a:spcBef>
              <a:defRPr sz="1000">
                <a:solidFill>
                  <a:srgbClr val="0F172A"/>
                </a:solidFill>
                <a:latin typeface="Segoe UI"/>
              </a:defRPr>
            </a:pPr>
            <a:r>
              <a:t>  • Lấy trung vị của 3 lượt chạy độc lập để loại trừ nhiễu hệ điều hành.</a:t>
            </a:r>
          </a:p>
          <a:p>
            <a:pPr>
              <a:spcBef>
                <a:spcPts val="300"/>
              </a:spcBef>
              <a:defRPr sz="1000">
                <a:solidFill>
                  <a:srgbClr val="0F172A"/>
                </a:solidFill>
                <a:latin typeface="Segoe UI"/>
              </a:defRPr>
            </a:pPr>
            <a:r>
              <a:t>Đo đỉnh bộ nhớ (Peak Memory):</a:t>
            </a:r>
          </a:p>
          <a:p>
            <a:pPr>
              <a:spcBef>
                <a:spcPts val="300"/>
              </a:spcBef>
              <a:defRPr sz="1000">
                <a:solidFill>
                  <a:srgbClr val="0F172A"/>
                </a:solidFill>
                <a:latin typeface="Segoe UI"/>
              </a:defRPr>
            </a:pPr>
            <a:r>
              <a:t>  • Kích hoạt tracemalloc trên một lượt chạy riêng biệt.</a:t>
            </a:r>
          </a:p>
          <a:p>
            <a:pPr>
              <a:spcBef>
                <a:spcPts val="300"/>
              </a:spcBef>
              <a:defRPr sz="1000">
                <a:solidFill>
                  <a:srgbClr val="0F172A"/>
                </a:solidFill>
                <a:latin typeface="Segoe UI"/>
              </a:defRPr>
            </a:pPr>
            <a:r>
              <a:t>  • Đo lượng RAM heap Python thực tế cấp phát (không lẫn RAM tiến trình OS).</a:t>
            </a:r>
          </a:p>
          <a:p>
            <a:pPr>
              <a:spcBef>
                <a:spcPts val="300"/>
              </a:spcBef>
              <a:defRPr sz="1000">
                <a:solidFill>
                  <a:srgbClr val="0F172A"/>
                </a:solidFill>
                <a:latin typeface="Segoe UI"/>
              </a:defRPr>
            </a:pPr>
            <a:r>
              <a:t>Thông lượng chuẩn hóa (Throughput):</a:t>
            </a:r>
          </a:p>
          <a:p>
            <a:pPr>
              <a:spcBef>
                <a:spcPts val="300"/>
              </a:spcBef>
              <a:defRPr sz="1000">
                <a:solidFill>
                  <a:srgbClr val="0F172A"/>
                </a:solidFill>
                <a:latin typeface="Segoe UI"/>
              </a:defRPr>
            </a:pPr>
            <a:r>
              <a:t>  • KiB/s = orig_bytes / (1024 * time_s).</a:t>
            </a:r>
          </a:p>
        </p:txBody>
      </p:sp>
      <p:sp>
        <p:nvSpPr>
          <p:cNvPr id="10" name="Rounded Rectangle 9"/>
          <p:cNvSpPr/>
          <p:nvPr/>
        </p:nvSpPr>
        <p:spPr>
          <a:xfrm>
            <a:off x="8119872" y="1508760"/>
            <a:ext cx="3328416" cy="48463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4464" y="1691640"/>
            <a:ext cx="2999232" cy="4480560"/>
          </a:xfrm>
          <a:prstGeom prst="rect">
            <a:avLst/>
          </a:prstGeom>
          <a:noFill/>
        </p:spPr>
        <p:txBody>
          <a:bodyPr wrap="square" lIns="0" tIns="0">
            <a:spAutoFit/>
          </a:bodyPr>
          <a:lstStyle/>
          <a:p>
            <a:pPr>
              <a:defRPr sz="1300" b="1">
                <a:solidFill>
                  <a:srgbClr val="D97706"/>
                </a:solidFill>
                <a:latin typeface="Segoe UI"/>
              </a:defRPr>
            </a:pPr>
            <a:r>
              <a:t>3. Kiểm Soát &amp; Thẩm Định</a:t>
            </a:r>
          </a:p>
          <a:p>
            <a:pPr>
              <a:spcBef>
                <a:spcPts val="300"/>
              </a:spcBef>
              <a:defRPr sz="1000">
                <a:solidFill>
                  <a:srgbClr val="0F172A"/>
                </a:solidFill>
                <a:latin typeface="Segoe UI"/>
              </a:defRPr>
            </a:pPr>
            <a:r>
              <a:t>Bảo toàn toàn vẹn dữ liệu (Round-trip):</a:t>
            </a:r>
          </a:p>
          <a:p>
            <a:pPr>
              <a:spcBef>
                <a:spcPts val="300"/>
              </a:spcBef>
              <a:defRPr sz="1000">
                <a:solidFill>
                  <a:srgbClr val="0F172A"/>
                </a:solidFill>
                <a:latin typeface="Segoe UI"/>
              </a:defRPr>
            </a:pPr>
            <a:r>
              <a:t>  • Đối chiếu SHA-256 sau giải nén 100% các cấu hình thực nghiệm.</a:t>
            </a:r>
          </a:p>
          <a:p>
            <a:pPr>
              <a:spcBef>
                <a:spcPts val="300"/>
              </a:spcBef>
              <a:defRPr sz="1000">
                <a:solidFill>
                  <a:srgbClr val="0F172A"/>
                </a:solidFill>
                <a:latin typeface="Segoe UI"/>
              </a:defRPr>
            </a:pPr>
            <a:r>
              <a:t>Decoder tự động bắt lỗi:</a:t>
            </a:r>
          </a:p>
          <a:p>
            <a:pPr>
              <a:spcBef>
                <a:spcPts val="300"/>
              </a:spcBef>
              <a:defRPr sz="1000">
                <a:solidFill>
                  <a:srgbClr val="0F172A"/>
                </a:solidFill>
                <a:latin typeface="Segoe UI"/>
              </a:defRPr>
            </a:pPr>
            <a:r>
              <a:t>  • Từ chối magic header sai.</a:t>
            </a:r>
          </a:p>
          <a:p>
            <a:pPr>
              <a:spcBef>
                <a:spcPts val="300"/>
              </a:spcBef>
              <a:defRPr sz="1000">
                <a:solidFill>
                  <a:srgbClr val="0F172A"/>
                </a:solidFill>
                <a:latin typeface="Segoe UI"/>
              </a:defRPr>
            </a:pPr>
            <a:r>
              <a:t>  • Kiểm tra padding khác 0, dữ liệu thừa.</a:t>
            </a:r>
          </a:p>
          <a:p>
            <a:pPr>
              <a:spcBef>
                <a:spcPts val="300"/>
              </a:spcBef>
              <a:defRPr sz="1000">
                <a:solidFill>
                  <a:srgbClr val="0F172A"/>
                </a:solidFill>
                <a:latin typeface="Segoe UI"/>
              </a:defRPr>
            </a:pPr>
            <a:r>
              <a:t>  • Kiểm tra bảng Huffman vượt giới hạn.</a:t>
            </a:r>
          </a:p>
          <a:p>
            <a:pPr>
              <a:spcBef>
                <a:spcPts val="300"/>
              </a:spcBef>
              <a:defRPr sz="1000">
                <a:solidFill>
                  <a:srgbClr val="0F172A"/>
                </a:solidFill>
                <a:latin typeface="Segoe UI"/>
              </a:defRPr>
            </a:pPr>
            <a:r>
              <a:t>Môi trường thực nghiệm chuẩn:</a:t>
            </a:r>
          </a:p>
          <a:p>
            <a:pPr>
              <a:spcBef>
                <a:spcPts val="300"/>
              </a:spcBef>
              <a:defRPr sz="1000">
                <a:solidFill>
                  <a:srgbClr val="0F172A"/>
                </a:solidFill>
                <a:latin typeface="Segoe UI"/>
              </a:defRPr>
            </a:pPr>
            <a:r>
              <a:t>  • Intel Core i7-13650HX, 24 GB RAM.</a:t>
            </a:r>
          </a:p>
          <a:p>
            <a:pPr>
              <a:spcBef>
                <a:spcPts val="300"/>
              </a:spcBef>
              <a:defRPr sz="1000">
                <a:solidFill>
                  <a:srgbClr val="0F172A"/>
                </a:solidFill>
                <a:latin typeface="Segoe UI"/>
              </a:defRPr>
            </a:pPr>
            <a:r>
              <a:t>  • Windows 11, CPython 3.13.2.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74320"/>
          </a:xfrm>
          <a:prstGeom prst="rect">
            <a:avLst/>
          </a:prstGeom>
          <a:noFill/>
        </p:spPr>
        <p:txBody>
          <a:bodyPr wrap="square" lIns="0" tIns="0" rIns="0" bIns="0">
            <a:spAutoFit/>
          </a:bodyPr>
          <a:lstStyle/>
          <a:p>
            <a:pPr>
              <a:defRPr sz="1000" b="1">
                <a:solidFill>
                  <a:srgbClr val="2563EB"/>
                </a:solidFill>
                <a:latin typeface="Segoe UI"/>
              </a:defRPr>
            </a:pPr>
            <a:r>
              <a:t>RQ1: KHẢO SÁT ĐỊNH LUẬT TẢI (SCALABILITY)</a:t>
            </a:r>
          </a:p>
        </p:txBody>
      </p:sp>
      <p:sp>
        <p:nvSpPr>
          <p:cNvPr id="4" name="TextBox 3"/>
          <p:cNvSpPr txBox="1"/>
          <p:nvPr/>
        </p:nvSpPr>
        <p:spPr>
          <a:xfrm>
            <a:off x="731520" y="621792"/>
            <a:ext cx="10728655" cy="502920"/>
          </a:xfrm>
          <a:prstGeom prst="rect">
            <a:avLst/>
          </a:prstGeom>
          <a:noFill/>
        </p:spPr>
        <p:txBody>
          <a:bodyPr wrap="square" lIns="0" tIns="0" rIns="0" bIns="0">
            <a:spAutoFit/>
          </a:bodyPr>
          <a:lstStyle/>
          <a:p>
            <a:pPr>
              <a:defRPr sz="2100" b="1">
                <a:solidFill>
                  <a:srgbClr val="0F172A"/>
                </a:solidFill>
                <a:latin typeface="Segoe UI"/>
              </a:defRPr>
            </a:pPr>
            <a:r>
              <a:t>Tỷ Lệ Nén Của RLE, Huffman Và LZW Theo Quy Mô Dữ Liệu</a:t>
            </a:r>
          </a:p>
        </p:txBody>
      </p:sp>
      <p:sp>
        <p:nvSpPr>
          <p:cNvPr id="5" name="TextBox 4"/>
          <p:cNvSpPr txBox="1"/>
          <p:nvPr/>
        </p:nvSpPr>
        <p:spPr>
          <a:xfrm>
            <a:off x="731520" y="1115568"/>
            <a:ext cx="10728655" cy="274320"/>
          </a:xfrm>
          <a:prstGeom prst="rect">
            <a:avLst/>
          </a:prstGeom>
          <a:noFill/>
        </p:spPr>
        <p:txBody>
          <a:bodyPr wrap="square" lIns="0" tIns="0" rIns="0" bIns="0">
            <a:spAutoFit/>
          </a:bodyPr>
          <a:lstStyle/>
          <a:p>
            <a:pPr>
              <a:defRPr sz="1150">
                <a:solidFill>
                  <a:srgbClr val="475569"/>
                </a:solidFill>
                <a:latin typeface="Segoe UI"/>
              </a:defRPr>
            </a:pPr>
            <a:r>
              <a:t>Khảo sát trên 150 cấu hình thực nghiệm từ 256 KiB đến 4096 KiB</a:t>
            </a:r>
          </a:p>
        </p:txBody>
      </p:sp>
      <p:sp>
        <p:nvSpPr>
          <p:cNvPr id="6" name="Rounded Rectangle 5"/>
          <p:cNvSpPr/>
          <p:nvPr/>
        </p:nvSpPr>
        <p:spPr>
          <a:xfrm>
            <a:off x="731520" y="1508760"/>
            <a:ext cx="493776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572000" cy="914400"/>
          </a:xfrm>
          <a:prstGeom prst="rect">
            <a:avLst/>
          </a:prstGeom>
          <a:noFill/>
        </p:spPr>
        <p:txBody>
          <a:bodyPr wrap="square" lIns="0" tIns="0">
            <a:spAutoFit/>
          </a:bodyPr>
          <a:lstStyle/>
          <a:p>
            <a:pPr>
              <a:defRPr sz="1100" b="1">
                <a:solidFill>
                  <a:srgbClr val="1D4ED8"/>
                </a:solidFill>
                <a:latin typeface="Segoe UI"/>
              </a:defRPr>
            </a:pPr>
            <a:r>
              <a:t>Bảng I. Tỷ lệ nén tại 4096 KiB (Càng nhỏ càng tốt)</a:t>
            </a:r>
          </a:p>
        </p:txBody>
      </p:sp>
      <p:graphicFrame>
        <p:nvGraphicFramePr>
          <p:cNvPr id="8" name="Table 7"/>
          <p:cNvGraphicFramePr>
            <a:graphicFrameLocks noGrp="1"/>
          </p:cNvGraphicFramePr>
          <p:nvPr/>
        </p:nvGraphicFramePr>
        <p:xfrm>
          <a:off x="914400" y="2011680"/>
          <a:ext cx="4572000" cy="1554480"/>
        </p:xfrm>
        <a:graphic>
          <a:graphicData uri="http://schemas.openxmlformats.org/drawingml/2006/table">
            <a:tbl>
              <a:tblPr firstRow="1" bandRow="1">
                <a:tableStyleId>{5C22544A-7EE6-4342-B048-85BDC9FD1C3A}</a:tableStyleId>
              </a:tblPr>
              <a:tblGrid>
                <a:gridCol w="1371600"/>
                <a:gridCol w="1005840"/>
                <a:gridCol w="1005840"/>
                <a:gridCol w="1188720"/>
              </a:tblGrid>
              <a:tr h="310896">
                <a:tc>
                  <a:txBody>
                    <a:bodyPr wrap="square" lIns="73152" rIns="73152"/>
                    <a:lstStyle/>
                    <a:p>
                      <a:pPr algn="ctr">
                        <a:defRPr sz="1000" b="1">
                          <a:solidFill>
                            <a:srgbClr val="FFFFFF"/>
                          </a:solidFill>
                          <a:latin typeface="Segoe UI"/>
                        </a:defRPr>
                      </a:pPr>
                      <a:r>
                        <a:t>Họ ngữ liệu</a:t>
                      </a:r>
                    </a:p>
                  </a:txBody>
                  <a:tcPr>
                    <a:solidFill>
                      <a:srgbClr val="1D4ED8"/>
                    </a:solidFill>
                  </a:tcPr>
                </a:tc>
                <a:tc>
                  <a:txBody>
                    <a:bodyPr wrap="square" lIns="73152" rIns="73152"/>
                    <a:lstStyle/>
                    <a:p>
                      <a:pPr algn="ctr">
                        <a:defRPr sz="1000" b="1">
                          <a:solidFill>
                            <a:srgbClr val="FFFFFF"/>
                          </a:solidFill>
                          <a:latin typeface="Segoe UI"/>
                        </a:defRPr>
                      </a:pPr>
                      <a:r>
                        <a:t>RLE</a:t>
                      </a:r>
                    </a:p>
                  </a:txBody>
                  <a:tcPr>
                    <a:solidFill>
                      <a:srgbClr val="1D4ED8"/>
                    </a:solidFill>
                  </a:tcPr>
                </a:tc>
                <a:tc>
                  <a:txBody>
                    <a:bodyPr wrap="square" lIns="73152" rIns="73152"/>
                    <a:lstStyle/>
                    <a:p>
                      <a:pPr algn="ctr">
                        <a:defRPr sz="1000" b="1">
                          <a:solidFill>
                            <a:srgbClr val="FFFFFF"/>
                          </a:solidFill>
                          <a:latin typeface="Segoe UI"/>
                        </a:defRPr>
                      </a:pPr>
                      <a:r>
                        <a:t>Huffman</a:t>
                      </a:r>
                    </a:p>
                  </a:txBody>
                  <a:tcPr>
                    <a:solidFill>
                      <a:srgbClr val="1D4ED8"/>
                    </a:solidFill>
                  </a:tcPr>
                </a:tc>
                <a:tc>
                  <a:txBody>
                    <a:bodyPr wrap="square" lIns="73152" rIns="73152"/>
                    <a:lstStyle/>
                    <a:p>
                      <a:pPr algn="ctr">
                        <a:defRPr sz="1000" b="1">
                          <a:solidFill>
                            <a:srgbClr val="FFFFFF"/>
                          </a:solidFill>
                          <a:latin typeface="Segoe UI"/>
                        </a:defRPr>
                      </a:pPr>
                      <a:r>
                        <a:t>LZW</a:t>
                      </a:r>
                    </a:p>
                  </a:txBody>
                  <a:tcPr>
                    <a:solidFill>
                      <a:srgbClr val="1D4ED8"/>
                    </a:solidFill>
                  </a:tcPr>
                </a:tc>
              </a:tr>
              <a:tr h="310896">
                <a:tc>
                  <a:txBody>
                    <a:bodyPr wrap="square" lIns="73152" rIns="73152" tIns="36576" bIns="36576"/>
                    <a:lstStyle/>
                    <a:p>
                      <a:pPr algn="l">
                        <a:defRPr sz="950">
                          <a:solidFill>
                            <a:srgbClr val="0F172A"/>
                          </a:solidFill>
                          <a:latin typeface="Segoe UI"/>
                        </a:defRPr>
                      </a:pPr>
                      <a:r>
                        <a:t>C1 (Run dài)</a:t>
                      </a:r>
                    </a:p>
                  </a:txBody>
                  <a:tcPr>
                    <a:solidFill>
                      <a:srgbClr val="FFFFFF"/>
                    </a:solidFill>
                  </a:tcPr>
                </a:tc>
                <a:tc>
                  <a:txBody>
                    <a:bodyPr wrap="square" lIns="73152" rIns="73152" tIns="36576" bIns="36576"/>
                    <a:lstStyle/>
                    <a:p>
                      <a:pPr algn="ctr">
                        <a:defRPr sz="950">
                          <a:solidFill>
                            <a:srgbClr val="0F172A"/>
                          </a:solidFill>
                          <a:latin typeface="Segoe UI"/>
                        </a:defRPr>
                      </a:pPr>
                      <a:r>
                        <a:t>0.0625 (Tốt nhất)</a:t>
                      </a:r>
                    </a:p>
                  </a:txBody>
                  <a:tcPr>
                    <a:solidFill>
                      <a:srgbClr val="FFFFFF"/>
                    </a:solidFill>
                  </a:tcPr>
                </a:tc>
                <a:tc>
                  <a:txBody>
                    <a:bodyPr wrap="square" lIns="73152" rIns="73152" tIns="36576" bIns="36576"/>
                    <a:lstStyle/>
                    <a:p>
                      <a:pPr algn="ctr">
                        <a:defRPr sz="950">
                          <a:solidFill>
                            <a:srgbClr val="0F172A"/>
                          </a:solidFill>
                          <a:latin typeface="Segoe UI"/>
                        </a:defRPr>
                      </a:pPr>
                      <a:r>
                        <a:t>1.0001</a:t>
                      </a:r>
                    </a:p>
                  </a:txBody>
                  <a:tcPr>
                    <a:solidFill>
                      <a:srgbClr val="FFFFFF"/>
                    </a:solidFill>
                  </a:tcPr>
                </a:tc>
                <a:tc>
                  <a:txBody>
                    <a:bodyPr wrap="square" lIns="73152" rIns="73152" tIns="36576" bIns="36576"/>
                    <a:lstStyle/>
                    <a:p>
                      <a:pPr algn="ctr">
                        <a:defRPr sz="950">
                          <a:solidFill>
                            <a:srgbClr val="0F172A"/>
                          </a:solidFill>
                          <a:latin typeface="Segoe UI"/>
                        </a:defRPr>
                      </a:pPr>
                      <a:r>
                        <a:t>0.2166</a:t>
                      </a:r>
                    </a:p>
                  </a:txBody>
                  <a:tcPr>
                    <a:solidFill>
                      <a:srgbClr val="FFFFFF"/>
                    </a:solidFill>
                  </a:tcPr>
                </a:tc>
              </a:tr>
              <a:tr h="310896">
                <a:tc>
                  <a:txBody>
                    <a:bodyPr wrap="square" lIns="73152" rIns="73152" tIns="36576" bIns="36576"/>
                    <a:lstStyle/>
                    <a:p>
                      <a:pPr algn="l">
                        <a:defRPr sz="950">
                          <a:solidFill>
                            <a:srgbClr val="0F172A"/>
                          </a:solidFill>
                          <a:latin typeface="Segoe UI"/>
                        </a:defRPr>
                      </a:pPr>
                      <a:r>
                        <a:t>C2 (Zipf 1000)</a:t>
                      </a:r>
                    </a:p>
                  </a:txBody>
                  <a:tcPr>
                    <a:solidFill>
                      <a:srgbClr val="F1F5F9"/>
                    </a:solidFill>
                  </a:tcPr>
                </a:tc>
                <a:tc>
                  <a:txBody>
                    <a:bodyPr wrap="square" lIns="73152" rIns="73152" tIns="36576" bIns="36576"/>
                    <a:lstStyle/>
                    <a:p>
                      <a:pPr algn="ctr">
                        <a:defRPr sz="950">
                          <a:solidFill>
                            <a:srgbClr val="0F172A"/>
                          </a:solidFill>
                          <a:latin typeface="Segoe UI"/>
                        </a:defRPr>
                      </a:pPr>
                      <a:r>
                        <a:t>1.9601</a:t>
                      </a:r>
                    </a:p>
                  </a:txBody>
                  <a:tcPr>
                    <a:solidFill>
                      <a:srgbClr val="F1F5F9"/>
                    </a:solidFill>
                  </a:tcPr>
                </a:tc>
                <a:tc>
                  <a:txBody>
                    <a:bodyPr wrap="square" lIns="73152" rIns="73152" tIns="36576" bIns="36576"/>
                    <a:lstStyle/>
                    <a:p>
                      <a:pPr algn="ctr">
                        <a:defRPr sz="950">
                          <a:solidFill>
                            <a:srgbClr val="0F172A"/>
                          </a:solidFill>
                          <a:latin typeface="Segoe UI"/>
                        </a:defRPr>
                      </a:pPr>
                      <a:r>
                        <a:t>0.5692</a:t>
                      </a:r>
                    </a:p>
                  </a:txBody>
                  <a:tcPr>
                    <a:solidFill>
                      <a:srgbClr val="F1F5F9"/>
                    </a:solidFill>
                  </a:tcPr>
                </a:tc>
                <a:tc>
                  <a:txBody>
                    <a:bodyPr wrap="square" lIns="73152" rIns="73152" tIns="36576" bIns="36576"/>
                    <a:lstStyle/>
                    <a:p>
                      <a:pPr algn="ctr">
                        <a:defRPr sz="950">
                          <a:solidFill>
                            <a:srgbClr val="0F172A"/>
                          </a:solidFill>
                          <a:latin typeface="Segoe UI"/>
                        </a:defRPr>
                      </a:pPr>
                      <a:r>
                        <a:t>0.3795 (Tốt nhất)</a:t>
                      </a:r>
                    </a:p>
                  </a:txBody>
                  <a:tcPr>
                    <a:solidFill>
                      <a:srgbClr val="F1F5F9"/>
                    </a:solidFill>
                  </a:tcPr>
                </a:tc>
              </a:tr>
              <a:tr h="310896">
                <a:tc>
                  <a:txBody>
                    <a:bodyPr wrap="square" lIns="73152" rIns="73152" tIns="36576" bIns="36576"/>
                    <a:lstStyle/>
                    <a:p>
                      <a:pPr algn="l">
                        <a:defRPr sz="950">
                          <a:solidFill>
                            <a:srgbClr val="0F172A"/>
                          </a:solidFill>
                          <a:latin typeface="Segoe UI"/>
                        </a:defRPr>
                      </a:pPr>
                      <a:r>
                        <a:t>C3 (Ngẫu nhiên)</a:t>
                      </a:r>
                    </a:p>
                  </a:txBody>
                  <a:tcPr>
                    <a:solidFill>
                      <a:srgbClr val="FFFFFF"/>
                    </a:solidFill>
                  </a:tcPr>
                </a:tc>
                <a:tc>
                  <a:txBody>
                    <a:bodyPr wrap="square" lIns="73152" rIns="73152" tIns="36576" bIns="36576"/>
                    <a:lstStyle/>
                    <a:p>
                      <a:pPr algn="ctr">
                        <a:defRPr sz="950">
                          <a:solidFill>
                            <a:srgbClr val="0F172A"/>
                          </a:solidFill>
                          <a:latin typeface="Segoe UI"/>
                        </a:defRPr>
                      </a:pPr>
                      <a:r>
                        <a:t>1.9922</a:t>
                      </a:r>
                    </a:p>
                  </a:txBody>
                  <a:tcPr>
                    <a:solidFill>
                      <a:srgbClr val="FFFFFF"/>
                    </a:solidFill>
                  </a:tcPr>
                </a:tc>
                <a:tc>
                  <a:txBody>
                    <a:bodyPr wrap="square" lIns="73152" rIns="73152" tIns="36576" bIns="36576"/>
                    <a:lstStyle/>
                    <a:p>
                      <a:pPr algn="ctr">
                        <a:defRPr sz="950">
                          <a:solidFill>
                            <a:srgbClr val="0F172A"/>
                          </a:solidFill>
                          <a:latin typeface="Segoe UI"/>
                        </a:defRPr>
                      </a:pPr>
                      <a:r>
                        <a:t>1.0001</a:t>
                      </a:r>
                    </a:p>
                  </a:txBody>
                  <a:tcPr>
                    <a:solidFill>
                      <a:srgbClr val="FFFFFF"/>
                    </a:solidFill>
                  </a:tcPr>
                </a:tc>
                <a:tc>
                  <a:txBody>
                    <a:bodyPr wrap="square" lIns="73152" rIns="73152" tIns="36576" bIns="36576"/>
                    <a:lstStyle/>
                    <a:p>
                      <a:pPr algn="ctr">
                        <a:defRPr sz="950">
                          <a:solidFill>
                            <a:srgbClr val="0F172A"/>
                          </a:solidFill>
                          <a:latin typeface="Segoe UI"/>
                        </a:defRPr>
                      </a:pPr>
                      <a:r>
                        <a:t>1.4195</a:t>
                      </a:r>
                    </a:p>
                  </a:txBody>
                  <a:tcPr>
                    <a:solidFill>
                      <a:srgbClr val="FFFFFF"/>
                    </a:solidFill>
                  </a:tcPr>
                </a:tc>
              </a:tr>
              <a:tr h="310896">
                <a:tc>
                  <a:txBody>
                    <a:bodyPr wrap="square" lIns="73152" rIns="73152" tIns="36576" bIns="36576"/>
                    <a:lstStyle/>
                    <a:p>
                      <a:pPr algn="l">
                        <a:defRPr sz="950">
                          <a:solidFill>
                            <a:srgbClr val="0F172A"/>
                          </a:solidFill>
                          <a:latin typeface="Segoe UI"/>
                        </a:defRPr>
                      </a:pPr>
                      <a:r>
                        <a:t>V1 (Wiki Tiếng Việt)</a:t>
                      </a:r>
                    </a:p>
                  </a:txBody>
                  <a:tcPr>
                    <a:solidFill>
                      <a:srgbClr val="F1F5F9"/>
                    </a:solidFill>
                  </a:tcPr>
                </a:tc>
                <a:tc>
                  <a:txBody>
                    <a:bodyPr wrap="square" lIns="73152" rIns="73152" tIns="36576" bIns="36576"/>
                    <a:lstStyle/>
                    <a:p>
                      <a:pPr algn="ctr">
                        <a:defRPr sz="950">
                          <a:solidFill>
                            <a:srgbClr val="0F172A"/>
                          </a:solidFill>
                          <a:latin typeface="Segoe UI"/>
                        </a:defRPr>
                      </a:pPr>
                      <a:r>
                        <a:t>1.9886</a:t>
                      </a:r>
                    </a:p>
                  </a:txBody>
                  <a:tcPr>
                    <a:solidFill>
                      <a:srgbClr val="F1F5F9"/>
                    </a:solidFill>
                  </a:tcPr>
                </a:tc>
                <a:tc>
                  <a:txBody>
                    <a:bodyPr wrap="square" lIns="73152" rIns="73152" tIns="36576" bIns="36576"/>
                    <a:lstStyle/>
                    <a:p>
                      <a:pPr algn="ctr">
                        <a:defRPr sz="950">
                          <a:solidFill>
                            <a:srgbClr val="0F172A"/>
                          </a:solidFill>
                          <a:latin typeface="Segoe UI"/>
                        </a:defRPr>
                      </a:pPr>
                      <a:r>
                        <a:t>0.6694</a:t>
                      </a:r>
                    </a:p>
                  </a:txBody>
                  <a:tcPr>
                    <a:solidFill>
                      <a:srgbClr val="F1F5F9"/>
                    </a:solidFill>
                  </a:tcPr>
                </a:tc>
                <a:tc>
                  <a:txBody>
                    <a:bodyPr wrap="square" lIns="73152" rIns="73152" tIns="36576" bIns="36576"/>
                    <a:lstStyle/>
                    <a:p>
                      <a:pPr algn="ctr">
                        <a:defRPr sz="950">
                          <a:solidFill>
                            <a:srgbClr val="0F172A"/>
                          </a:solidFill>
                          <a:latin typeface="Segoe UI"/>
                        </a:defRPr>
                      </a:pPr>
                      <a:r>
                        <a:t>0.5001 (Tốt nhất)</a:t>
                      </a:r>
                    </a:p>
                  </a:txBody>
                  <a:tcPr>
                    <a:solidFill>
                      <a:srgbClr val="F1F5F9"/>
                    </a:solidFill>
                  </a:tcPr>
                </a:tc>
              </a:tr>
            </a:tbl>
          </a:graphicData>
        </a:graphic>
      </p:graphicFrame>
      <p:sp>
        <p:nvSpPr>
          <p:cNvPr id="9" name="TextBox 8"/>
          <p:cNvSpPr txBox="1"/>
          <p:nvPr/>
        </p:nvSpPr>
        <p:spPr>
          <a:xfrm>
            <a:off x="914400" y="3749039"/>
            <a:ext cx="4572000" cy="2468880"/>
          </a:xfrm>
          <a:prstGeom prst="rect">
            <a:avLst/>
          </a:prstGeom>
          <a:noFill/>
        </p:spPr>
        <p:txBody>
          <a:bodyPr wrap="square" lIns="0" tIns="0">
            <a:spAutoFit/>
          </a:bodyPr>
          <a:lstStyle/>
          <a:p>
            <a:pPr>
              <a:defRPr sz="1150" b="1">
                <a:solidFill>
                  <a:srgbClr val="0F172A"/>
                </a:solidFill>
                <a:latin typeface="Segoe UI"/>
              </a:defRPr>
            </a:pPr>
            <a:r>
              <a:t>Phát hiện cốt lõi từ thực nghiệm:</a:t>
            </a:r>
          </a:p>
          <a:p>
            <a:pPr>
              <a:spcBef>
                <a:spcPts val="300"/>
              </a:spcBef>
              <a:defRPr sz="950">
                <a:solidFill>
                  <a:srgbClr val="0F172A"/>
                </a:solidFill>
                <a:latin typeface="Segoe UI"/>
              </a:defRPr>
            </a:pPr>
            <a:r>
              <a:t>• Quy mô tăng không tự sinh cấu trúc: Tăng kích thước làm giảm tỷ trọng header, nhưng tỷ lệ nén phụ thuộc hoàn toàn vào cấu trúc dữ liệu.</a:t>
            </a:r>
          </a:p>
          <a:p>
            <a:pPr>
              <a:spcBef>
                <a:spcPts val="300"/>
              </a:spcBef>
              <a:defRPr sz="950">
                <a:solidFill>
                  <a:srgbClr val="0F172A"/>
                </a:solidFill>
                <a:latin typeface="Segoe UI"/>
              </a:defRPr>
            </a:pPr>
            <a:r>
              <a:t>• C1 (Run dài): RLE nén siêu việt (thu nhỏ 16 lần - 0.0625) trong khi Huffman bất lực (~1.0) do histogram phân tán đều.</a:t>
            </a:r>
          </a:p>
          <a:p>
            <a:pPr>
              <a:spcBef>
                <a:spcPts val="300"/>
              </a:spcBef>
              <a:defRPr sz="950">
                <a:solidFill>
                  <a:srgbClr val="0F172A"/>
                </a:solidFill>
                <a:latin typeface="Segoe UI"/>
              </a:defRPr>
            </a:pPr>
            <a:r>
              <a:t>• C2 &amp; V1: LZW dẫn đầu áp đảo (0.380 và 0.500) nhờ cơ chế học và tái dùng các cụm từ vựng lặp lại.</a:t>
            </a:r>
          </a:p>
          <a:p>
            <a:pPr>
              <a:spcBef>
                <a:spcPts val="300"/>
              </a:spcBef>
              <a:defRPr sz="950">
                <a:solidFill>
                  <a:srgbClr val="0F172A"/>
                </a:solidFill>
                <a:latin typeface="Segoe UI"/>
              </a:defRPr>
            </a:pPr>
            <a:r>
              <a:t>• C3 (Nhiễu ngẫu nhiên): Cả 3 codec đều không nén được; overhead nhãn làm kích thước tăng gấp đôi (RLE ~1.99, LZW ~1.42).</a:t>
            </a:r>
          </a:p>
        </p:txBody>
      </p:sp>
      <p:sp>
        <p:nvSpPr>
          <p:cNvPr id="10" name="Rounded Rectangle 9"/>
          <p:cNvSpPr/>
          <p:nvPr/>
        </p:nvSpPr>
        <p:spPr>
          <a:xfrm>
            <a:off x="5943600" y="1508760"/>
            <a:ext cx="551657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q1_ratio.png"/>
          <p:cNvPicPr>
            <a:picLocks noChangeAspect="1"/>
          </p:cNvPicPr>
          <p:nvPr/>
        </p:nvPicPr>
        <p:blipFill>
          <a:blip r:embed="rId2"/>
          <a:stretch>
            <a:fillRect/>
          </a:stretch>
        </p:blipFill>
        <p:spPr>
          <a:xfrm>
            <a:off x="6080760" y="1691640"/>
            <a:ext cx="5242255" cy="3749039"/>
          </a:xfrm>
          <a:prstGeom prst="rect">
            <a:avLst/>
          </a:prstGeom>
        </p:spPr>
      </p:pic>
      <p:sp>
        <p:nvSpPr>
          <p:cNvPr id="12" name="TextBox 11"/>
          <p:cNvSpPr txBox="1"/>
          <p:nvPr/>
        </p:nvSpPr>
        <p:spPr>
          <a:xfrm>
            <a:off x="6080760" y="5669280"/>
            <a:ext cx="5242255" cy="457200"/>
          </a:xfrm>
          <a:prstGeom prst="rect">
            <a:avLst/>
          </a:prstGeom>
          <a:noFill/>
        </p:spPr>
        <p:txBody>
          <a:bodyPr wrap="square" lIns="0" tIns="0">
            <a:spAutoFit/>
          </a:bodyPr>
          <a:lstStyle/>
          <a:p>
            <a:pPr algn="ctr">
              <a:defRPr sz="950">
                <a:solidFill>
                  <a:srgbClr val="475569"/>
                </a:solidFill>
                <a:latin typeface="Segoe UI"/>
              </a:defRPr>
            </a:pPr>
            <a:r>
              <a:t>Hình 1. Tỷ lệ nén qua 5 kích thước (dải min–max qua 3 seeds ngẫu nhiên)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74320"/>
          </a:xfrm>
          <a:prstGeom prst="rect">
            <a:avLst/>
          </a:prstGeom>
          <a:noFill/>
        </p:spPr>
        <p:txBody>
          <a:bodyPr wrap="square" lIns="0" tIns="0" rIns="0" bIns="0">
            <a:spAutoFit/>
          </a:bodyPr>
          <a:lstStyle/>
          <a:p>
            <a:pPr>
              <a:defRPr sz="1000" b="1">
                <a:solidFill>
                  <a:srgbClr val="2563EB"/>
                </a:solidFill>
                <a:latin typeface="Segoe UI"/>
              </a:defRPr>
            </a:pPr>
            <a:r>
              <a:t>RQ1: HIỆU NĂNG &amp; BỘ NHỚ</a:t>
            </a:r>
          </a:p>
        </p:txBody>
      </p:sp>
      <p:sp>
        <p:nvSpPr>
          <p:cNvPr id="4" name="TextBox 3"/>
          <p:cNvSpPr txBox="1"/>
          <p:nvPr/>
        </p:nvSpPr>
        <p:spPr>
          <a:xfrm>
            <a:off x="731520" y="621792"/>
            <a:ext cx="10728655" cy="502920"/>
          </a:xfrm>
          <a:prstGeom prst="rect">
            <a:avLst/>
          </a:prstGeom>
          <a:noFill/>
        </p:spPr>
        <p:txBody>
          <a:bodyPr wrap="square" lIns="0" tIns="0" rIns="0" bIns="0">
            <a:spAutoFit/>
          </a:bodyPr>
          <a:lstStyle/>
          <a:p>
            <a:pPr>
              <a:defRPr sz="2100" b="1">
                <a:solidFill>
                  <a:srgbClr val="0F172A"/>
                </a:solidFill>
                <a:latin typeface="Segoe UI"/>
              </a:defRPr>
            </a:pPr>
            <a:r>
              <a:t>Đánh Đổi Giữa Thông Lượng Nén/Giải Nén Và Đỉnh RAM Cấp Phát</a:t>
            </a:r>
          </a:p>
        </p:txBody>
      </p:sp>
      <p:sp>
        <p:nvSpPr>
          <p:cNvPr id="5" name="TextBox 4"/>
          <p:cNvSpPr txBox="1"/>
          <p:nvPr/>
        </p:nvSpPr>
        <p:spPr>
          <a:xfrm>
            <a:off x="731520" y="1115568"/>
            <a:ext cx="10728655" cy="274320"/>
          </a:xfrm>
          <a:prstGeom prst="rect">
            <a:avLst/>
          </a:prstGeom>
          <a:noFill/>
        </p:spPr>
        <p:txBody>
          <a:bodyPr wrap="square" lIns="0" tIns="0" rIns="0" bIns="0">
            <a:spAutoFit/>
          </a:bodyPr>
          <a:lstStyle/>
          <a:p>
            <a:pPr>
              <a:defRPr sz="1150">
                <a:solidFill>
                  <a:srgbClr val="475569"/>
                </a:solidFill>
                <a:latin typeface="Segoe UI"/>
              </a:defRPr>
            </a:pPr>
            <a:r>
              <a:t>Phân tích sự khác biệt giữa độ phức tạp lý thuyết và đặc thù cài đặt trong môi trường Pure Python</a:t>
            </a:r>
          </a:p>
        </p:txBody>
      </p:sp>
      <p:sp>
        <p:nvSpPr>
          <p:cNvPr id="6" name="Rounded Rectangle 5"/>
          <p:cNvSpPr/>
          <p:nvPr/>
        </p:nvSpPr>
        <p:spPr>
          <a:xfrm>
            <a:off x="731520" y="150876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4754880" cy="320040"/>
          </a:xfrm>
          <a:prstGeom prst="rect">
            <a:avLst/>
          </a:prstGeom>
          <a:noFill/>
        </p:spPr>
        <p:txBody>
          <a:bodyPr wrap="none" lIns="0" tIns="0">
            <a:spAutoFit/>
          </a:bodyPr>
          <a:lstStyle/>
          <a:p>
            <a:pPr>
              <a:defRPr sz="1200" b="1">
                <a:solidFill>
                  <a:srgbClr val="1D4ED8"/>
                </a:solidFill>
                <a:latin typeface="Segoe UI"/>
              </a:defRPr>
            </a:pPr>
            <a:r>
              <a:t>Thông Lượng Nén &amp; Giải Nén (KiB/s)</a:t>
            </a:r>
          </a:p>
        </p:txBody>
      </p:sp>
      <p:pic>
        <p:nvPicPr>
          <p:cNvPr id="8" name="Picture 7" descr="rq1_throughput.png"/>
          <p:cNvPicPr>
            <a:picLocks noChangeAspect="1"/>
          </p:cNvPicPr>
          <p:nvPr/>
        </p:nvPicPr>
        <p:blipFill>
          <a:blip r:embed="rId2"/>
          <a:stretch>
            <a:fillRect/>
          </a:stretch>
        </p:blipFill>
        <p:spPr>
          <a:xfrm>
            <a:off x="1188720" y="1965960"/>
            <a:ext cx="4206240" cy="2834640"/>
          </a:xfrm>
          <a:prstGeom prst="rect">
            <a:avLst/>
          </a:prstGeom>
        </p:spPr>
      </p:pic>
      <p:sp>
        <p:nvSpPr>
          <p:cNvPr id="9" name="TextBox 8"/>
          <p:cNvSpPr txBox="1"/>
          <p:nvPr/>
        </p:nvSpPr>
        <p:spPr>
          <a:xfrm>
            <a:off x="914400" y="4892040"/>
            <a:ext cx="4754880" cy="1280160"/>
          </a:xfrm>
          <a:prstGeom prst="rect">
            <a:avLst/>
          </a:prstGeom>
          <a:noFill/>
        </p:spPr>
        <p:txBody>
          <a:bodyPr wrap="square" lIns="0" tIns="0">
            <a:spAutoFit/>
          </a:bodyPr>
          <a:lstStyle/>
          <a:p/>
          <a:p>
            <a:pPr>
              <a:spcBef>
                <a:spcPts val="200"/>
              </a:spcBef>
              <a:defRPr sz="950">
                <a:solidFill>
                  <a:srgbClr val="0F172A"/>
                </a:solidFill>
                <a:latin typeface="Segoe UI"/>
              </a:defRPr>
            </a:pPr>
            <a:r>
              <a:t>• RLE giải nén cực nhanh: 140,597 KiB/s trên C1 nhờ thao tác nhân bản byte đơn giản.</a:t>
            </a:r>
          </a:p>
          <a:p>
            <a:pPr>
              <a:spcBef>
                <a:spcPts val="200"/>
              </a:spcBef>
              <a:defRPr sz="950">
                <a:solidFill>
                  <a:srgbClr val="0F172A"/>
                </a:solidFill>
                <a:latin typeface="Segoe UI"/>
              </a:defRPr>
            </a:pPr>
            <a:r>
              <a:t>• LZW cân bằng: Nén đạt 9.5–12.5 MiB/s, Giải nén đạt 15–34 MiB/s.</a:t>
            </a:r>
          </a:p>
          <a:p>
            <a:pPr>
              <a:spcBef>
                <a:spcPts val="200"/>
              </a:spcBef>
              <a:defRPr sz="950">
                <a:solidFill>
                  <a:srgbClr val="0F172A"/>
                </a:solidFill>
                <a:latin typeface="Segoe UI"/>
              </a:defRPr>
            </a:pPr>
            <a:r>
              <a:t>• Huffman chậm nhất: Giải nén chỉ đạt 1.6–2.7 MiB/s do duyệt bit-by-bit.</a:t>
            </a:r>
          </a:p>
        </p:txBody>
      </p:sp>
      <p:sp>
        <p:nvSpPr>
          <p:cNvPr id="10" name="Rounded Rectangle 9"/>
          <p:cNvSpPr/>
          <p:nvPr/>
        </p:nvSpPr>
        <p:spPr>
          <a:xfrm>
            <a:off x="6126480" y="1508760"/>
            <a:ext cx="533369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600200"/>
            <a:ext cx="4937760" cy="320040"/>
          </a:xfrm>
          <a:prstGeom prst="rect">
            <a:avLst/>
          </a:prstGeom>
          <a:noFill/>
        </p:spPr>
        <p:txBody>
          <a:bodyPr wrap="none" lIns="0" tIns="0">
            <a:spAutoFit/>
          </a:bodyPr>
          <a:lstStyle/>
          <a:p>
            <a:pPr>
              <a:defRPr sz="1200" b="1">
                <a:solidFill>
                  <a:srgbClr val="E11D48"/>
                </a:solidFill>
                <a:latin typeface="Segoe UI"/>
              </a:defRPr>
            </a:pPr>
            <a:r>
              <a:t>Đỉnh Bộ Nhớ Cấp Phát (Tracemalloc Peak KiB)</a:t>
            </a:r>
          </a:p>
        </p:txBody>
      </p:sp>
      <p:pic>
        <p:nvPicPr>
          <p:cNvPr id="12" name="Picture 11" descr="rq1_memory.png"/>
          <p:cNvPicPr>
            <a:picLocks noChangeAspect="1"/>
          </p:cNvPicPr>
          <p:nvPr/>
        </p:nvPicPr>
        <p:blipFill>
          <a:blip r:embed="rId3"/>
          <a:stretch>
            <a:fillRect/>
          </a:stretch>
        </p:blipFill>
        <p:spPr>
          <a:xfrm>
            <a:off x="6400800" y="1965960"/>
            <a:ext cx="4754880" cy="2834640"/>
          </a:xfrm>
          <a:prstGeom prst="rect">
            <a:avLst/>
          </a:prstGeom>
        </p:spPr>
      </p:pic>
      <p:sp>
        <p:nvSpPr>
          <p:cNvPr id="13" name="TextBox 12"/>
          <p:cNvSpPr txBox="1"/>
          <p:nvPr/>
        </p:nvSpPr>
        <p:spPr>
          <a:xfrm>
            <a:off x="6309360" y="4892040"/>
            <a:ext cx="4937760" cy="1280160"/>
          </a:xfrm>
          <a:prstGeom prst="rect">
            <a:avLst/>
          </a:prstGeom>
          <a:noFill/>
        </p:spPr>
        <p:txBody>
          <a:bodyPr wrap="square" lIns="0" tIns="0">
            <a:spAutoFit/>
          </a:bodyPr>
          <a:lstStyle/>
          <a:p/>
          <a:p>
            <a:pPr>
              <a:spcBef>
                <a:spcPts val="200"/>
              </a:spcBef>
              <a:defRPr sz="950">
                <a:solidFill>
                  <a:srgbClr val="0F172A"/>
                </a:solidFill>
                <a:latin typeface="Segoe UI"/>
              </a:defRPr>
            </a:pPr>
            <a:r>
              <a:t>• LZW &amp; RLE footprint nhỏ: Duy trì đỉnh RAM ổn định (~9 – 17 MiB).</a:t>
            </a:r>
          </a:p>
          <a:p>
            <a:pPr>
              <a:spcBef>
                <a:spcPts val="200"/>
              </a:spcBef>
              <a:defRPr sz="950">
                <a:solidFill>
                  <a:srgbClr val="0F172A"/>
                </a:solidFill>
                <a:latin typeface="Segoe UI"/>
              </a:defRPr>
            </a:pPr>
            <a:r>
              <a:t>• Nút thắt bộ nhớ của Huffman: Đỉnh RAM tăng vọt lên 275 MiB ở 4096 KiB!</a:t>
            </a:r>
          </a:p>
          <a:p>
            <a:pPr>
              <a:spcBef>
                <a:spcPts val="200"/>
              </a:spcBef>
              <a:defRPr sz="950">
                <a:solidFill>
                  <a:srgbClr val="0F172A"/>
                </a:solidFill>
                <a:latin typeface="Segoe UI"/>
              </a:defRPr>
            </a:pPr>
            <a:r>
              <a:t>• Nguyên nhân kỹ thuật: Huffman tạo chuỗi bit trung gian bằng str Python ('0101...'), làm phình bộ nhớ gấp nhiều lần input.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74320"/>
          </a:xfrm>
          <a:prstGeom prst="rect">
            <a:avLst/>
          </a:prstGeom>
          <a:noFill/>
        </p:spPr>
        <p:txBody>
          <a:bodyPr wrap="square" lIns="0" tIns="0" rIns="0" bIns="0">
            <a:spAutoFit/>
          </a:bodyPr>
          <a:lstStyle/>
          <a:p>
            <a:pPr>
              <a:defRPr sz="1000" b="1">
                <a:solidFill>
                  <a:srgbClr val="2563EB"/>
                </a:solidFill>
                <a:latin typeface="Segoe UI"/>
              </a:defRPr>
            </a:pPr>
            <a:r>
              <a:t>RQ2: ĐỘ NHẠY ĐIỀU KIỆN</a:t>
            </a:r>
          </a:p>
        </p:txBody>
      </p:sp>
      <p:sp>
        <p:nvSpPr>
          <p:cNvPr id="4" name="TextBox 3"/>
          <p:cNvSpPr txBox="1"/>
          <p:nvPr/>
        </p:nvSpPr>
        <p:spPr>
          <a:xfrm>
            <a:off x="731520" y="621792"/>
            <a:ext cx="10728655" cy="502920"/>
          </a:xfrm>
          <a:prstGeom prst="rect">
            <a:avLst/>
          </a:prstGeom>
          <a:noFill/>
        </p:spPr>
        <p:txBody>
          <a:bodyPr wrap="square" lIns="0" tIns="0" rIns="0" bIns="0">
            <a:spAutoFit/>
          </a:bodyPr>
          <a:lstStyle/>
          <a:p>
            <a:pPr>
              <a:defRPr sz="2100" b="1">
                <a:solidFill>
                  <a:srgbClr val="0F172A"/>
                </a:solidFill>
                <a:latin typeface="Segoe UI"/>
              </a:defRPr>
            </a:pPr>
            <a:r>
              <a:t>Ảnh Hưởng Của Hoán Vị Byte Khi Giữ Nguyên Entropy Shannon H₀</a:t>
            </a:r>
          </a:p>
        </p:txBody>
      </p:sp>
      <p:sp>
        <p:nvSpPr>
          <p:cNvPr id="5" name="TextBox 4"/>
          <p:cNvSpPr txBox="1"/>
          <p:nvPr/>
        </p:nvSpPr>
        <p:spPr>
          <a:xfrm>
            <a:off x="731520" y="1115568"/>
            <a:ext cx="10728655" cy="274320"/>
          </a:xfrm>
          <a:prstGeom prst="rect">
            <a:avLst/>
          </a:prstGeom>
          <a:noFill/>
        </p:spPr>
        <p:txBody>
          <a:bodyPr wrap="square" lIns="0" tIns="0" rIns="0" bIns="0">
            <a:spAutoFit/>
          </a:bodyPr>
          <a:lstStyle/>
          <a:p>
            <a:pPr>
              <a:defRPr sz="1150">
                <a:solidFill>
                  <a:srgbClr val="475569"/>
                </a:solidFill>
                <a:latin typeface="Segoe UI"/>
              </a:defRPr>
            </a:pPr>
            <a:r>
              <a:t>Khảo sát trên 3 tệp 1 MiB (Canterbury &amp; Wiki) qua 3 trạng thái cấu trúc dữ liệu</a:t>
            </a:r>
          </a:p>
        </p:txBody>
      </p:sp>
      <p:sp>
        <p:nvSpPr>
          <p:cNvPr id="6" name="Rounded Rectangle 5"/>
          <p:cNvSpPr/>
          <p:nvPr/>
        </p:nvSpPr>
        <p:spPr>
          <a:xfrm>
            <a:off x="731520" y="150876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754880" cy="320040"/>
          </a:xfrm>
          <a:prstGeom prst="rect">
            <a:avLst/>
          </a:prstGeom>
          <a:noFill/>
        </p:spPr>
        <p:txBody>
          <a:bodyPr wrap="none" lIns="0" tIns="0">
            <a:spAutoFit/>
          </a:bodyPr>
          <a:lstStyle/>
          <a:p>
            <a:pPr>
              <a:defRPr sz="1100" b="1">
                <a:solidFill>
                  <a:srgbClr val="1D4ED8"/>
                </a:solidFill>
                <a:latin typeface="Segoe UI"/>
              </a:defRPr>
            </a:pPr>
            <a:r>
              <a:t>Bảng III. Tỷ lệ nén và H₀/8 qua các trạng thái hoán vị</a:t>
            </a:r>
          </a:p>
        </p:txBody>
      </p:sp>
      <p:graphicFrame>
        <p:nvGraphicFramePr>
          <p:cNvPr id="8" name="Table 7"/>
          <p:cNvGraphicFramePr>
            <a:graphicFrameLocks noGrp="1"/>
          </p:cNvGraphicFramePr>
          <p:nvPr/>
        </p:nvGraphicFramePr>
        <p:xfrm>
          <a:off x="868680" y="2011680"/>
          <a:ext cx="4846320" cy="2194560"/>
        </p:xfrm>
        <a:graphic>
          <a:graphicData uri="http://schemas.openxmlformats.org/drawingml/2006/table">
            <a:tbl>
              <a:tblPr firstRow="1" bandRow="1">
                <a:tableStyleId>{5C22544A-7EE6-4342-B048-85BDC9FD1C3A}</a:tableStyleId>
              </a:tblPr>
              <a:tblGrid>
                <a:gridCol w="914400"/>
                <a:gridCol w="1005840"/>
                <a:gridCol w="640080"/>
                <a:gridCol w="731520"/>
                <a:gridCol w="777240"/>
                <a:gridCol w="777240"/>
              </a:tblGrid>
              <a:tr h="219456">
                <a:tc>
                  <a:txBody>
                    <a:bodyPr wrap="square" lIns="73152" rIns="73152"/>
                    <a:lstStyle/>
                    <a:p>
                      <a:pPr algn="ctr">
                        <a:defRPr sz="1000" b="1">
                          <a:solidFill>
                            <a:srgbClr val="FFFFFF"/>
                          </a:solidFill>
                          <a:latin typeface="Segoe UI"/>
                        </a:defRPr>
                      </a:pPr>
                      <a:r>
                        <a:t>Tệp</a:t>
                      </a:r>
                    </a:p>
                  </a:txBody>
                  <a:tcPr>
                    <a:solidFill>
                      <a:srgbClr val="1D4ED8"/>
                    </a:solidFill>
                  </a:tcPr>
                </a:tc>
                <a:tc>
                  <a:txBody>
                    <a:bodyPr wrap="square" lIns="73152" rIns="73152"/>
                    <a:lstStyle/>
                    <a:p>
                      <a:pPr algn="ctr">
                        <a:defRPr sz="1000" b="1">
                          <a:solidFill>
                            <a:srgbClr val="FFFFFF"/>
                          </a:solidFill>
                          <a:latin typeface="Segoe UI"/>
                        </a:defRPr>
                      </a:pPr>
                      <a:r>
                        <a:t>Trạng thái</a:t>
                      </a:r>
                    </a:p>
                  </a:txBody>
                  <a:tcPr>
                    <a:solidFill>
                      <a:srgbClr val="1D4ED8"/>
                    </a:solidFill>
                  </a:tcPr>
                </a:tc>
                <a:tc>
                  <a:txBody>
                    <a:bodyPr wrap="square" lIns="73152" rIns="73152"/>
                    <a:lstStyle/>
                    <a:p>
                      <a:pPr algn="ctr">
                        <a:defRPr sz="1000" b="1">
                          <a:solidFill>
                            <a:srgbClr val="FFFFFF"/>
                          </a:solidFill>
                          <a:latin typeface="Segoe UI"/>
                        </a:defRPr>
                      </a:pPr>
                      <a:r>
                        <a:t>H₀/8</a:t>
                      </a:r>
                    </a:p>
                  </a:txBody>
                  <a:tcPr>
                    <a:solidFill>
                      <a:srgbClr val="1D4ED8"/>
                    </a:solidFill>
                  </a:tcPr>
                </a:tc>
                <a:tc>
                  <a:txBody>
                    <a:bodyPr wrap="square" lIns="73152" rIns="73152"/>
                    <a:lstStyle/>
                    <a:p>
                      <a:pPr algn="ctr">
                        <a:defRPr sz="1000" b="1">
                          <a:solidFill>
                            <a:srgbClr val="FFFFFF"/>
                          </a:solidFill>
                          <a:latin typeface="Segoe UI"/>
                        </a:defRPr>
                      </a:pPr>
                      <a:r>
                        <a:t>RLE</a:t>
                      </a:r>
                    </a:p>
                  </a:txBody>
                  <a:tcPr>
                    <a:solidFill>
                      <a:srgbClr val="1D4ED8"/>
                    </a:solidFill>
                  </a:tcPr>
                </a:tc>
                <a:tc>
                  <a:txBody>
                    <a:bodyPr wrap="square" lIns="73152" rIns="73152"/>
                    <a:lstStyle/>
                    <a:p>
                      <a:pPr algn="ctr">
                        <a:defRPr sz="1000" b="1">
                          <a:solidFill>
                            <a:srgbClr val="FFFFFF"/>
                          </a:solidFill>
                          <a:latin typeface="Segoe UI"/>
                        </a:defRPr>
                      </a:pPr>
                      <a:r>
                        <a:t>Huffman</a:t>
                      </a:r>
                    </a:p>
                  </a:txBody>
                  <a:tcPr>
                    <a:solidFill>
                      <a:srgbClr val="1D4ED8"/>
                    </a:solidFill>
                  </a:tcPr>
                </a:tc>
                <a:tc>
                  <a:txBody>
                    <a:bodyPr wrap="square" lIns="73152" rIns="73152"/>
                    <a:lstStyle/>
                    <a:p>
                      <a:pPr algn="ctr">
                        <a:defRPr sz="1000" b="1">
                          <a:solidFill>
                            <a:srgbClr val="FFFFFF"/>
                          </a:solidFill>
                          <a:latin typeface="Segoe UI"/>
                        </a:defRPr>
                      </a:pPr>
                      <a:r>
                        <a:t>LZW</a:t>
                      </a:r>
                    </a:p>
                  </a:txBody>
                  <a:tcPr>
                    <a:solidFill>
                      <a:srgbClr val="1D4ED8"/>
                    </a:solidFill>
                  </a:tcPr>
                </a:tc>
              </a:tr>
              <a:tr h="219456">
                <a:tc>
                  <a:txBody>
                    <a:bodyPr wrap="square" lIns="73152" rIns="73152" tIns="36576" bIns="36576"/>
                    <a:lstStyle/>
                    <a:p>
                      <a:pPr algn="l">
                        <a:defRPr sz="950">
                          <a:solidFill>
                            <a:srgbClr val="0F172A"/>
                          </a:solidFill>
                          <a:latin typeface="Segoe UI"/>
                        </a:defRPr>
                      </a:pPr>
                      <a:r>
                        <a:t>alice29</a:t>
                      </a:r>
                    </a:p>
                  </a:txBody>
                  <a:tcPr>
                    <a:solidFill>
                      <a:srgbClr val="FFFFFF"/>
                    </a:solidFill>
                  </a:tcPr>
                </a:tc>
                <a:tc>
                  <a:txBody>
                    <a:bodyPr wrap="square" lIns="73152" rIns="73152" tIns="36576" bIns="36576"/>
                    <a:lstStyle/>
                    <a:p>
                      <a:pPr algn="ctr">
                        <a:defRPr sz="950">
                          <a:solidFill>
                            <a:srgbClr val="0F172A"/>
                          </a:solidFill>
                          <a:latin typeface="Segoe UI"/>
                        </a:defRPr>
                      </a:pPr>
                      <a:r>
                        <a:t>original</a:t>
                      </a:r>
                    </a:p>
                  </a:txBody>
                  <a:tcPr>
                    <a:solidFill>
                      <a:srgbClr val="FFFFFF"/>
                    </a:solidFill>
                  </a:tcPr>
                </a:tc>
                <a:tc>
                  <a:txBody>
                    <a:bodyPr wrap="square" lIns="73152" rIns="73152" tIns="36576" bIns="36576"/>
                    <a:lstStyle/>
                    <a:p>
                      <a:pPr algn="ctr">
                        <a:defRPr sz="950">
                          <a:solidFill>
                            <a:srgbClr val="0F172A"/>
                          </a:solidFill>
                          <a:latin typeface="Segoe UI"/>
                        </a:defRPr>
                      </a:pPr>
                      <a:r>
                        <a:t>0.571</a:t>
                      </a:r>
                    </a:p>
                  </a:txBody>
                  <a:tcPr>
                    <a:solidFill>
                      <a:srgbClr val="FFFFFF"/>
                    </a:solidFill>
                  </a:tcPr>
                </a:tc>
                <a:tc>
                  <a:txBody>
                    <a:bodyPr wrap="square" lIns="73152" rIns="73152" tIns="36576" bIns="36576"/>
                    <a:lstStyle/>
                    <a:p>
                      <a:pPr algn="ctr">
                        <a:defRPr sz="950">
                          <a:solidFill>
                            <a:srgbClr val="0F172A"/>
                          </a:solidFill>
                          <a:latin typeface="Segoe UI"/>
                        </a:defRPr>
                      </a:pPr>
                      <a:r>
                        <a:t>1.906</a:t>
                      </a:r>
                    </a:p>
                  </a:txBody>
                  <a:tcPr>
                    <a:solidFill>
                      <a:srgbClr val="FFFFFF"/>
                    </a:solidFill>
                  </a:tcPr>
                </a:tc>
                <a:tc>
                  <a:txBody>
                    <a:bodyPr wrap="square" lIns="73152" rIns="73152" tIns="36576" bIns="36576"/>
                    <a:lstStyle/>
                    <a:p>
                      <a:pPr algn="ctr">
                        <a:defRPr sz="950">
                          <a:solidFill>
                            <a:srgbClr val="0F172A"/>
                          </a:solidFill>
                          <a:latin typeface="Segoe UI"/>
                        </a:defRPr>
                      </a:pPr>
                      <a:r>
                        <a:t>0.578</a:t>
                      </a:r>
                    </a:p>
                  </a:txBody>
                  <a:tcPr>
                    <a:solidFill>
                      <a:srgbClr val="FFFFFF"/>
                    </a:solidFill>
                  </a:tcPr>
                </a:tc>
                <a:tc>
                  <a:txBody>
                    <a:bodyPr wrap="square" lIns="73152" rIns="73152" tIns="36576" bIns="36576"/>
                    <a:lstStyle/>
                    <a:p>
                      <a:pPr algn="ctr">
                        <a:defRPr sz="950">
                          <a:solidFill>
                            <a:srgbClr val="0F172A"/>
                          </a:solidFill>
                          <a:latin typeface="Segoe UI"/>
                        </a:defRPr>
                      </a:pPr>
                      <a:r>
                        <a:t>0.476</a:t>
                      </a:r>
                    </a:p>
                  </a:txBody>
                  <a:tcPr>
                    <a:solidFill>
                      <a:srgbClr val="FFFFFF"/>
                    </a:solidFill>
                  </a:tcPr>
                </a:tc>
              </a:tr>
              <a:tr h="219456">
                <a:tc>
                  <a:txBody>
                    <a:bodyPr wrap="square" lIns="73152" rIns="73152" tIns="36576" bIns="36576"/>
                    <a:lstStyle/>
                    <a:p>
                      <a:pPr algn="l">
                        <a:defRPr sz="950">
                          <a:solidFill>
                            <a:srgbClr val="0F172A"/>
                          </a:solidFill>
                          <a:latin typeface="Segoe UI"/>
                        </a:defRPr>
                      </a:pPr>
                      <a:r>
                        <a:t>alice29</a:t>
                      </a:r>
                    </a:p>
                  </a:txBody>
                  <a:tcPr>
                    <a:solidFill>
                      <a:srgbClr val="F1F5F9"/>
                    </a:solidFill>
                  </a:tcPr>
                </a:tc>
                <a:tc>
                  <a:txBody>
                    <a:bodyPr wrap="square" lIns="73152" rIns="73152" tIns="36576" bIns="36576"/>
                    <a:lstStyle/>
                    <a:p>
                      <a:pPr algn="ctr">
                        <a:defRPr sz="950">
                          <a:solidFill>
                            <a:srgbClr val="0F172A"/>
                          </a:solidFill>
                          <a:latin typeface="Segoe UI"/>
                        </a:defRPr>
                      </a:pPr>
                      <a:r>
                        <a:t>runs (sort)</a:t>
                      </a:r>
                    </a:p>
                  </a:txBody>
                  <a:tcPr>
                    <a:solidFill>
                      <a:srgbClr val="F1F5F9"/>
                    </a:solidFill>
                  </a:tcPr>
                </a:tc>
                <a:tc>
                  <a:txBody>
                    <a:bodyPr wrap="square" lIns="73152" rIns="73152" tIns="36576" bIns="36576"/>
                    <a:lstStyle/>
                    <a:p>
                      <a:pPr algn="ctr">
                        <a:defRPr sz="950">
                          <a:solidFill>
                            <a:srgbClr val="0F172A"/>
                          </a:solidFill>
                          <a:latin typeface="Segoe UI"/>
                        </a:defRPr>
                      </a:pPr>
                      <a:r>
                        <a:t>0.571</a:t>
                      </a:r>
                    </a:p>
                  </a:txBody>
                  <a:tcPr>
                    <a:solidFill>
                      <a:srgbClr val="F1F5F9"/>
                    </a:solidFill>
                  </a:tcPr>
                </a:tc>
                <a:tc>
                  <a:txBody>
                    <a:bodyPr wrap="square" lIns="73152" rIns="73152" tIns="36576" bIns="36576"/>
                    <a:lstStyle/>
                    <a:p>
                      <a:pPr algn="ctr">
                        <a:defRPr sz="950">
                          <a:solidFill>
                            <a:srgbClr val="0F172A"/>
                          </a:solidFill>
                          <a:latin typeface="Segoe UI"/>
                        </a:defRPr>
                      </a:pPr>
                      <a:r>
                        <a:t>0.008</a:t>
                      </a:r>
                    </a:p>
                  </a:txBody>
                  <a:tcPr>
                    <a:solidFill>
                      <a:srgbClr val="F1F5F9"/>
                    </a:solidFill>
                  </a:tcPr>
                </a:tc>
                <a:tc>
                  <a:txBody>
                    <a:bodyPr wrap="square" lIns="73152" rIns="73152" tIns="36576" bIns="36576"/>
                    <a:lstStyle/>
                    <a:p>
                      <a:pPr algn="ctr">
                        <a:defRPr sz="950">
                          <a:solidFill>
                            <a:srgbClr val="0F172A"/>
                          </a:solidFill>
                          <a:latin typeface="Segoe UI"/>
                        </a:defRPr>
                      </a:pPr>
                      <a:r>
                        <a:t>0.578</a:t>
                      </a:r>
                    </a:p>
                  </a:txBody>
                  <a:tcPr>
                    <a:solidFill>
                      <a:srgbClr val="F1F5F9"/>
                    </a:solidFill>
                  </a:tcPr>
                </a:tc>
                <a:tc>
                  <a:txBody>
                    <a:bodyPr wrap="square" lIns="73152" rIns="73152" tIns="36576" bIns="36576"/>
                    <a:lstStyle/>
                    <a:p>
                      <a:pPr algn="ctr">
                        <a:defRPr sz="950">
                          <a:solidFill>
                            <a:srgbClr val="0F172A"/>
                          </a:solidFill>
                          <a:latin typeface="Segoe UI"/>
                        </a:defRPr>
                      </a:pPr>
                      <a:r>
                        <a:t>0.033</a:t>
                      </a:r>
                    </a:p>
                  </a:txBody>
                  <a:tcPr>
                    <a:solidFill>
                      <a:srgbClr val="F1F5F9"/>
                    </a:solidFill>
                  </a:tcPr>
                </a:tc>
              </a:tr>
              <a:tr h="219456">
                <a:tc>
                  <a:txBody>
                    <a:bodyPr wrap="square" lIns="73152" rIns="73152" tIns="36576" bIns="36576"/>
                    <a:lstStyle/>
                    <a:p>
                      <a:pPr algn="l">
                        <a:defRPr sz="950">
                          <a:solidFill>
                            <a:srgbClr val="0F172A"/>
                          </a:solidFill>
                          <a:latin typeface="Segoe UI"/>
                        </a:defRPr>
                      </a:pPr>
                      <a:r>
                        <a:t>alice29</a:t>
                      </a:r>
                    </a:p>
                  </a:txBody>
                  <a:tcPr>
                    <a:solidFill>
                      <a:srgbClr val="FFFFFF"/>
                    </a:solidFill>
                  </a:tcPr>
                </a:tc>
                <a:tc>
                  <a:txBody>
                    <a:bodyPr wrap="square" lIns="73152" rIns="73152" tIns="36576" bIns="36576"/>
                    <a:lstStyle/>
                    <a:p>
                      <a:pPr algn="ctr">
                        <a:defRPr sz="950">
                          <a:solidFill>
                            <a:srgbClr val="0F172A"/>
                          </a:solidFill>
                          <a:latin typeface="Segoe UI"/>
                        </a:defRPr>
                      </a:pPr>
                      <a:r>
                        <a:t>shuffled</a:t>
                      </a:r>
                    </a:p>
                  </a:txBody>
                  <a:tcPr>
                    <a:solidFill>
                      <a:srgbClr val="FFFFFF"/>
                    </a:solidFill>
                  </a:tcPr>
                </a:tc>
                <a:tc>
                  <a:txBody>
                    <a:bodyPr wrap="square" lIns="73152" rIns="73152" tIns="36576" bIns="36576"/>
                    <a:lstStyle/>
                    <a:p>
                      <a:pPr algn="ctr">
                        <a:defRPr sz="950">
                          <a:solidFill>
                            <a:srgbClr val="0F172A"/>
                          </a:solidFill>
                          <a:latin typeface="Segoe UI"/>
                        </a:defRPr>
                      </a:pPr>
                      <a:r>
                        <a:t>0.571</a:t>
                      </a:r>
                    </a:p>
                  </a:txBody>
                  <a:tcPr>
                    <a:solidFill>
                      <a:srgbClr val="FFFFFF"/>
                    </a:solidFill>
                  </a:tcPr>
                </a:tc>
                <a:tc>
                  <a:txBody>
                    <a:bodyPr wrap="square" lIns="73152" rIns="73152" tIns="36576" bIns="36576"/>
                    <a:lstStyle/>
                    <a:p>
                      <a:pPr algn="ctr">
                        <a:defRPr sz="950">
                          <a:solidFill>
                            <a:srgbClr val="0F172A"/>
                          </a:solidFill>
                          <a:latin typeface="Segoe UI"/>
                        </a:defRPr>
                      </a:pPr>
                      <a:r>
                        <a:t>1.863</a:t>
                      </a:r>
                    </a:p>
                  </a:txBody>
                  <a:tcPr>
                    <a:solidFill>
                      <a:srgbClr val="FFFFFF"/>
                    </a:solidFill>
                  </a:tcPr>
                </a:tc>
                <a:tc>
                  <a:txBody>
                    <a:bodyPr wrap="square" lIns="73152" rIns="73152" tIns="36576" bIns="36576"/>
                    <a:lstStyle/>
                    <a:p>
                      <a:pPr algn="ctr">
                        <a:defRPr sz="950">
                          <a:solidFill>
                            <a:srgbClr val="0F172A"/>
                          </a:solidFill>
                          <a:latin typeface="Segoe UI"/>
                        </a:defRPr>
                      </a:pPr>
                      <a:r>
                        <a:t>0.578</a:t>
                      </a:r>
                    </a:p>
                  </a:txBody>
                  <a:tcPr>
                    <a:solidFill>
                      <a:srgbClr val="FFFFFF"/>
                    </a:solidFill>
                  </a:tcPr>
                </a:tc>
                <a:tc>
                  <a:txBody>
                    <a:bodyPr wrap="square" lIns="73152" rIns="73152" tIns="36576" bIns="36576"/>
                    <a:lstStyle/>
                    <a:p>
                      <a:pPr algn="ctr">
                        <a:defRPr sz="950">
                          <a:solidFill>
                            <a:srgbClr val="0F172A"/>
                          </a:solidFill>
                          <a:latin typeface="Segoe UI"/>
                        </a:defRPr>
                      </a:pPr>
                      <a:r>
                        <a:t>0.686</a:t>
                      </a:r>
                    </a:p>
                  </a:txBody>
                  <a:tcPr>
                    <a:solidFill>
                      <a:srgbClr val="FFFFFF"/>
                    </a:solidFill>
                  </a:tcPr>
                </a:tc>
              </a:tr>
              <a:tr h="219456">
                <a:tc>
                  <a:txBody>
                    <a:bodyPr wrap="square" lIns="73152" rIns="73152" tIns="36576" bIns="36576"/>
                    <a:lstStyle/>
                    <a:p>
                      <a:pPr algn="l">
                        <a:defRPr sz="950">
                          <a:solidFill>
                            <a:srgbClr val="0F172A"/>
                          </a:solidFill>
                          <a:latin typeface="Segoe UI"/>
                        </a:defRPr>
                      </a:pPr>
                      <a:r>
                        <a:t>kennedy</a:t>
                      </a:r>
                    </a:p>
                  </a:txBody>
                  <a:tcPr>
                    <a:solidFill>
                      <a:srgbClr val="F1F5F9"/>
                    </a:solidFill>
                  </a:tcPr>
                </a:tc>
                <a:tc>
                  <a:txBody>
                    <a:bodyPr wrap="square" lIns="73152" rIns="73152" tIns="36576" bIns="36576"/>
                    <a:lstStyle/>
                    <a:p>
                      <a:pPr algn="ctr">
                        <a:defRPr sz="950">
                          <a:solidFill>
                            <a:srgbClr val="0F172A"/>
                          </a:solidFill>
                          <a:latin typeface="Segoe UI"/>
                        </a:defRPr>
                      </a:pPr>
                      <a:r>
                        <a:t>original</a:t>
                      </a:r>
                    </a:p>
                  </a:txBody>
                  <a:tcPr>
                    <a:solidFill>
                      <a:srgbClr val="F1F5F9"/>
                    </a:solidFill>
                  </a:tcPr>
                </a:tc>
                <a:tc>
                  <a:txBody>
                    <a:bodyPr wrap="square" lIns="73152" rIns="73152" tIns="36576" bIns="36576"/>
                    <a:lstStyle/>
                    <a:p>
                      <a:pPr algn="ctr">
                        <a:defRPr sz="950">
                          <a:solidFill>
                            <a:srgbClr val="0F172A"/>
                          </a:solidFill>
                          <a:latin typeface="Segoe UI"/>
                        </a:defRPr>
                      </a:pPr>
                      <a:r>
                        <a:t>0.447</a:t>
                      </a:r>
                    </a:p>
                  </a:txBody>
                  <a:tcPr>
                    <a:solidFill>
                      <a:srgbClr val="F1F5F9"/>
                    </a:solidFill>
                  </a:tcPr>
                </a:tc>
                <a:tc>
                  <a:txBody>
                    <a:bodyPr wrap="square" lIns="73152" rIns="73152" tIns="36576" bIns="36576"/>
                    <a:lstStyle/>
                    <a:p>
                      <a:pPr algn="ctr">
                        <a:defRPr sz="950">
                          <a:solidFill>
                            <a:srgbClr val="0F172A"/>
                          </a:solidFill>
                          <a:latin typeface="Segoe UI"/>
                        </a:defRPr>
                      </a:pPr>
                      <a:r>
                        <a:t>1.682</a:t>
                      </a:r>
                    </a:p>
                  </a:txBody>
                  <a:tcPr>
                    <a:solidFill>
                      <a:srgbClr val="F1F5F9"/>
                    </a:solidFill>
                  </a:tcPr>
                </a:tc>
                <a:tc>
                  <a:txBody>
                    <a:bodyPr wrap="square" lIns="73152" rIns="73152" tIns="36576" bIns="36576"/>
                    <a:lstStyle/>
                    <a:p>
                      <a:pPr algn="ctr">
                        <a:defRPr sz="950">
                          <a:solidFill>
                            <a:srgbClr val="0F172A"/>
                          </a:solidFill>
                          <a:latin typeface="Segoe UI"/>
                        </a:defRPr>
                      </a:pPr>
                      <a:r>
                        <a:t>0.449</a:t>
                      </a:r>
                    </a:p>
                  </a:txBody>
                  <a:tcPr>
                    <a:solidFill>
                      <a:srgbClr val="F1F5F9"/>
                    </a:solidFill>
                  </a:tcPr>
                </a:tc>
                <a:tc>
                  <a:txBody>
                    <a:bodyPr wrap="square" lIns="73152" rIns="73152" tIns="36576" bIns="36576"/>
                    <a:lstStyle/>
                    <a:p>
                      <a:pPr algn="ctr">
                        <a:defRPr sz="950">
                          <a:solidFill>
                            <a:srgbClr val="0F172A"/>
                          </a:solidFill>
                          <a:latin typeface="Segoe UI"/>
                        </a:defRPr>
                      </a:pPr>
                      <a:r>
                        <a:t>0.407</a:t>
                      </a:r>
                    </a:p>
                  </a:txBody>
                  <a:tcPr>
                    <a:solidFill>
                      <a:srgbClr val="F1F5F9"/>
                    </a:solidFill>
                  </a:tcPr>
                </a:tc>
              </a:tr>
              <a:tr h="219456">
                <a:tc>
                  <a:txBody>
                    <a:bodyPr wrap="square" lIns="73152" rIns="73152" tIns="36576" bIns="36576"/>
                    <a:lstStyle/>
                    <a:p>
                      <a:pPr algn="l">
                        <a:defRPr sz="950">
                          <a:solidFill>
                            <a:srgbClr val="0F172A"/>
                          </a:solidFill>
                          <a:latin typeface="Segoe UI"/>
                        </a:defRPr>
                      </a:pPr>
                      <a:r>
                        <a:t>kennedy</a:t>
                      </a:r>
                    </a:p>
                  </a:txBody>
                  <a:tcPr>
                    <a:solidFill>
                      <a:srgbClr val="FFFFFF"/>
                    </a:solidFill>
                  </a:tcPr>
                </a:tc>
                <a:tc>
                  <a:txBody>
                    <a:bodyPr wrap="square" lIns="73152" rIns="73152" tIns="36576" bIns="36576"/>
                    <a:lstStyle/>
                    <a:p>
                      <a:pPr algn="ctr">
                        <a:defRPr sz="950">
                          <a:solidFill>
                            <a:srgbClr val="0F172A"/>
                          </a:solidFill>
                          <a:latin typeface="Segoe UI"/>
                        </a:defRPr>
                      </a:pPr>
                      <a:r>
                        <a:t>runs (sort)</a:t>
                      </a:r>
                    </a:p>
                  </a:txBody>
                  <a:tcPr>
                    <a:solidFill>
                      <a:srgbClr val="FFFFFF"/>
                    </a:solidFill>
                  </a:tcPr>
                </a:tc>
                <a:tc>
                  <a:txBody>
                    <a:bodyPr wrap="square" lIns="73152" rIns="73152" tIns="36576" bIns="36576"/>
                    <a:lstStyle/>
                    <a:p>
                      <a:pPr algn="ctr">
                        <a:defRPr sz="950">
                          <a:solidFill>
                            <a:srgbClr val="0F172A"/>
                          </a:solidFill>
                          <a:latin typeface="Segoe UI"/>
                        </a:defRPr>
                      </a:pPr>
                      <a:r>
                        <a:t>0.447</a:t>
                      </a:r>
                    </a:p>
                  </a:txBody>
                  <a:tcPr>
                    <a:solidFill>
                      <a:srgbClr val="FFFFFF"/>
                    </a:solidFill>
                  </a:tcPr>
                </a:tc>
                <a:tc>
                  <a:txBody>
                    <a:bodyPr wrap="square" lIns="73152" rIns="73152" tIns="36576" bIns="36576"/>
                    <a:lstStyle/>
                    <a:p>
                      <a:pPr algn="ctr">
                        <a:defRPr sz="950">
                          <a:solidFill>
                            <a:srgbClr val="0F172A"/>
                          </a:solidFill>
                          <a:latin typeface="Segoe UI"/>
                        </a:defRPr>
                      </a:pPr>
                      <a:r>
                        <a:t>0.008</a:t>
                      </a:r>
                    </a:p>
                  </a:txBody>
                  <a:tcPr>
                    <a:solidFill>
                      <a:srgbClr val="FFFFFF"/>
                    </a:solidFill>
                  </a:tcPr>
                </a:tc>
                <a:tc>
                  <a:txBody>
                    <a:bodyPr wrap="square" lIns="73152" rIns="73152" tIns="36576" bIns="36576"/>
                    <a:lstStyle/>
                    <a:p>
                      <a:pPr algn="ctr">
                        <a:defRPr sz="950">
                          <a:solidFill>
                            <a:srgbClr val="0F172A"/>
                          </a:solidFill>
                          <a:latin typeface="Segoe UI"/>
                        </a:defRPr>
                      </a:pPr>
                      <a:r>
                        <a:t>0.449</a:t>
                      </a:r>
                    </a:p>
                  </a:txBody>
                  <a:tcPr>
                    <a:solidFill>
                      <a:srgbClr val="FFFFFF"/>
                    </a:solidFill>
                  </a:tcPr>
                </a:tc>
                <a:tc>
                  <a:txBody>
                    <a:bodyPr wrap="square" lIns="73152" rIns="73152" tIns="36576" bIns="36576"/>
                    <a:lstStyle/>
                    <a:p>
                      <a:pPr algn="ctr">
                        <a:defRPr sz="950">
                          <a:solidFill>
                            <a:srgbClr val="0F172A"/>
                          </a:solidFill>
                          <a:latin typeface="Segoe UI"/>
                        </a:defRPr>
                      </a:pPr>
                      <a:r>
                        <a:t>0.213</a:t>
                      </a:r>
                    </a:p>
                  </a:txBody>
                  <a:tcPr>
                    <a:solidFill>
                      <a:srgbClr val="FFFFFF"/>
                    </a:solidFill>
                  </a:tcPr>
                </a:tc>
              </a:tr>
              <a:tr h="219456">
                <a:tc>
                  <a:txBody>
                    <a:bodyPr wrap="square" lIns="73152" rIns="73152" tIns="36576" bIns="36576"/>
                    <a:lstStyle/>
                    <a:p>
                      <a:pPr algn="l">
                        <a:defRPr sz="950">
                          <a:solidFill>
                            <a:srgbClr val="0F172A"/>
                          </a:solidFill>
                          <a:latin typeface="Segoe UI"/>
                        </a:defRPr>
                      </a:pPr>
                      <a:r>
                        <a:t>kennedy</a:t>
                      </a:r>
                    </a:p>
                  </a:txBody>
                  <a:tcPr>
                    <a:solidFill>
                      <a:srgbClr val="F1F5F9"/>
                    </a:solidFill>
                  </a:tcPr>
                </a:tc>
                <a:tc>
                  <a:txBody>
                    <a:bodyPr wrap="square" lIns="73152" rIns="73152" tIns="36576" bIns="36576"/>
                    <a:lstStyle/>
                    <a:p>
                      <a:pPr algn="ctr">
                        <a:defRPr sz="950">
                          <a:solidFill>
                            <a:srgbClr val="0F172A"/>
                          </a:solidFill>
                          <a:latin typeface="Segoe UI"/>
                        </a:defRPr>
                      </a:pPr>
                      <a:r>
                        <a:t>shuffled</a:t>
                      </a:r>
                    </a:p>
                  </a:txBody>
                  <a:tcPr>
                    <a:solidFill>
                      <a:srgbClr val="F1F5F9"/>
                    </a:solidFill>
                  </a:tcPr>
                </a:tc>
                <a:tc>
                  <a:txBody>
                    <a:bodyPr wrap="square" lIns="73152" rIns="73152" tIns="36576" bIns="36576"/>
                    <a:lstStyle/>
                    <a:p>
                      <a:pPr algn="ctr">
                        <a:defRPr sz="950">
                          <a:solidFill>
                            <a:srgbClr val="0F172A"/>
                          </a:solidFill>
                          <a:latin typeface="Segoe UI"/>
                        </a:defRPr>
                      </a:pPr>
                      <a:r>
                        <a:t>0.447</a:t>
                      </a:r>
                    </a:p>
                  </a:txBody>
                  <a:tcPr>
                    <a:solidFill>
                      <a:srgbClr val="F1F5F9"/>
                    </a:solidFill>
                  </a:tcPr>
                </a:tc>
                <a:tc>
                  <a:txBody>
                    <a:bodyPr wrap="square" lIns="73152" rIns="73152" tIns="36576" bIns="36576"/>
                    <a:lstStyle/>
                    <a:p>
                      <a:pPr algn="ctr">
                        <a:defRPr sz="950">
                          <a:solidFill>
                            <a:srgbClr val="0F172A"/>
                          </a:solidFill>
                          <a:latin typeface="Segoe UI"/>
                        </a:defRPr>
                      </a:pPr>
                      <a:r>
                        <a:t>1.526</a:t>
                      </a:r>
                    </a:p>
                  </a:txBody>
                  <a:tcPr>
                    <a:solidFill>
                      <a:srgbClr val="F1F5F9"/>
                    </a:solidFill>
                  </a:tcPr>
                </a:tc>
                <a:tc>
                  <a:txBody>
                    <a:bodyPr wrap="square" lIns="73152" rIns="73152" tIns="36576" bIns="36576"/>
                    <a:lstStyle/>
                    <a:p>
                      <a:pPr algn="ctr">
                        <a:defRPr sz="950">
                          <a:solidFill>
                            <a:srgbClr val="0F172A"/>
                          </a:solidFill>
                          <a:latin typeface="Segoe UI"/>
                        </a:defRPr>
                      </a:pPr>
                      <a:r>
                        <a:t>0.449</a:t>
                      </a:r>
                    </a:p>
                  </a:txBody>
                  <a:tcPr>
                    <a:solidFill>
                      <a:srgbClr val="F1F5F9"/>
                    </a:solidFill>
                  </a:tcPr>
                </a:tc>
                <a:tc>
                  <a:txBody>
                    <a:bodyPr wrap="square" lIns="73152" rIns="73152" tIns="36576" bIns="36576"/>
                    <a:lstStyle/>
                    <a:p>
                      <a:pPr algn="ctr">
                        <a:defRPr sz="950">
                          <a:solidFill>
                            <a:srgbClr val="0F172A"/>
                          </a:solidFill>
                          <a:latin typeface="Segoe UI"/>
                        </a:defRPr>
                      </a:pPr>
                      <a:r>
                        <a:t>0.545</a:t>
                      </a:r>
                    </a:p>
                  </a:txBody>
                  <a:tcPr>
                    <a:solidFill>
                      <a:srgbClr val="F1F5F9"/>
                    </a:solidFill>
                  </a:tcPr>
                </a:tc>
              </a:tr>
              <a:tr h="219456">
                <a:tc>
                  <a:txBody>
                    <a:bodyPr wrap="square" lIns="73152" rIns="73152" tIns="36576" bIns="36576"/>
                    <a:lstStyle/>
                    <a:p>
                      <a:pPr algn="l">
                        <a:defRPr sz="950">
                          <a:solidFill>
                            <a:srgbClr val="0F172A"/>
                          </a:solidFill>
                          <a:latin typeface="Segoe UI"/>
                        </a:defRPr>
                      </a:pPr>
                      <a:r>
                        <a:t>v1_test</a:t>
                      </a:r>
                    </a:p>
                  </a:txBody>
                  <a:tcPr>
                    <a:solidFill>
                      <a:srgbClr val="FFFFFF"/>
                    </a:solidFill>
                  </a:tcPr>
                </a:tc>
                <a:tc>
                  <a:txBody>
                    <a:bodyPr wrap="square" lIns="73152" rIns="73152" tIns="36576" bIns="36576"/>
                    <a:lstStyle/>
                    <a:p>
                      <a:pPr algn="ctr">
                        <a:defRPr sz="950">
                          <a:solidFill>
                            <a:srgbClr val="0F172A"/>
                          </a:solidFill>
                          <a:latin typeface="Segoe UI"/>
                        </a:defRPr>
                      </a:pPr>
                      <a:r>
                        <a:t>original</a:t>
                      </a:r>
                    </a:p>
                  </a:txBody>
                  <a:tcPr>
                    <a:solidFill>
                      <a:srgbClr val="FFFFFF"/>
                    </a:solidFill>
                  </a:tcPr>
                </a:tc>
                <a:tc>
                  <a:txBody>
                    <a:bodyPr wrap="square" lIns="73152" rIns="73152" tIns="36576" bIns="36576"/>
                    <a:lstStyle/>
                    <a:p>
                      <a:pPr algn="ctr">
                        <a:defRPr sz="950">
                          <a:solidFill>
                            <a:srgbClr val="0F172A"/>
                          </a:solidFill>
                          <a:latin typeface="Segoe UI"/>
                        </a:defRPr>
                      </a:pPr>
                      <a:r>
                        <a:t>0.661</a:t>
                      </a:r>
                    </a:p>
                  </a:txBody>
                  <a:tcPr>
                    <a:solidFill>
                      <a:srgbClr val="FFFFFF"/>
                    </a:solidFill>
                  </a:tcPr>
                </a:tc>
                <a:tc>
                  <a:txBody>
                    <a:bodyPr wrap="square" lIns="73152" rIns="73152" tIns="36576" bIns="36576"/>
                    <a:lstStyle/>
                    <a:p>
                      <a:pPr algn="ctr">
                        <a:defRPr sz="950">
                          <a:solidFill>
                            <a:srgbClr val="0F172A"/>
                          </a:solidFill>
                          <a:latin typeface="Segoe UI"/>
                        </a:defRPr>
                      </a:pPr>
                      <a:r>
                        <a:t>1.989</a:t>
                      </a:r>
                    </a:p>
                  </a:txBody>
                  <a:tcPr>
                    <a:solidFill>
                      <a:srgbClr val="FFFFFF"/>
                    </a:solidFill>
                  </a:tcPr>
                </a:tc>
                <a:tc>
                  <a:txBody>
                    <a:bodyPr wrap="square" lIns="73152" rIns="73152" tIns="36576" bIns="36576"/>
                    <a:lstStyle/>
                    <a:p>
                      <a:pPr algn="ctr">
                        <a:defRPr sz="950">
                          <a:solidFill>
                            <a:srgbClr val="0F172A"/>
                          </a:solidFill>
                          <a:latin typeface="Segoe UI"/>
                        </a:defRPr>
                      </a:pPr>
                      <a:r>
                        <a:t>0.665</a:t>
                      </a:r>
                    </a:p>
                  </a:txBody>
                  <a:tcPr>
                    <a:solidFill>
                      <a:srgbClr val="FFFFFF"/>
                    </a:solidFill>
                  </a:tcPr>
                </a:tc>
                <a:tc>
                  <a:txBody>
                    <a:bodyPr wrap="square" lIns="73152" rIns="73152" tIns="36576" bIns="36576"/>
                    <a:lstStyle/>
                    <a:p>
                      <a:pPr algn="ctr">
                        <a:defRPr sz="950">
                          <a:solidFill>
                            <a:srgbClr val="0F172A"/>
                          </a:solidFill>
                          <a:latin typeface="Segoe UI"/>
                        </a:defRPr>
                      </a:pPr>
                      <a:r>
                        <a:t>0.493</a:t>
                      </a:r>
                    </a:p>
                  </a:txBody>
                  <a:tcPr>
                    <a:solidFill>
                      <a:srgbClr val="FFFFFF"/>
                    </a:solidFill>
                  </a:tcPr>
                </a:tc>
              </a:tr>
              <a:tr h="219456">
                <a:tc>
                  <a:txBody>
                    <a:bodyPr wrap="square" lIns="73152" rIns="73152" tIns="36576" bIns="36576"/>
                    <a:lstStyle/>
                    <a:p>
                      <a:pPr algn="l">
                        <a:defRPr sz="950">
                          <a:solidFill>
                            <a:srgbClr val="0F172A"/>
                          </a:solidFill>
                          <a:latin typeface="Segoe UI"/>
                        </a:defRPr>
                      </a:pPr>
                      <a:r>
                        <a:t>v1_test</a:t>
                      </a:r>
                    </a:p>
                  </a:txBody>
                  <a:tcPr>
                    <a:solidFill>
                      <a:srgbClr val="FEF3C7"/>
                    </a:solidFill>
                  </a:tcPr>
                </a:tc>
                <a:tc>
                  <a:txBody>
                    <a:bodyPr wrap="square" lIns="73152" rIns="73152" tIns="36576" bIns="36576"/>
                    <a:lstStyle/>
                    <a:p>
                      <a:pPr algn="ctr">
                        <a:defRPr sz="950">
                          <a:solidFill>
                            <a:srgbClr val="0F172A"/>
                          </a:solidFill>
                          <a:latin typeface="Segoe UI"/>
                        </a:defRPr>
                      </a:pPr>
                      <a:r>
                        <a:t>runs (sort)</a:t>
                      </a:r>
                    </a:p>
                  </a:txBody>
                  <a:tcPr>
                    <a:solidFill>
                      <a:srgbClr val="FEF3C7"/>
                    </a:solidFill>
                  </a:tcPr>
                </a:tc>
                <a:tc>
                  <a:txBody>
                    <a:bodyPr wrap="square" lIns="73152" rIns="73152" tIns="36576" bIns="36576"/>
                    <a:lstStyle/>
                    <a:p>
                      <a:pPr algn="ctr">
                        <a:defRPr sz="950">
                          <a:solidFill>
                            <a:srgbClr val="0F172A"/>
                          </a:solidFill>
                          <a:latin typeface="Segoe UI"/>
                        </a:defRPr>
                      </a:pPr>
                      <a:r>
                        <a:t>0.661</a:t>
                      </a:r>
                    </a:p>
                  </a:txBody>
                  <a:tcPr>
                    <a:solidFill>
                      <a:srgbClr val="FEF3C7"/>
                    </a:solidFill>
                  </a:tcPr>
                </a:tc>
                <a:tc>
                  <a:txBody>
                    <a:bodyPr wrap="square" lIns="73152" rIns="73152" tIns="36576" bIns="36576"/>
                    <a:lstStyle/>
                    <a:p>
                      <a:pPr algn="ctr">
                        <a:defRPr sz="950">
                          <a:solidFill>
                            <a:srgbClr val="0F172A"/>
                          </a:solidFill>
                          <a:latin typeface="Segoe UI"/>
                        </a:defRPr>
                      </a:pPr>
                      <a:r>
                        <a:t>0.008</a:t>
                      </a:r>
                    </a:p>
                  </a:txBody>
                  <a:tcPr>
                    <a:solidFill>
                      <a:srgbClr val="FEF3C7"/>
                    </a:solidFill>
                  </a:tcPr>
                </a:tc>
                <a:tc>
                  <a:txBody>
                    <a:bodyPr wrap="square" lIns="73152" rIns="73152" tIns="36576" bIns="36576"/>
                    <a:lstStyle/>
                    <a:p>
                      <a:pPr algn="ctr">
                        <a:defRPr sz="950">
                          <a:solidFill>
                            <a:srgbClr val="0F172A"/>
                          </a:solidFill>
                          <a:latin typeface="Segoe UI"/>
                        </a:defRPr>
                      </a:pPr>
                      <a:r>
                        <a:t>0.665</a:t>
                      </a:r>
                    </a:p>
                  </a:txBody>
                  <a:tcPr>
                    <a:solidFill>
                      <a:srgbClr val="FEF3C7"/>
                    </a:solidFill>
                  </a:tcPr>
                </a:tc>
                <a:tc>
                  <a:txBody>
                    <a:bodyPr wrap="square" lIns="73152" rIns="73152" tIns="36576" bIns="36576"/>
                    <a:lstStyle/>
                    <a:p>
                      <a:pPr algn="ctr">
                        <a:defRPr sz="950">
                          <a:solidFill>
                            <a:srgbClr val="0F172A"/>
                          </a:solidFill>
                          <a:latin typeface="Segoe UI"/>
                        </a:defRPr>
                      </a:pPr>
                      <a:r>
                        <a:t>1.045*</a:t>
                      </a:r>
                    </a:p>
                  </a:txBody>
                  <a:tcPr>
                    <a:solidFill>
                      <a:srgbClr val="FEF3C7"/>
                    </a:solidFill>
                  </a:tcPr>
                </a:tc>
              </a:tr>
              <a:tr h="219456">
                <a:tc>
                  <a:txBody>
                    <a:bodyPr wrap="square" lIns="73152" rIns="73152" tIns="36576" bIns="36576"/>
                    <a:lstStyle/>
                    <a:p>
                      <a:pPr algn="l">
                        <a:defRPr sz="950">
                          <a:solidFill>
                            <a:srgbClr val="0F172A"/>
                          </a:solidFill>
                          <a:latin typeface="Segoe UI"/>
                        </a:defRPr>
                      </a:pPr>
                      <a:r>
                        <a:t>v1_test</a:t>
                      </a:r>
                    </a:p>
                  </a:txBody>
                  <a:tcPr>
                    <a:solidFill>
                      <a:srgbClr val="FFFFFF"/>
                    </a:solidFill>
                  </a:tcPr>
                </a:tc>
                <a:tc>
                  <a:txBody>
                    <a:bodyPr wrap="square" lIns="73152" rIns="73152" tIns="36576" bIns="36576"/>
                    <a:lstStyle/>
                    <a:p>
                      <a:pPr algn="ctr">
                        <a:defRPr sz="950">
                          <a:solidFill>
                            <a:srgbClr val="0F172A"/>
                          </a:solidFill>
                          <a:latin typeface="Segoe UI"/>
                        </a:defRPr>
                      </a:pPr>
                      <a:r>
                        <a:t>shuffled</a:t>
                      </a:r>
                    </a:p>
                  </a:txBody>
                  <a:tcPr>
                    <a:solidFill>
                      <a:srgbClr val="FFFFFF"/>
                    </a:solidFill>
                  </a:tcPr>
                </a:tc>
                <a:tc>
                  <a:txBody>
                    <a:bodyPr wrap="square" lIns="73152" rIns="73152" tIns="36576" bIns="36576"/>
                    <a:lstStyle/>
                    <a:p>
                      <a:pPr algn="ctr">
                        <a:defRPr sz="950">
                          <a:solidFill>
                            <a:srgbClr val="0F172A"/>
                          </a:solidFill>
                          <a:latin typeface="Segoe UI"/>
                        </a:defRPr>
                      </a:pPr>
                      <a:r>
                        <a:t>0.661</a:t>
                      </a:r>
                    </a:p>
                  </a:txBody>
                  <a:tcPr>
                    <a:solidFill>
                      <a:srgbClr val="FFFFFF"/>
                    </a:solidFill>
                  </a:tcPr>
                </a:tc>
                <a:tc>
                  <a:txBody>
                    <a:bodyPr wrap="square" lIns="73152" rIns="73152" tIns="36576" bIns="36576"/>
                    <a:lstStyle/>
                    <a:p>
                      <a:pPr algn="ctr">
                        <a:defRPr sz="950">
                          <a:solidFill>
                            <a:srgbClr val="0F172A"/>
                          </a:solidFill>
                          <a:latin typeface="Segoe UI"/>
                        </a:defRPr>
                      </a:pPr>
                      <a:r>
                        <a:t>1.895</a:t>
                      </a:r>
                    </a:p>
                  </a:txBody>
                  <a:tcPr>
                    <a:solidFill>
                      <a:srgbClr val="FFFFFF"/>
                    </a:solidFill>
                  </a:tcPr>
                </a:tc>
                <a:tc>
                  <a:txBody>
                    <a:bodyPr wrap="square" lIns="73152" rIns="73152" tIns="36576" bIns="36576"/>
                    <a:lstStyle/>
                    <a:p>
                      <a:pPr algn="ctr">
                        <a:defRPr sz="950">
                          <a:solidFill>
                            <a:srgbClr val="0F172A"/>
                          </a:solidFill>
                          <a:latin typeface="Segoe UI"/>
                        </a:defRPr>
                      </a:pPr>
                      <a:r>
                        <a:t>0.665</a:t>
                      </a:r>
                    </a:p>
                  </a:txBody>
                  <a:tcPr>
                    <a:solidFill>
                      <a:srgbClr val="FFFFFF"/>
                    </a:solidFill>
                  </a:tcPr>
                </a:tc>
                <a:tc>
                  <a:txBody>
                    <a:bodyPr wrap="square" lIns="73152" rIns="73152" tIns="36576" bIns="36576"/>
                    <a:lstStyle/>
                    <a:p>
                      <a:pPr algn="ctr">
                        <a:defRPr sz="950">
                          <a:solidFill>
                            <a:srgbClr val="0F172A"/>
                          </a:solidFill>
                          <a:latin typeface="Segoe UI"/>
                        </a:defRPr>
                      </a:pPr>
                      <a:r>
                        <a:t>0.820</a:t>
                      </a:r>
                    </a:p>
                  </a:txBody>
                  <a:tcPr>
                    <a:solidFill>
                      <a:srgbClr val="FFFFFF"/>
                    </a:solidFill>
                  </a:tcPr>
                </a:tc>
              </a:tr>
            </a:tbl>
          </a:graphicData>
        </a:graphic>
      </p:graphicFrame>
      <p:sp>
        <p:nvSpPr>
          <p:cNvPr id="9" name="TextBox 8"/>
          <p:cNvSpPr txBox="1"/>
          <p:nvPr/>
        </p:nvSpPr>
        <p:spPr>
          <a:xfrm>
            <a:off x="914400" y="4343400"/>
            <a:ext cx="4754880" cy="1828800"/>
          </a:xfrm>
          <a:prstGeom prst="rect">
            <a:avLst/>
          </a:prstGeom>
          <a:noFill/>
        </p:spPr>
        <p:txBody>
          <a:bodyPr wrap="square" lIns="0" tIns="0">
            <a:spAutoFit/>
          </a:bodyPr>
          <a:lstStyle/>
          <a:p/>
          <a:p>
            <a:pPr>
              <a:spcBef>
                <a:spcPts val="250"/>
              </a:spcBef>
              <a:defRPr sz="950">
                <a:solidFill>
                  <a:srgbClr val="0F172A"/>
                </a:solidFill>
                <a:latin typeface="Segoe UI"/>
              </a:defRPr>
            </a:pPr>
            <a:r>
              <a:t>• Huffman chính tắc bất biến 100%: Tỷ lệ nén giữ nguyên tuyệt đối qua 3 trạng thái hoán vị (vì histogram phân bố byte không đổi).</a:t>
            </a:r>
          </a:p>
          <a:p>
            <a:pPr>
              <a:spcBef>
                <a:spcPts val="250"/>
              </a:spcBef>
              <a:defRPr sz="950">
                <a:solidFill>
                  <a:srgbClr val="0F172A"/>
                </a:solidFill>
                <a:latin typeface="Segoe UI"/>
              </a:defRPr>
            </a:pPr>
            <a:r>
              <a:t>• RLE biến thiên cực đoan: Từ không nén được (1.9x) rơi thẳng xuống 0.008 (nén 125 lần) khi gom run.</a:t>
            </a:r>
          </a:p>
          <a:p>
            <a:pPr>
              <a:spcBef>
                <a:spcPts val="250"/>
              </a:spcBef>
              <a:defRPr sz="950">
                <a:solidFill>
                  <a:srgbClr val="0F172A"/>
                </a:solidFill>
                <a:latin typeface="Segoe UI"/>
              </a:defRPr>
            </a:pPr>
            <a:r>
              <a:t>• LZW suy giảm khi xáo trộn: Tỷ lệ nén tăng mạnh (alice từ 0.476 lên 0.686) do quan hệ chuỗi con bị phá vỡ hoàn toàn.</a:t>
            </a:r>
          </a:p>
        </p:txBody>
      </p:sp>
      <p:sp>
        <p:nvSpPr>
          <p:cNvPr id="10" name="Rounded Rectangle 9"/>
          <p:cNvSpPr/>
          <p:nvPr/>
        </p:nvSpPr>
        <p:spPr>
          <a:xfrm>
            <a:off x="6126480" y="1508760"/>
            <a:ext cx="533369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q2_ratio.png"/>
          <p:cNvPicPr>
            <a:picLocks noChangeAspect="1"/>
          </p:cNvPicPr>
          <p:nvPr/>
        </p:nvPicPr>
        <p:blipFill>
          <a:blip r:embed="rId2"/>
          <a:stretch>
            <a:fillRect/>
          </a:stretch>
        </p:blipFill>
        <p:spPr>
          <a:xfrm>
            <a:off x="6720840" y="1691640"/>
            <a:ext cx="4114800" cy="4023360"/>
          </a:xfrm>
          <a:prstGeom prst="rect">
            <a:avLst/>
          </a:prstGeom>
        </p:spPr>
      </p:pic>
      <p:sp>
        <p:nvSpPr>
          <p:cNvPr id="12" name="TextBox 11"/>
          <p:cNvSpPr txBox="1"/>
          <p:nvPr/>
        </p:nvSpPr>
        <p:spPr>
          <a:xfrm>
            <a:off x="6217920" y="5852160"/>
            <a:ext cx="5120640" cy="365760"/>
          </a:xfrm>
          <a:prstGeom prst="rect">
            <a:avLst/>
          </a:prstGeom>
          <a:noFill/>
        </p:spPr>
        <p:txBody>
          <a:bodyPr wrap="square" lIns="0" tIns="0">
            <a:spAutoFit/>
          </a:bodyPr>
          <a:lstStyle/>
          <a:p>
            <a:pPr algn="ctr">
              <a:defRPr sz="950">
                <a:solidFill>
                  <a:srgbClr val="475569"/>
                </a:solidFill>
                <a:latin typeface="Segoe UI"/>
              </a:defRPr>
            </a:pPr>
            <a:r>
              <a:t>Hình 4. Ảnh hưởng thứ tự byte tới RLE, Huffman và LZW đối chiếu mốc H₀/8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74320"/>
          </a:xfrm>
          <a:prstGeom prst="rect">
            <a:avLst/>
          </a:prstGeom>
          <a:noFill/>
        </p:spPr>
        <p:txBody>
          <a:bodyPr wrap="square" lIns="0" tIns="0" rIns="0" bIns="0">
            <a:spAutoFit/>
          </a:bodyPr>
          <a:lstStyle/>
          <a:p>
            <a:pPr>
              <a:defRPr sz="1000" b="1">
                <a:solidFill>
                  <a:srgbClr val="2563EB"/>
                </a:solidFill>
                <a:latin typeface="Segoe UI"/>
              </a:defRPr>
            </a:pPr>
            <a:r>
              <a:t>RQ2: PHÂN TÍCH CHUYÊN SÂU</a:t>
            </a:r>
          </a:p>
        </p:txBody>
      </p:sp>
      <p:sp>
        <p:nvSpPr>
          <p:cNvPr id="4" name="TextBox 3"/>
          <p:cNvSpPr txBox="1"/>
          <p:nvPr/>
        </p:nvSpPr>
        <p:spPr>
          <a:xfrm>
            <a:off x="731520" y="621792"/>
            <a:ext cx="10728655" cy="502920"/>
          </a:xfrm>
          <a:prstGeom prst="rect">
            <a:avLst/>
          </a:prstGeom>
          <a:noFill/>
        </p:spPr>
        <p:txBody>
          <a:bodyPr wrap="square" lIns="0" tIns="0" rIns="0" bIns="0">
            <a:spAutoFit/>
          </a:bodyPr>
          <a:lstStyle/>
          <a:p>
            <a:pPr>
              <a:defRPr sz="2100" b="1">
                <a:solidFill>
                  <a:srgbClr val="0F172A"/>
                </a:solidFill>
                <a:latin typeface="Segoe UI"/>
              </a:defRPr>
            </a:pPr>
            <a:r>
              <a:t>Giải Mã Nghịch Lý LZW Trên V1-Runs &amp; Bản Chất Cận Dưới Shannon</a:t>
            </a:r>
          </a:p>
        </p:txBody>
      </p:sp>
      <p:sp>
        <p:nvSpPr>
          <p:cNvPr id="5" name="TextBox 4"/>
          <p:cNvSpPr txBox="1"/>
          <p:nvPr/>
        </p:nvSpPr>
        <p:spPr>
          <a:xfrm>
            <a:off x="731520" y="1115568"/>
            <a:ext cx="10728655" cy="274320"/>
          </a:xfrm>
          <a:prstGeom prst="rect">
            <a:avLst/>
          </a:prstGeom>
          <a:noFill/>
        </p:spPr>
        <p:txBody>
          <a:bodyPr wrap="square" lIns="0" tIns="0" rIns="0" bIns="0">
            <a:spAutoFit/>
          </a:bodyPr>
          <a:lstStyle/>
          <a:p>
            <a:pPr>
              <a:defRPr sz="1150">
                <a:solidFill>
                  <a:srgbClr val="475569"/>
                </a:solidFill>
                <a:latin typeface="Segoe UI"/>
              </a:defRPr>
            </a:pPr>
            <a:r>
              <a:t>Phân tích cơ chế đóng băng từ điển và ranh giới giữa entropy bậc 0 với entropy bậc cao</a:t>
            </a:r>
          </a:p>
        </p:txBody>
      </p:sp>
      <p:sp>
        <p:nvSpPr>
          <p:cNvPr id="6" name="Rounded Rectangle 5"/>
          <p:cNvSpPr/>
          <p:nvPr/>
        </p:nvSpPr>
        <p:spPr>
          <a:xfrm>
            <a:off x="731520" y="1508760"/>
            <a:ext cx="5120640" cy="484632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91640"/>
            <a:ext cx="4663440" cy="4480560"/>
          </a:xfrm>
          <a:prstGeom prst="rect">
            <a:avLst/>
          </a:prstGeom>
          <a:noFill/>
        </p:spPr>
        <p:txBody>
          <a:bodyPr wrap="square" lIns="0" tIns="0">
            <a:spAutoFit/>
          </a:bodyPr>
          <a:lstStyle/>
          <a:p>
            <a:pPr>
              <a:defRPr sz="1350" b="1">
                <a:solidFill>
                  <a:srgbClr val="E11D48"/>
                </a:solidFill>
                <a:latin typeface="Segoe UI"/>
              </a:defRPr>
            </a:pPr>
            <a:r>
              <a:t>1. Nghịch Lý LZW Phình To Trên V1-Runs (1.0445 &gt; 1.0)</a:t>
            </a:r>
          </a:p>
          <a:p>
            <a:pPr>
              <a:spcBef>
                <a:spcPts val="300"/>
              </a:spcBef>
              <a:defRPr sz="980">
                <a:solidFill>
                  <a:srgbClr val="0F172A"/>
                </a:solidFill>
                <a:latin typeface="Segoe UI"/>
              </a:defRPr>
            </a:pPr>
            <a:r>
              <a:t>• Nghịch lý quan sát: Dữ liệu gom run (Counting Sort) làm RLE nén cực mạnh (0.008), nhưng LZW lại nén phình to hơn cả file gốc (1.0445 so với 0.4928)!</a:t>
            </a:r>
          </a:p>
          <a:p>
            <a:pPr>
              <a:spcBef>
                <a:spcPts val="300"/>
              </a:spcBef>
              <a:defRPr sz="980">
                <a:solidFill>
                  <a:srgbClr val="0F172A"/>
                </a:solidFill>
                <a:latin typeface="Segoe UI"/>
              </a:defRPr>
            </a:pPr>
            <a:r>
              <a:t>• Chẩn đoán cơ chế kỹ thuật:</a:t>
            </a:r>
          </a:p>
          <a:p>
            <a:pPr>
              <a:spcBef>
                <a:spcPts val="300"/>
              </a:spcBef>
              <a:defRPr sz="980">
                <a:solidFill>
                  <a:srgbClr val="0F172A"/>
                </a:solidFill>
                <a:latin typeface="Segoe UI"/>
              </a:defRPr>
            </a:pPr>
            <a:r>
              <a:t>  • Các chuỗi run dài đơn điệu khiến từ điển 12-bit (4096 mục) bị lấp đầy cực sớm tại byte thứ 319,103 (~30% input).</a:t>
            </a:r>
          </a:p>
          <a:p>
            <a:pPr>
              <a:spcBef>
                <a:spcPts val="300"/>
              </a:spcBef>
              <a:defRPr sz="980">
                <a:solidFill>
                  <a:srgbClr val="0F172A"/>
                </a:solidFill>
                <a:latin typeface="Segoe UI"/>
              </a:defRPr>
            </a:pPr>
            <a:r>
              <a:t>  • Theo đặc tả LZW cố định, từ điển bị đóng băng hoàn toàn sau khi đầy.</a:t>
            </a:r>
          </a:p>
          <a:p>
            <a:pPr>
              <a:spcBef>
                <a:spcPts val="300"/>
              </a:spcBef>
              <a:defRPr sz="980">
                <a:solidFill>
                  <a:srgbClr val="0F172A"/>
                </a:solidFill>
                <a:latin typeface="Segoe UI"/>
              </a:defRPr>
            </a:pPr>
            <a:r>
              <a:t>  • 70% dữ liệu còn lại (với các ký tự mới tiếp theo) không thể học thêm chuỗi con mới nào.</a:t>
            </a:r>
          </a:p>
          <a:p>
            <a:pPr>
              <a:spcBef>
                <a:spcPts val="300"/>
              </a:spcBef>
              <a:defRPr sz="980">
                <a:solidFill>
                  <a:srgbClr val="0F172A"/>
                </a:solidFill>
                <a:latin typeface="Segoe UI"/>
              </a:defRPr>
            </a:pPr>
            <a:r>
              <a:t>  • Mọi ký tự đơn lẻ phải phát ra mã 12-bit thay vì 8-bit gốc -&gt; Kích thước payload phình ra 4.45%!</a:t>
            </a:r>
          </a:p>
          <a:p>
            <a:pPr>
              <a:spcBef>
                <a:spcPts val="300"/>
              </a:spcBef>
              <a:defRPr sz="980">
                <a:solidFill>
                  <a:srgbClr val="0F172A"/>
                </a:solidFill>
                <a:latin typeface="Segoe UI"/>
              </a:defRPr>
            </a:pPr>
            <a:r>
              <a:t>• Bài học thiết kế: Từ điển tĩnh 12-bit rất dễ tổn thương trước phân bố dữ liệu đơn điệu cục bộ.</a:t>
            </a:r>
          </a:p>
        </p:txBody>
      </p:sp>
      <p:sp>
        <p:nvSpPr>
          <p:cNvPr id="8" name="Rounded Rectangle 7"/>
          <p:cNvSpPr/>
          <p:nvPr/>
        </p:nvSpPr>
        <p:spPr>
          <a:xfrm>
            <a:off x="6126480" y="1508760"/>
            <a:ext cx="5333695" cy="48463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91640"/>
            <a:ext cx="4876495" cy="4480560"/>
          </a:xfrm>
          <a:prstGeom prst="rect">
            <a:avLst/>
          </a:prstGeom>
          <a:noFill/>
        </p:spPr>
        <p:txBody>
          <a:bodyPr wrap="square" lIns="0" tIns="0">
            <a:spAutoFit/>
          </a:bodyPr>
          <a:lstStyle/>
          <a:p>
            <a:pPr>
              <a:defRPr sz="1350" b="1">
                <a:solidFill>
                  <a:srgbClr val="1D4ED8"/>
                </a:solidFill>
                <a:latin typeface="Segoe UI"/>
              </a:defRPr>
            </a:pPr>
            <a:r>
              <a:t>2. Tại Sao LZW Thấp Hơn H₀/8 Còn Huffman Thì Không?</a:t>
            </a:r>
          </a:p>
          <a:p>
            <a:pPr>
              <a:spcBef>
                <a:spcPts val="300"/>
              </a:spcBef>
              <a:defRPr sz="980">
                <a:solidFill>
                  <a:srgbClr val="0F172A"/>
                </a:solidFill>
                <a:latin typeface="Segoe UI"/>
              </a:defRPr>
            </a:pPr>
            <a:r>
              <a:t>• Bản chất của H₀ (Zero-order Shannon Entropy):</a:t>
            </a:r>
          </a:p>
          <a:p>
            <a:pPr>
              <a:spcBef>
                <a:spcPts val="300"/>
              </a:spcBef>
              <a:defRPr sz="980">
                <a:solidFill>
                  <a:srgbClr val="0F172A"/>
                </a:solidFill>
                <a:latin typeface="Segoe UI"/>
              </a:defRPr>
            </a:pPr>
            <a:r>
              <a:t>  • H₀ = -Σ pᵢ log₂ pᵢ chỉ đo mức độ bất định của từng byte độc lập.</a:t>
            </a:r>
          </a:p>
          <a:p>
            <a:pPr>
              <a:spcBef>
                <a:spcPts val="300"/>
              </a:spcBef>
              <a:defRPr sz="980">
                <a:solidFill>
                  <a:srgbClr val="0F172A"/>
                </a:solidFill>
                <a:latin typeface="Segoe UI"/>
              </a:defRPr>
            </a:pPr>
            <a:r>
              <a:t>  • Giả định các ký tự xuất hiện độc lập (không có bộ nhớ / Markov bậc 0).</a:t>
            </a:r>
          </a:p>
          <a:p>
            <a:pPr>
              <a:spcBef>
                <a:spcPts val="300"/>
              </a:spcBef>
              <a:defRPr sz="980">
                <a:solidFill>
                  <a:srgbClr val="0F172A"/>
                </a:solidFill>
                <a:latin typeface="Segoe UI"/>
              </a:defRPr>
            </a:pPr>
            <a:r>
              <a:t>• Huffman tuân thủ chặt chẽ định lý Shannon:</a:t>
            </a:r>
          </a:p>
          <a:p>
            <a:pPr>
              <a:spcBef>
                <a:spcPts val="300"/>
              </a:spcBef>
              <a:defRPr sz="980">
                <a:solidFill>
                  <a:srgbClr val="0F172A"/>
                </a:solidFill>
                <a:latin typeface="Segoe UI"/>
              </a:defRPr>
            </a:pPr>
            <a:r>
              <a:t>  • Mã hóa từng ký tự độc lập, nên tỷ lệ nén lý thuyết luôn &gt;= H₀/8.</a:t>
            </a:r>
          </a:p>
          <a:p>
            <a:pPr>
              <a:spcBef>
                <a:spcPts val="300"/>
              </a:spcBef>
              <a:defRPr sz="980">
                <a:solidFill>
                  <a:srgbClr val="0F172A"/>
                </a:solidFill>
                <a:latin typeface="Segoe UI"/>
              </a:defRPr>
            </a:pPr>
            <a:r>
              <a:t>  • Kết quả đo thực tế luôn cao hơn H₀/8 một lượng nhỏ do chi phí header.</a:t>
            </a:r>
          </a:p>
          <a:p>
            <a:pPr>
              <a:spcBef>
                <a:spcPts val="300"/>
              </a:spcBef>
              <a:defRPr sz="980">
                <a:solidFill>
                  <a:srgbClr val="0F172A"/>
                </a:solidFill>
                <a:latin typeface="Segoe UI"/>
              </a:defRPr>
            </a:pPr>
            <a:r>
              <a:t>• LZW phá vỡ mốc H₀/8 vì khai thác Entropy bậc cao (Hₖ):</a:t>
            </a:r>
          </a:p>
          <a:p>
            <a:pPr>
              <a:spcBef>
                <a:spcPts val="300"/>
              </a:spcBef>
              <a:defRPr sz="980">
                <a:solidFill>
                  <a:srgbClr val="0F172A"/>
                </a:solidFill>
                <a:latin typeface="Segoe UI"/>
              </a:defRPr>
            </a:pPr>
            <a:r>
              <a:t>  • LZW không mã hóa byte đơn lẻ mà mã hóa chuỗi con liên tiếp (context-aware).</a:t>
            </a:r>
          </a:p>
          <a:p>
            <a:pPr>
              <a:spcBef>
                <a:spcPts val="300"/>
              </a:spcBef>
              <a:defRPr sz="980">
                <a:solidFill>
                  <a:srgbClr val="0F172A"/>
                </a:solidFill>
                <a:latin typeface="Segoe UI"/>
              </a:defRPr>
            </a:pPr>
            <a:r>
              <a:t>  • Vì ngôn ngữ tự nhiên có tương quan chuỗi rất mạnh, Hₖ &lt; H₀.</a:t>
            </a:r>
          </a:p>
          <a:p>
            <a:pPr>
              <a:spcBef>
                <a:spcPts val="300"/>
              </a:spcBef>
              <a:defRPr sz="980">
                <a:solidFill>
                  <a:srgbClr val="0F172A"/>
                </a:solidFill>
                <a:latin typeface="Segoe UI"/>
              </a:defRPr>
            </a:pPr>
            <a:r>
              <a:t>  • Do đó, LZW đạt tỷ lệ 0.407 trên kennedy (trong khi H₀/8 = 0.447) mà không hề vi phạm định luật thông tin!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74320"/>
          </a:xfrm>
          <a:prstGeom prst="rect">
            <a:avLst/>
          </a:prstGeom>
          <a:noFill/>
        </p:spPr>
        <p:txBody>
          <a:bodyPr wrap="square" lIns="0" tIns="0" rIns="0" bIns="0">
            <a:spAutoFit/>
          </a:bodyPr>
          <a:lstStyle/>
          <a:p>
            <a:pPr>
              <a:defRPr sz="1000" b="1">
                <a:solidFill>
                  <a:srgbClr val="2563EB"/>
                </a:solidFill>
                <a:latin typeface="Segoe UI"/>
              </a:defRPr>
            </a:pPr>
            <a:r>
              <a:t>RQ3: BPE VS LZW</a:t>
            </a:r>
          </a:p>
        </p:txBody>
      </p:sp>
      <p:sp>
        <p:nvSpPr>
          <p:cNvPr id="4" name="TextBox 3"/>
          <p:cNvSpPr txBox="1"/>
          <p:nvPr/>
        </p:nvSpPr>
        <p:spPr>
          <a:xfrm>
            <a:off x="731520" y="621792"/>
            <a:ext cx="10728655" cy="502920"/>
          </a:xfrm>
          <a:prstGeom prst="rect">
            <a:avLst/>
          </a:prstGeom>
          <a:noFill/>
        </p:spPr>
        <p:txBody>
          <a:bodyPr wrap="square" lIns="0" tIns="0" rIns="0" bIns="0">
            <a:spAutoFit/>
          </a:bodyPr>
          <a:lstStyle/>
          <a:p>
            <a:pPr>
              <a:defRPr sz="2100" b="1">
                <a:solidFill>
                  <a:srgbClr val="0F172A"/>
                </a:solidFill>
                <a:latin typeface="Segoe UI"/>
              </a:defRPr>
            </a:pPr>
            <a:r>
              <a:t>So Sánh Khả Năng Nén BPE Với LZW &amp; Đánh Đổi Bảng Merge</a:t>
            </a:r>
          </a:p>
        </p:txBody>
      </p:sp>
      <p:sp>
        <p:nvSpPr>
          <p:cNvPr id="5" name="TextBox 4"/>
          <p:cNvSpPr txBox="1"/>
          <p:nvPr/>
        </p:nvSpPr>
        <p:spPr>
          <a:xfrm>
            <a:off x="731520" y="1115568"/>
            <a:ext cx="10728655" cy="274320"/>
          </a:xfrm>
          <a:prstGeom prst="rect">
            <a:avLst/>
          </a:prstGeom>
          <a:noFill/>
        </p:spPr>
        <p:txBody>
          <a:bodyPr wrap="square" lIns="0" tIns="0" rIns="0" bIns="0">
            <a:spAutoFit/>
          </a:bodyPr>
          <a:lstStyle/>
          <a:p>
            <a:pPr>
              <a:defRPr sz="1150">
                <a:solidFill>
                  <a:srgbClr val="475569"/>
                </a:solidFill>
                <a:latin typeface="Segoe UI"/>
              </a:defRPr>
            </a:pPr>
            <a:r>
              <a:t>Đối chiếu trực tiếp trên cùng tập test 1 MiB với ngân sách từ điển 12-bit (4096 mã)</a:t>
            </a:r>
          </a:p>
        </p:txBody>
      </p:sp>
      <p:sp>
        <p:nvSpPr>
          <p:cNvPr id="6" name="Rounded Rectangle 5"/>
          <p:cNvSpPr/>
          <p:nvPr/>
        </p:nvSpPr>
        <p:spPr>
          <a:xfrm>
            <a:off x="731520" y="150876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754880" cy="320040"/>
          </a:xfrm>
          <a:prstGeom prst="rect">
            <a:avLst/>
          </a:prstGeom>
          <a:noFill/>
        </p:spPr>
        <p:txBody>
          <a:bodyPr wrap="none" lIns="0" tIns="0">
            <a:spAutoFit/>
          </a:bodyPr>
          <a:lstStyle/>
          <a:p>
            <a:pPr>
              <a:defRPr sz="1100" b="1">
                <a:solidFill>
                  <a:srgbClr val="1D4ED8"/>
                </a:solidFill>
                <a:latin typeface="Segoe UI"/>
              </a:defRPr>
            </a:pPr>
            <a:r>
              <a:t>Bảng IV. Tỷ lệ BPE Codec, BPE Token-Only và LZW</a:t>
            </a:r>
          </a:p>
        </p:txBody>
      </p:sp>
      <p:graphicFrame>
        <p:nvGraphicFramePr>
          <p:cNvPr id="8" name="Table 7"/>
          <p:cNvGraphicFramePr>
            <a:graphicFrameLocks noGrp="1"/>
          </p:cNvGraphicFramePr>
          <p:nvPr/>
        </p:nvGraphicFramePr>
        <p:xfrm>
          <a:off x="868680" y="2011680"/>
          <a:ext cx="4846320" cy="2011680"/>
        </p:xfrm>
        <a:graphic>
          <a:graphicData uri="http://schemas.openxmlformats.org/drawingml/2006/table">
            <a:tbl>
              <a:tblPr firstRow="1" bandRow="1">
                <a:tableStyleId>{5C22544A-7EE6-4342-B048-85BDC9FD1C3A}</a:tableStyleId>
              </a:tblPr>
              <a:tblGrid>
                <a:gridCol w="548640"/>
                <a:gridCol w="1188720"/>
                <a:gridCol w="1051560"/>
                <a:gridCol w="1143000"/>
                <a:gridCol w="914400"/>
              </a:tblGrid>
              <a:tr h="223520">
                <a:tc>
                  <a:txBody>
                    <a:bodyPr wrap="square" lIns="73152" rIns="73152"/>
                    <a:lstStyle/>
                    <a:p>
                      <a:pPr algn="ctr">
                        <a:defRPr sz="1000" b="1">
                          <a:solidFill>
                            <a:srgbClr val="FFFFFF"/>
                          </a:solidFill>
                          <a:latin typeface="Segoe UI"/>
                        </a:defRPr>
                      </a:pPr>
                      <a:r>
                        <a:t>K</a:t>
                      </a:r>
                    </a:p>
                  </a:txBody>
                  <a:tcPr>
                    <a:solidFill>
                      <a:srgbClr val="1D4ED8"/>
                    </a:solidFill>
                  </a:tcPr>
                </a:tc>
                <a:tc>
                  <a:txBody>
                    <a:bodyPr wrap="square" lIns="73152" rIns="73152"/>
                    <a:lstStyle/>
                    <a:p>
                      <a:pPr algn="ctr">
                        <a:defRPr sz="1000" b="1">
                          <a:solidFill>
                            <a:srgbClr val="FFFFFF"/>
                          </a:solidFill>
                          <a:latin typeface="Segoe UI"/>
                        </a:defRPr>
                      </a:pPr>
                      <a:r>
                        <a:t>Train -&gt; Test</a:t>
                      </a:r>
                    </a:p>
                  </a:txBody>
                  <a:tcPr>
                    <a:solidFill>
                      <a:srgbClr val="1D4ED8"/>
                    </a:solidFill>
                  </a:tcPr>
                </a:tc>
                <a:tc>
                  <a:txBody>
                    <a:bodyPr wrap="square" lIns="73152" rIns="73152"/>
                    <a:lstStyle/>
                    <a:p>
                      <a:pPr algn="ctr">
                        <a:defRPr sz="1000" b="1">
                          <a:solidFill>
                            <a:srgbClr val="FFFFFF"/>
                          </a:solidFill>
                          <a:latin typeface="Segoe UI"/>
                        </a:defRPr>
                      </a:pPr>
                      <a:r>
                        <a:t>BPE Codec</a:t>
                      </a:r>
                    </a:p>
                  </a:txBody>
                  <a:tcPr>
                    <a:solidFill>
                      <a:srgbClr val="1D4ED8"/>
                    </a:solidFill>
                  </a:tcPr>
                </a:tc>
                <a:tc>
                  <a:txBody>
                    <a:bodyPr wrap="square" lIns="73152" rIns="73152"/>
                    <a:lstStyle/>
                    <a:p>
                      <a:pPr algn="ctr">
                        <a:defRPr sz="1000" b="1">
                          <a:solidFill>
                            <a:srgbClr val="FFFFFF"/>
                          </a:solidFill>
                          <a:latin typeface="Segoe UI"/>
                        </a:defRPr>
                      </a:pPr>
                      <a:r>
                        <a:t>BPE Token-only</a:t>
                      </a:r>
                    </a:p>
                  </a:txBody>
                  <a:tcPr>
                    <a:solidFill>
                      <a:srgbClr val="1D4ED8"/>
                    </a:solidFill>
                  </a:tcPr>
                </a:tc>
                <a:tc>
                  <a:txBody>
                    <a:bodyPr wrap="square" lIns="73152" rIns="73152"/>
                    <a:lstStyle/>
                    <a:p>
                      <a:pPr algn="ctr">
                        <a:defRPr sz="1000" b="1">
                          <a:solidFill>
                            <a:srgbClr val="FFFFFF"/>
                          </a:solidFill>
                          <a:latin typeface="Segoe UI"/>
                        </a:defRPr>
                      </a:pPr>
                      <a:r>
                        <a:t>LZW</a:t>
                      </a:r>
                    </a:p>
                  </a:txBody>
                  <a:tcPr>
                    <a:solidFill>
                      <a:srgbClr val="1D4ED8"/>
                    </a:solidFill>
                  </a:tcPr>
                </a:tc>
              </a:tr>
              <a:tr h="223520">
                <a:tc>
                  <a:txBody>
                    <a:bodyPr wrap="square" lIns="73152" rIns="73152" tIns="36576" bIns="36576"/>
                    <a:lstStyle/>
                    <a:p>
                      <a:pPr algn="l">
                        <a:defRPr sz="950">
                          <a:solidFill>
                            <a:srgbClr val="0F172A"/>
                          </a:solidFill>
                          <a:latin typeface="Segoe UI"/>
                        </a:defRPr>
                      </a:pPr>
                      <a:r>
                        <a:t>256</a:t>
                      </a:r>
                    </a:p>
                  </a:txBody>
                  <a:tcPr>
                    <a:solidFill>
                      <a:srgbClr val="FFFFFF"/>
                    </a:solidFill>
                  </a:tcPr>
                </a:tc>
                <a:tc>
                  <a:txBody>
                    <a:bodyPr wrap="square" lIns="73152" rIns="73152" tIns="36576" bIns="36576"/>
                    <a:lstStyle/>
                    <a:p>
                      <a:pPr algn="ctr">
                        <a:defRPr sz="950">
                          <a:solidFill>
                            <a:srgbClr val="0F172A"/>
                          </a:solidFill>
                          <a:latin typeface="Segoe UI"/>
                        </a:defRPr>
                      </a:pPr>
                      <a:r>
                        <a:t>V1 -&gt; V1</a:t>
                      </a:r>
                    </a:p>
                  </a:txBody>
                  <a:tcPr>
                    <a:solidFill>
                      <a:srgbClr val="FFFFFF"/>
                    </a:solidFill>
                  </a:tcPr>
                </a:tc>
                <a:tc>
                  <a:txBody>
                    <a:bodyPr wrap="square" lIns="73152" rIns="73152" tIns="36576" bIns="36576"/>
                    <a:lstStyle/>
                    <a:p>
                      <a:pPr algn="ctr">
                        <a:defRPr sz="950">
                          <a:solidFill>
                            <a:srgbClr val="0F172A"/>
                          </a:solidFill>
                          <a:latin typeface="Segoe UI"/>
                        </a:defRPr>
                      </a:pPr>
                      <a:r>
                        <a:t>0.6057</a:t>
                      </a:r>
                    </a:p>
                  </a:txBody>
                  <a:tcPr>
                    <a:solidFill>
                      <a:srgbClr val="FFFFFF"/>
                    </a:solidFill>
                  </a:tcPr>
                </a:tc>
                <a:tc>
                  <a:txBody>
                    <a:bodyPr wrap="square" lIns="73152" rIns="73152" tIns="36576" bIns="36576"/>
                    <a:lstStyle/>
                    <a:p>
                      <a:pPr algn="ctr">
                        <a:defRPr sz="950">
                          <a:solidFill>
                            <a:srgbClr val="0F172A"/>
                          </a:solidFill>
                          <a:latin typeface="Segoe UI"/>
                        </a:defRPr>
                      </a:pPr>
                      <a:r>
                        <a:t>0.6050</a:t>
                      </a:r>
                    </a:p>
                  </a:txBody>
                  <a:tcPr>
                    <a:solidFill>
                      <a:srgbClr val="FFFFFF"/>
                    </a:solidFill>
                  </a:tcPr>
                </a:tc>
                <a:tc>
                  <a:txBody>
                    <a:bodyPr wrap="square" lIns="73152" rIns="73152" tIns="36576" bIns="36576"/>
                    <a:lstStyle/>
                    <a:p>
                      <a:pPr algn="ctr">
                        <a:defRPr sz="950">
                          <a:solidFill>
                            <a:srgbClr val="0F172A"/>
                          </a:solidFill>
                          <a:latin typeface="Segoe UI"/>
                        </a:defRPr>
                      </a:pPr>
                      <a:r>
                        <a:t>0.4928</a:t>
                      </a:r>
                    </a:p>
                  </a:txBody>
                  <a:tcPr>
                    <a:solidFill>
                      <a:srgbClr val="FFFFFF"/>
                    </a:solidFill>
                  </a:tcPr>
                </a:tc>
              </a:tr>
              <a:tr h="223520">
                <a:tc>
                  <a:txBody>
                    <a:bodyPr wrap="square" lIns="73152" rIns="73152" tIns="36576" bIns="36576"/>
                    <a:lstStyle/>
                    <a:p>
                      <a:pPr algn="l">
                        <a:defRPr sz="950">
                          <a:solidFill>
                            <a:srgbClr val="0F172A"/>
                          </a:solidFill>
                          <a:latin typeface="Segoe UI"/>
                        </a:defRPr>
                      </a:pPr>
                      <a:r>
                        <a:t>256</a:t>
                      </a:r>
                    </a:p>
                  </a:txBody>
                  <a:tcPr>
                    <a:solidFill>
                      <a:srgbClr val="F1F5F9"/>
                    </a:solidFill>
                  </a:tcPr>
                </a:tc>
                <a:tc>
                  <a:txBody>
                    <a:bodyPr wrap="square" lIns="73152" rIns="73152" tIns="36576" bIns="36576"/>
                    <a:lstStyle/>
                    <a:p>
                      <a:pPr algn="ctr">
                        <a:defRPr sz="950">
                          <a:solidFill>
                            <a:srgbClr val="0F172A"/>
                          </a:solidFill>
                          <a:latin typeface="Segoe UI"/>
                        </a:defRPr>
                      </a:pPr>
                      <a:r>
                        <a:t>E1 -&gt; E1</a:t>
                      </a:r>
                    </a:p>
                  </a:txBody>
                  <a:tcPr>
                    <a:solidFill>
                      <a:srgbClr val="F1F5F9"/>
                    </a:solidFill>
                  </a:tcPr>
                </a:tc>
                <a:tc>
                  <a:txBody>
                    <a:bodyPr wrap="square" lIns="73152" rIns="73152" tIns="36576" bIns="36576"/>
                    <a:lstStyle/>
                    <a:p>
                      <a:pPr algn="ctr">
                        <a:defRPr sz="950">
                          <a:solidFill>
                            <a:srgbClr val="0F172A"/>
                          </a:solidFill>
                          <a:latin typeface="Segoe UI"/>
                        </a:defRPr>
                      </a:pPr>
                      <a:r>
                        <a:t>0.7475</a:t>
                      </a:r>
                    </a:p>
                  </a:txBody>
                  <a:tcPr>
                    <a:solidFill>
                      <a:srgbClr val="F1F5F9"/>
                    </a:solidFill>
                  </a:tcPr>
                </a:tc>
                <a:tc>
                  <a:txBody>
                    <a:bodyPr wrap="square" lIns="73152" rIns="73152" tIns="36576" bIns="36576"/>
                    <a:lstStyle/>
                    <a:p>
                      <a:pPr algn="ctr">
                        <a:defRPr sz="950">
                          <a:solidFill>
                            <a:srgbClr val="0F172A"/>
                          </a:solidFill>
                          <a:latin typeface="Segoe UI"/>
                        </a:defRPr>
                      </a:pPr>
                      <a:r>
                        <a:t>0.7467</a:t>
                      </a:r>
                    </a:p>
                  </a:txBody>
                  <a:tcPr>
                    <a:solidFill>
                      <a:srgbClr val="F1F5F9"/>
                    </a:solidFill>
                  </a:tcPr>
                </a:tc>
                <a:tc>
                  <a:txBody>
                    <a:bodyPr wrap="square" lIns="73152" rIns="73152" tIns="36576" bIns="36576"/>
                    <a:lstStyle/>
                    <a:p>
                      <a:pPr algn="ctr">
                        <a:defRPr sz="950">
                          <a:solidFill>
                            <a:srgbClr val="0F172A"/>
                          </a:solidFill>
                          <a:latin typeface="Segoe UI"/>
                        </a:defRPr>
                      </a:pPr>
                      <a:r>
                        <a:t>0.5380</a:t>
                      </a:r>
                    </a:p>
                  </a:txBody>
                  <a:tcPr>
                    <a:solidFill>
                      <a:srgbClr val="F1F5F9"/>
                    </a:solidFill>
                  </a:tcPr>
                </a:tc>
              </a:tr>
              <a:tr h="223520">
                <a:tc>
                  <a:txBody>
                    <a:bodyPr wrap="square" lIns="73152" rIns="73152" tIns="36576" bIns="36576"/>
                    <a:lstStyle/>
                    <a:p>
                      <a:pPr algn="l">
                        <a:defRPr sz="950">
                          <a:solidFill>
                            <a:srgbClr val="0F172A"/>
                          </a:solidFill>
                          <a:latin typeface="Segoe UI"/>
                        </a:defRPr>
                      </a:pPr>
                      <a:r>
                        <a:t>1024</a:t>
                      </a:r>
                    </a:p>
                  </a:txBody>
                  <a:tcPr>
                    <a:solidFill>
                      <a:srgbClr val="FFFFFF"/>
                    </a:solidFill>
                  </a:tcPr>
                </a:tc>
                <a:tc>
                  <a:txBody>
                    <a:bodyPr wrap="square" lIns="73152" rIns="73152" tIns="36576" bIns="36576"/>
                    <a:lstStyle/>
                    <a:p>
                      <a:pPr algn="ctr">
                        <a:defRPr sz="950">
                          <a:solidFill>
                            <a:srgbClr val="0F172A"/>
                          </a:solidFill>
                          <a:latin typeface="Segoe UI"/>
                        </a:defRPr>
                      </a:pPr>
                      <a:r>
                        <a:t>V1 -&gt; V1</a:t>
                      </a:r>
                    </a:p>
                  </a:txBody>
                  <a:tcPr>
                    <a:solidFill>
                      <a:srgbClr val="FFFFFF"/>
                    </a:solidFill>
                  </a:tcPr>
                </a:tc>
                <a:tc>
                  <a:txBody>
                    <a:bodyPr wrap="square" lIns="73152" rIns="73152" tIns="36576" bIns="36576"/>
                    <a:lstStyle/>
                    <a:p>
                      <a:pPr algn="ctr">
                        <a:defRPr sz="950">
                          <a:solidFill>
                            <a:srgbClr val="0F172A"/>
                          </a:solidFill>
                          <a:latin typeface="Segoe UI"/>
                        </a:defRPr>
                      </a:pPr>
                      <a:r>
                        <a:t>0.4096</a:t>
                      </a:r>
                    </a:p>
                  </a:txBody>
                  <a:tcPr>
                    <a:solidFill>
                      <a:srgbClr val="FFFFFF"/>
                    </a:solidFill>
                  </a:tcPr>
                </a:tc>
                <a:tc>
                  <a:txBody>
                    <a:bodyPr wrap="square" lIns="73152" rIns="73152" tIns="36576" bIns="36576"/>
                    <a:lstStyle/>
                    <a:p>
                      <a:pPr algn="ctr">
                        <a:defRPr sz="950">
                          <a:solidFill>
                            <a:srgbClr val="0F172A"/>
                          </a:solidFill>
                          <a:latin typeface="Segoe UI"/>
                        </a:defRPr>
                      </a:pPr>
                      <a:r>
                        <a:t>0.4066</a:t>
                      </a:r>
                    </a:p>
                  </a:txBody>
                  <a:tcPr>
                    <a:solidFill>
                      <a:srgbClr val="FFFFFF"/>
                    </a:solidFill>
                  </a:tcPr>
                </a:tc>
                <a:tc>
                  <a:txBody>
                    <a:bodyPr wrap="square" lIns="73152" rIns="73152" tIns="36576" bIns="36576"/>
                    <a:lstStyle/>
                    <a:p>
                      <a:pPr algn="ctr">
                        <a:defRPr sz="950">
                          <a:solidFill>
                            <a:srgbClr val="0F172A"/>
                          </a:solidFill>
                          <a:latin typeface="Segoe UI"/>
                        </a:defRPr>
                      </a:pPr>
                      <a:r>
                        <a:t>0.4928</a:t>
                      </a:r>
                    </a:p>
                  </a:txBody>
                  <a:tcPr>
                    <a:solidFill>
                      <a:srgbClr val="FFFFFF"/>
                    </a:solidFill>
                  </a:tcPr>
                </a:tc>
              </a:tr>
              <a:tr h="223520">
                <a:tc>
                  <a:txBody>
                    <a:bodyPr wrap="square" lIns="73152" rIns="73152" tIns="36576" bIns="36576"/>
                    <a:lstStyle/>
                    <a:p>
                      <a:pPr algn="l">
                        <a:defRPr sz="950">
                          <a:solidFill>
                            <a:srgbClr val="0F172A"/>
                          </a:solidFill>
                          <a:latin typeface="Segoe UI"/>
                        </a:defRPr>
                      </a:pPr>
                      <a:r>
                        <a:t>1024</a:t>
                      </a:r>
                    </a:p>
                  </a:txBody>
                  <a:tcPr>
                    <a:solidFill>
                      <a:srgbClr val="F1F5F9"/>
                    </a:solidFill>
                  </a:tcPr>
                </a:tc>
                <a:tc>
                  <a:txBody>
                    <a:bodyPr wrap="square" lIns="73152" rIns="73152" tIns="36576" bIns="36576"/>
                    <a:lstStyle/>
                    <a:p>
                      <a:pPr algn="ctr">
                        <a:defRPr sz="950">
                          <a:solidFill>
                            <a:srgbClr val="0F172A"/>
                          </a:solidFill>
                          <a:latin typeface="Segoe UI"/>
                        </a:defRPr>
                      </a:pPr>
                      <a:r>
                        <a:t>E1 -&gt; E1</a:t>
                      </a:r>
                    </a:p>
                  </a:txBody>
                  <a:tcPr>
                    <a:solidFill>
                      <a:srgbClr val="F1F5F9"/>
                    </a:solidFill>
                  </a:tcPr>
                </a:tc>
                <a:tc>
                  <a:txBody>
                    <a:bodyPr wrap="square" lIns="73152" rIns="73152" tIns="36576" bIns="36576"/>
                    <a:lstStyle/>
                    <a:p>
                      <a:pPr algn="ctr">
                        <a:defRPr sz="950">
                          <a:solidFill>
                            <a:srgbClr val="0F172A"/>
                          </a:solidFill>
                          <a:latin typeface="Segoe UI"/>
                        </a:defRPr>
                      </a:pPr>
                      <a:r>
                        <a:t>0.5811</a:t>
                      </a:r>
                    </a:p>
                  </a:txBody>
                  <a:tcPr>
                    <a:solidFill>
                      <a:srgbClr val="F1F5F9"/>
                    </a:solidFill>
                  </a:tcPr>
                </a:tc>
                <a:tc>
                  <a:txBody>
                    <a:bodyPr wrap="square" lIns="73152" rIns="73152" tIns="36576" bIns="36576"/>
                    <a:lstStyle/>
                    <a:p>
                      <a:pPr algn="ctr">
                        <a:defRPr sz="950">
                          <a:solidFill>
                            <a:srgbClr val="0F172A"/>
                          </a:solidFill>
                          <a:latin typeface="Segoe UI"/>
                        </a:defRPr>
                      </a:pPr>
                      <a:r>
                        <a:t>0.5782</a:t>
                      </a:r>
                    </a:p>
                  </a:txBody>
                  <a:tcPr>
                    <a:solidFill>
                      <a:srgbClr val="F1F5F9"/>
                    </a:solidFill>
                  </a:tcPr>
                </a:tc>
                <a:tc>
                  <a:txBody>
                    <a:bodyPr wrap="square" lIns="73152" rIns="73152" tIns="36576" bIns="36576"/>
                    <a:lstStyle/>
                    <a:p>
                      <a:pPr algn="ctr">
                        <a:defRPr sz="950">
                          <a:solidFill>
                            <a:srgbClr val="0F172A"/>
                          </a:solidFill>
                          <a:latin typeface="Segoe UI"/>
                        </a:defRPr>
                      </a:pPr>
                      <a:r>
                        <a:t>0.5380</a:t>
                      </a:r>
                    </a:p>
                  </a:txBody>
                  <a:tcPr>
                    <a:solidFill>
                      <a:srgbClr val="F1F5F9"/>
                    </a:solidFill>
                  </a:tcPr>
                </a:tc>
              </a:tr>
              <a:tr h="223520">
                <a:tc>
                  <a:txBody>
                    <a:bodyPr wrap="square" lIns="73152" rIns="73152" tIns="36576" bIns="36576"/>
                    <a:lstStyle/>
                    <a:p>
                      <a:pPr algn="l">
                        <a:defRPr sz="950">
                          <a:solidFill>
                            <a:srgbClr val="0F172A"/>
                          </a:solidFill>
                          <a:latin typeface="Segoe UI"/>
                        </a:defRPr>
                      </a:pPr>
                      <a:r>
                        <a:t>3840</a:t>
                      </a:r>
                    </a:p>
                  </a:txBody>
                  <a:tcPr>
                    <a:solidFill>
                      <a:srgbClr val="FEF3C7"/>
                    </a:solidFill>
                  </a:tcPr>
                </a:tc>
                <a:tc>
                  <a:txBody>
                    <a:bodyPr wrap="square" lIns="73152" rIns="73152" tIns="36576" bIns="36576"/>
                    <a:lstStyle/>
                    <a:p>
                      <a:pPr algn="ctr">
                        <a:defRPr sz="950">
                          <a:solidFill>
                            <a:srgbClr val="0F172A"/>
                          </a:solidFill>
                          <a:latin typeface="Segoe UI"/>
                        </a:defRPr>
                      </a:pPr>
                      <a:r>
                        <a:t>V1 -&gt; V1</a:t>
                      </a:r>
                    </a:p>
                  </a:txBody>
                  <a:tcPr>
                    <a:solidFill>
                      <a:srgbClr val="FEF3C7"/>
                    </a:solidFill>
                  </a:tcPr>
                </a:tc>
                <a:tc>
                  <a:txBody>
                    <a:bodyPr wrap="square" lIns="73152" rIns="73152" tIns="36576" bIns="36576"/>
                    <a:lstStyle/>
                    <a:p>
                      <a:pPr algn="ctr">
                        <a:defRPr sz="950">
                          <a:solidFill>
                            <a:srgbClr val="0F172A"/>
                          </a:solidFill>
                          <a:latin typeface="Segoe UI"/>
                        </a:defRPr>
                      </a:pPr>
                      <a:r>
                        <a:t>0.3323 (Tốt)</a:t>
                      </a:r>
                    </a:p>
                  </a:txBody>
                  <a:tcPr>
                    <a:solidFill>
                      <a:srgbClr val="FEF3C7"/>
                    </a:solidFill>
                  </a:tcPr>
                </a:tc>
                <a:tc>
                  <a:txBody>
                    <a:bodyPr wrap="square" lIns="73152" rIns="73152" tIns="36576" bIns="36576"/>
                    <a:lstStyle/>
                    <a:p>
                      <a:pPr algn="ctr">
                        <a:defRPr sz="950">
                          <a:solidFill>
                            <a:srgbClr val="0F172A"/>
                          </a:solidFill>
                          <a:latin typeface="Segoe UI"/>
                        </a:defRPr>
                      </a:pPr>
                      <a:r>
                        <a:t>0.3213</a:t>
                      </a:r>
                    </a:p>
                  </a:txBody>
                  <a:tcPr>
                    <a:solidFill>
                      <a:srgbClr val="FEF3C7"/>
                    </a:solidFill>
                  </a:tcPr>
                </a:tc>
                <a:tc>
                  <a:txBody>
                    <a:bodyPr wrap="square" lIns="73152" rIns="73152" tIns="36576" bIns="36576"/>
                    <a:lstStyle/>
                    <a:p>
                      <a:pPr algn="ctr">
                        <a:defRPr sz="950">
                          <a:solidFill>
                            <a:srgbClr val="0F172A"/>
                          </a:solidFill>
                          <a:latin typeface="Segoe UI"/>
                        </a:defRPr>
                      </a:pPr>
                      <a:r>
                        <a:t>0.4928</a:t>
                      </a:r>
                    </a:p>
                  </a:txBody>
                  <a:tcPr>
                    <a:solidFill>
                      <a:srgbClr val="FEF3C7"/>
                    </a:solidFill>
                  </a:tcPr>
                </a:tc>
              </a:tr>
              <a:tr h="223520">
                <a:tc>
                  <a:txBody>
                    <a:bodyPr wrap="square" lIns="73152" rIns="73152" tIns="36576" bIns="36576"/>
                    <a:lstStyle/>
                    <a:p>
                      <a:pPr algn="l">
                        <a:defRPr sz="950">
                          <a:solidFill>
                            <a:srgbClr val="0F172A"/>
                          </a:solidFill>
                          <a:latin typeface="Segoe UI"/>
                        </a:defRPr>
                      </a:pPr>
                      <a:r>
                        <a:t>3840</a:t>
                      </a:r>
                    </a:p>
                  </a:txBody>
                  <a:tcPr>
                    <a:solidFill>
                      <a:srgbClr val="F1F5F9"/>
                    </a:solidFill>
                  </a:tcPr>
                </a:tc>
                <a:tc>
                  <a:txBody>
                    <a:bodyPr wrap="square" lIns="73152" rIns="73152" tIns="36576" bIns="36576"/>
                    <a:lstStyle/>
                    <a:p>
                      <a:pPr algn="ctr">
                        <a:defRPr sz="950">
                          <a:solidFill>
                            <a:srgbClr val="0F172A"/>
                          </a:solidFill>
                          <a:latin typeface="Segoe UI"/>
                        </a:defRPr>
                      </a:pPr>
                      <a:r>
                        <a:t>E1 -&gt; E1</a:t>
                      </a:r>
                    </a:p>
                  </a:txBody>
                  <a:tcPr>
                    <a:solidFill>
                      <a:srgbClr val="F1F5F9"/>
                    </a:solidFill>
                  </a:tcPr>
                </a:tc>
                <a:tc>
                  <a:txBody>
                    <a:bodyPr wrap="square" lIns="73152" rIns="73152" tIns="36576" bIns="36576"/>
                    <a:lstStyle/>
                    <a:p>
                      <a:pPr algn="ctr">
                        <a:defRPr sz="950">
                          <a:solidFill>
                            <a:srgbClr val="0F172A"/>
                          </a:solidFill>
                          <a:latin typeface="Segoe UI"/>
                        </a:defRPr>
                      </a:pPr>
                      <a:r>
                        <a:t>0.4645 (Tốt)</a:t>
                      </a:r>
                    </a:p>
                  </a:txBody>
                  <a:tcPr>
                    <a:solidFill>
                      <a:srgbClr val="F1F5F9"/>
                    </a:solidFill>
                  </a:tcPr>
                </a:tc>
                <a:tc>
                  <a:txBody>
                    <a:bodyPr wrap="square" lIns="73152" rIns="73152" tIns="36576" bIns="36576"/>
                    <a:lstStyle/>
                    <a:p>
                      <a:pPr algn="ctr">
                        <a:defRPr sz="950">
                          <a:solidFill>
                            <a:srgbClr val="0F172A"/>
                          </a:solidFill>
                          <a:latin typeface="Segoe UI"/>
                        </a:defRPr>
                      </a:pPr>
                      <a:r>
                        <a:t>0.4535</a:t>
                      </a:r>
                    </a:p>
                  </a:txBody>
                  <a:tcPr>
                    <a:solidFill>
                      <a:srgbClr val="F1F5F9"/>
                    </a:solidFill>
                  </a:tcPr>
                </a:tc>
                <a:tc>
                  <a:txBody>
                    <a:bodyPr wrap="square" lIns="73152" rIns="73152" tIns="36576" bIns="36576"/>
                    <a:lstStyle/>
                    <a:p>
                      <a:pPr algn="ctr">
                        <a:defRPr sz="950">
                          <a:solidFill>
                            <a:srgbClr val="0F172A"/>
                          </a:solidFill>
                          <a:latin typeface="Segoe UI"/>
                        </a:defRPr>
                      </a:pPr>
                      <a:r>
                        <a:t>0.5380</a:t>
                      </a:r>
                    </a:p>
                  </a:txBody>
                  <a:tcPr>
                    <a:solidFill>
                      <a:srgbClr val="F1F5F9"/>
                    </a:solidFill>
                  </a:tcPr>
                </a:tc>
              </a:tr>
              <a:tr h="223520">
                <a:tc>
                  <a:txBody>
                    <a:bodyPr wrap="square" lIns="73152" rIns="73152" tIns="36576" bIns="36576"/>
                    <a:lstStyle/>
                    <a:p>
                      <a:pPr algn="l">
                        <a:defRPr sz="950">
                          <a:solidFill>
                            <a:srgbClr val="0F172A"/>
                          </a:solidFill>
                          <a:latin typeface="Segoe UI"/>
                        </a:defRPr>
                      </a:pPr>
                      <a:r>
                        <a:t>3840</a:t>
                      </a:r>
                    </a:p>
                  </a:txBody>
                  <a:tcPr>
                    <a:solidFill>
                      <a:srgbClr val="FFFFFF"/>
                    </a:solidFill>
                  </a:tcPr>
                </a:tc>
                <a:tc>
                  <a:txBody>
                    <a:bodyPr wrap="square" lIns="73152" rIns="73152" tIns="36576" bIns="36576"/>
                    <a:lstStyle/>
                    <a:p>
                      <a:pPr algn="ctr">
                        <a:defRPr sz="950">
                          <a:solidFill>
                            <a:srgbClr val="0F172A"/>
                          </a:solidFill>
                          <a:latin typeface="Segoe UI"/>
                        </a:defRPr>
                      </a:pPr>
                      <a:r>
                        <a:t>V1 -&gt; E1</a:t>
                      </a:r>
                    </a:p>
                  </a:txBody>
                  <a:tcPr>
                    <a:solidFill>
                      <a:srgbClr val="FFFFFF"/>
                    </a:solidFill>
                  </a:tcPr>
                </a:tc>
                <a:tc>
                  <a:txBody>
                    <a:bodyPr wrap="square" lIns="73152" rIns="73152" tIns="36576" bIns="36576"/>
                    <a:lstStyle/>
                    <a:p>
                      <a:pPr algn="ctr">
                        <a:defRPr sz="950">
                          <a:solidFill>
                            <a:srgbClr val="0F172A"/>
                          </a:solidFill>
                          <a:latin typeface="Segoe UI"/>
                        </a:defRPr>
                      </a:pPr>
                      <a:r>
                        <a:t>0.7751</a:t>
                      </a:r>
                    </a:p>
                  </a:txBody>
                  <a:tcPr>
                    <a:solidFill>
                      <a:srgbClr val="FFFFFF"/>
                    </a:solidFill>
                  </a:tcPr>
                </a:tc>
                <a:tc>
                  <a:txBody>
                    <a:bodyPr wrap="square" lIns="73152" rIns="73152" tIns="36576" bIns="36576"/>
                    <a:lstStyle/>
                    <a:p>
                      <a:pPr algn="ctr">
                        <a:defRPr sz="950">
                          <a:solidFill>
                            <a:srgbClr val="0F172A"/>
                          </a:solidFill>
                          <a:latin typeface="Segoe UI"/>
                        </a:defRPr>
                      </a:pPr>
                      <a:r>
                        <a:t>0.7641</a:t>
                      </a:r>
                    </a:p>
                  </a:txBody>
                  <a:tcPr>
                    <a:solidFill>
                      <a:srgbClr val="FFFFFF"/>
                    </a:solidFill>
                  </a:tcPr>
                </a:tc>
                <a:tc>
                  <a:txBody>
                    <a:bodyPr wrap="square" lIns="73152" rIns="73152" tIns="36576" bIns="36576"/>
                    <a:lstStyle/>
                    <a:p>
                      <a:pPr algn="ctr">
                        <a:defRPr sz="950">
                          <a:solidFill>
                            <a:srgbClr val="0F172A"/>
                          </a:solidFill>
                          <a:latin typeface="Segoe UI"/>
                        </a:defRPr>
                      </a:pPr>
                      <a:r>
                        <a:t>0.5380</a:t>
                      </a:r>
                    </a:p>
                  </a:txBody>
                  <a:tcPr>
                    <a:solidFill>
                      <a:srgbClr val="FFFFFF"/>
                    </a:solidFill>
                  </a:tcPr>
                </a:tc>
              </a:tr>
              <a:tr h="223520">
                <a:tc>
                  <a:txBody>
                    <a:bodyPr wrap="square" lIns="73152" rIns="73152" tIns="36576" bIns="36576"/>
                    <a:lstStyle/>
                    <a:p>
                      <a:pPr algn="l">
                        <a:defRPr sz="950">
                          <a:solidFill>
                            <a:srgbClr val="0F172A"/>
                          </a:solidFill>
                          <a:latin typeface="Segoe UI"/>
                        </a:defRPr>
                      </a:pPr>
                      <a:r>
                        <a:t>3840</a:t>
                      </a:r>
                    </a:p>
                  </a:txBody>
                  <a:tcPr>
                    <a:solidFill>
                      <a:srgbClr val="F1F5F9"/>
                    </a:solidFill>
                  </a:tcPr>
                </a:tc>
                <a:tc>
                  <a:txBody>
                    <a:bodyPr wrap="square" lIns="73152" rIns="73152" tIns="36576" bIns="36576"/>
                    <a:lstStyle/>
                    <a:p>
                      <a:pPr algn="ctr">
                        <a:defRPr sz="950">
                          <a:solidFill>
                            <a:srgbClr val="0F172A"/>
                          </a:solidFill>
                          <a:latin typeface="Segoe UI"/>
                        </a:defRPr>
                      </a:pPr>
                      <a:r>
                        <a:t>E1 -&gt; V1</a:t>
                      </a:r>
                    </a:p>
                  </a:txBody>
                  <a:tcPr>
                    <a:solidFill>
                      <a:srgbClr val="F1F5F9"/>
                    </a:solidFill>
                  </a:tcPr>
                </a:tc>
                <a:tc>
                  <a:txBody>
                    <a:bodyPr wrap="square" lIns="73152" rIns="73152" tIns="36576" bIns="36576"/>
                    <a:lstStyle/>
                    <a:p>
                      <a:pPr algn="ctr">
                        <a:defRPr sz="950">
                          <a:solidFill>
                            <a:srgbClr val="0F172A"/>
                          </a:solidFill>
                          <a:latin typeface="Segoe UI"/>
                        </a:defRPr>
                      </a:pPr>
                      <a:r>
                        <a:t>1.1495 (Phình)</a:t>
                      </a:r>
                    </a:p>
                  </a:txBody>
                  <a:tcPr>
                    <a:solidFill>
                      <a:srgbClr val="F1F5F9"/>
                    </a:solidFill>
                  </a:tcPr>
                </a:tc>
                <a:tc>
                  <a:txBody>
                    <a:bodyPr wrap="square" lIns="73152" rIns="73152" tIns="36576" bIns="36576"/>
                    <a:lstStyle/>
                    <a:p>
                      <a:pPr algn="ctr">
                        <a:defRPr sz="950">
                          <a:solidFill>
                            <a:srgbClr val="0F172A"/>
                          </a:solidFill>
                          <a:latin typeface="Segoe UI"/>
                        </a:defRPr>
                      </a:pPr>
                      <a:r>
                        <a:t>1.1385</a:t>
                      </a:r>
                    </a:p>
                  </a:txBody>
                  <a:tcPr>
                    <a:solidFill>
                      <a:srgbClr val="F1F5F9"/>
                    </a:solidFill>
                  </a:tcPr>
                </a:tc>
                <a:tc>
                  <a:txBody>
                    <a:bodyPr wrap="square" lIns="73152" rIns="73152" tIns="36576" bIns="36576"/>
                    <a:lstStyle/>
                    <a:p>
                      <a:pPr algn="ctr">
                        <a:defRPr sz="950">
                          <a:solidFill>
                            <a:srgbClr val="0F172A"/>
                          </a:solidFill>
                          <a:latin typeface="Segoe UI"/>
                        </a:defRPr>
                      </a:pPr>
                      <a:r>
                        <a:t>0.4928</a:t>
                      </a:r>
                    </a:p>
                  </a:txBody>
                  <a:tcPr>
                    <a:solidFill>
                      <a:srgbClr val="F1F5F9"/>
                    </a:solidFill>
                  </a:tcPr>
                </a:tc>
              </a:tr>
            </a:tbl>
          </a:graphicData>
        </a:graphic>
      </p:graphicFrame>
      <p:sp>
        <p:nvSpPr>
          <p:cNvPr id="9" name="TextBox 8"/>
          <p:cNvSpPr txBox="1"/>
          <p:nvPr/>
        </p:nvSpPr>
        <p:spPr>
          <a:xfrm>
            <a:off x="914400" y="4160520"/>
            <a:ext cx="4754880" cy="2011680"/>
          </a:xfrm>
          <a:prstGeom prst="rect">
            <a:avLst/>
          </a:prstGeom>
          <a:noFill/>
        </p:spPr>
        <p:txBody>
          <a:bodyPr wrap="square" lIns="0" tIns="0">
            <a:spAutoFit/>
          </a:bodyPr>
          <a:lstStyle/>
          <a:p/>
          <a:p>
            <a:pPr>
              <a:spcBef>
                <a:spcPts val="250"/>
              </a:spcBef>
              <a:defRPr sz="950">
                <a:solidFill>
                  <a:srgbClr val="0F172A"/>
                </a:solidFill>
                <a:latin typeface="Segoe UI"/>
              </a:defRPr>
            </a:pPr>
            <a:r>
              <a:t>• K=256: BPE chưa học đủ sâu, tỷ lệ nén kém hơn LZW trên cả 2 tập.</a:t>
            </a:r>
          </a:p>
          <a:p>
            <a:pPr>
              <a:spcBef>
                <a:spcPts val="250"/>
              </a:spcBef>
              <a:defRPr sz="950">
                <a:solidFill>
                  <a:srgbClr val="0F172A"/>
                </a:solidFill>
                <a:latin typeface="Segoe UI"/>
              </a:defRPr>
            </a:pPr>
            <a:r>
              <a:t>• K=3840 (Cùng miền): BPE vượt trội ấn tượng so với LZW: nhỏ hơn 32.6% trên V1 (0.332 vs 0.493) và nhỏ hơn 13.7% trên E1 (0.464 vs 0.538).</a:t>
            </a:r>
          </a:p>
          <a:p>
            <a:pPr>
              <a:spcBef>
                <a:spcPts val="250"/>
              </a:spcBef>
              <a:defRPr sz="950">
                <a:solidFill>
                  <a:srgbClr val="0F172A"/>
                </a:solidFill>
                <a:latin typeface="Segoe UI"/>
              </a:defRPr>
            </a:pPr>
            <a:r>
              <a:t>• Đánh đổi Overhead: BPE Codec phải gánh 11.5 KiB bảng merge (22 + 3m bytes). Trên file 1 MiB, overhead chỉ chiếm ~1.1% và được bù đắp hoàn toàn bởi số token giảm mạnh.</a:t>
            </a:r>
          </a:p>
          <a:p>
            <a:pPr>
              <a:spcBef>
                <a:spcPts val="250"/>
              </a:spcBef>
              <a:defRPr sz="950">
                <a:solidFill>
                  <a:srgbClr val="0F172A"/>
                </a:solidFill>
                <a:latin typeface="Segoe UI"/>
              </a:defRPr>
            </a:pPr>
            <a:r>
              <a:t>• BPE Token-Only: Phản ánh kịch bản LLM (chia sẻ bảng từ điển trước), giúp tối ưu tối đa không gian truyền tải payload.</a:t>
            </a:r>
          </a:p>
        </p:txBody>
      </p:sp>
      <p:sp>
        <p:nvSpPr>
          <p:cNvPr id="10" name="Rounded Rectangle 9"/>
          <p:cNvSpPr/>
          <p:nvPr/>
        </p:nvSpPr>
        <p:spPr>
          <a:xfrm>
            <a:off x="6126480" y="1508760"/>
            <a:ext cx="533369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q3_ratio.png"/>
          <p:cNvPicPr>
            <a:picLocks noChangeAspect="1"/>
          </p:cNvPicPr>
          <p:nvPr/>
        </p:nvPicPr>
        <p:blipFill>
          <a:blip r:embed="rId2"/>
          <a:stretch>
            <a:fillRect/>
          </a:stretch>
        </p:blipFill>
        <p:spPr>
          <a:xfrm>
            <a:off x="6309360" y="1691640"/>
            <a:ext cx="4937760" cy="3566160"/>
          </a:xfrm>
          <a:prstGeom prst="rect">
            <a:avLst/>
          </a:prstGeom>
        </p:spPr>
      </p:pic>
      <p:sp>
        <p:nvSpPr>
          <p:cNvPr id="12" name="TextBox 11"/>
          <p:cNvSpPr txBox="1"/>
          <p:nvPr/>
        </p:nvSpPr>
        <p:spPr>
          <a:xfrm>
            <a:off x="6217920" y="5623560"/>
            <a:ext cx="5120640" cy="457200"/>
          </a:xfrm>
          <a:prstGeom prst="rect">
            <a:avLst/>
          </a:prstGeom>
          <a:noFill/>
        </p:spPr>
        <p:txBody>
          <a:bodyPr wrap="square" lIns="0" tIns="0">
            <a:spAutoFit/>
          </a:bodyPr>
          <a:lstStyle/>
          <a:p>
            <a:pPr algn="ctr">
              <a:defRPr sz="950">
                <a:solidFill>
                  <a:srgbClr val="475569"/>
                </a:solidFill>
                <a:latin typeface="Segoe UI"/>
              </a:defRPr>
            </a:pPr>
            <a:r>
              <a:t>Hình: Tỷ lệ BPE Codec vs Token-only so với baseline LZW tại các mức 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74320"/>
          </a:xfrm>
          <a:prstGeom prst="rect">
            <a:avLst/>
          </a:prstGeom>
          <a:noFill/>
        </p:spPr>
        <p:txBody>
          <a:bodyPr wrap="square" lIns="0" tIns="0" rIns="0" bIns="0">
            <a:spAutoFit/>
          </a:bodyPr>
          <a:lstStyle/>
          <a:p>
            <a:pPr>
              <a:defRPr sz="1000" b="1">
                <a:solidFill>
                  <a:srgbClr val="2563EB"/>
                </a:solidFill>
                <a:latin typeface="Segoe UI"/>
              </a:defRPr>
            </a:pPr>
            <a:r>
              <a:t>RQ3: MA TRẬN ĐA NGỮ VIỆT - ANH</a:t>
            </a:r>
          </a:p>
        </p:txBody>
      </p:sp>
      <p:sp>
        <p:nvSpPr>
          <p:cNvPr id="4" name="TextBox 3"/>
          <p:cNvSpPr txBox="1"/>
          <p:nvPr/>
        </p:nvSpPr>
        <p:spPr>
          <a:xfrm>
            <a:off x="731520" y="621792"/>
            <a:ext cx="10728655" cy="502920"/>
          </a:xfrm>
          <a:prstGeom prst="rect">
            <a:avLst/>
          </a:prstGeom>
          <a:noFill/>
        </p:spPr>
        <p:txBody>
          <a:bodyPr wrap="square" lIns="0" tIns="0" rIns="0" bIns="0">
            <a:spAutoFit/>
          </a:bodyPr>
          <a:lstStyle/>
          <a:p>
            <a:pPr>
              <a:defRPr sz="2100" b="1">
                <a:solidFill>
                  <a:srgbClr val="0F172A"/>
                </a:solidFill>
                <a:latin typeface="Segoe UI"/>
              </a:defRPr>
            </a:pPr>
            <a:r>
              <a:t>Thử Nghiệm Chéo Ngữ Liệu: Hiện Tượng Lạm Phát Token Tiếng Việt</a:t>
            </a:r>
          </a:p>
        </p:txBody>
      </p:sp>
      <p:sp>
        <p:nvSpPr>
          <p:cNvPr id="5" name="TextBox 4"/>
          <p:cNvSpPr txBox="1"/>
          <p:nvPr/>
        </p:nvSpPr>
        <p:spPr>
          <a:xfrm>
            <a:off x="731520" y="1115568"/>
            <a:ext cx="10728655" cy="274320"/>
          </a:xfrm>
          <a:prstGeom prst="rect">
            <a:avLst/>
          </a:prstGeom>
          <a:noFill/>
        </p:spPr>
        <p:txBody>
          <a:bodyPr wrap="square" lIns="0" tIns="0" rIns="0" bIns="0">
            <a:spAutoFit/>
          </a:bodyPr>
          <a:lstStyle/>
          <a:p>
            <a:pPr>
              <a:defRPr sz="1150">
                <a:solidFill>
                  <a:srgbClr val="475569"/>
                </a:solidFill>
                <a:latin typeface="Segoe UI"/>
              </a:defRPr>
            </a:pPr>
            <a:r>
              <a:t>Hệ quả kinh tế và kỹ thuật nghiêm trọng khi dùng tokenizer tiếng Anh cho văn bản tiếng Việt</a:t>
            </a:r>
          </a:p>
        </p:txBody>
      </p:sp>
      <p:sp>
        <p:nvSpPr>
          <p:cNvPr id="6" name="Rounded Rectangle 5"/>
          <p:cNvSpPr/>
          <p:nvPr/>
        </p:nvSpPr>
        <p:spPr>
          <a:xfrm>
            <a:off x="731520" y="150876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691640"/>
            <a:ext cx="4663440" cy="109728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783080"/>
            <a:ext cx="4389120" cy="914400"/>
          </a:xfrm>
          <a:prstGeom prst="rect">
            <a:avLst/>
          </a:prstGeom>
          <a:noFill/>
        </p:spPr>
        <p:txBody>
          <a:bodyPr wrap="square" lIns="0" tIns="0" rIns="0" bIns="0">
            <a:spAutoFit/>
          </a:bodyPr>
          <a:lstStyle/>
          <a:p>
            <a:pPr>
              <a:defRPr sz="2600" b="1">
                <a:solidFill>
                  <a:srgbClr val="E11D48"/>
                </a:solidFill>
                <a:latin typeface="Segoe UI"/>
              </a:defRPr>
            </a:pPr>
            <a:r>
              <a:t>3.54×</a:t>
            </a:r>
          </a:p>
          <a:p>
            <a:pPr>
              <a:spcBef>
                <a:spcPts val="300"/>
              </a:spcBef>
              <a:defRPr sz="1100" b="1">
                <a:solidFill>
                  <a:srgbClr val="0F172A"/>
                </a:solidFill>
                <a:latin typeface="Segoe UI"/>
              </a:defRPr>
            </a:pPr>
            <a:r>
              <a:t>Lạm Phát Token (Token Inflation trên Tiếng Việt)</a:t>
            </a:r>
          </a:p>
          <a:p>
            <a:pPr>
              <a:defRPr sz="950">
                <a:solidFill>
                  <a:srgbClr val="475569"/>
                </a:solidFill>
                <a:latin typeface="Segoe UI"/>
              </a:defRPr>
            </a:pPr>
            <a:r>
              <a:t>Tokenizer học trên E1 sinh ra số token gấp 3.54 lần khi nén V1!</a:t>
            </a:r>
          </a:p>
        </p:txBody>
      </p:sp>
      <p:sp>
        <p:nvSpPr>
          <p:cNvPr id="9" name="TextBox 8"/>
          <p:cNvSpPr txBox="1"/>
          <p:nvPr/>
        </p:nvSpPr>
        <p:spPr>
          <a:xfrm>
            <a:off x="960120" y="2926080"/>
            <a:ext cx="4663440" cy="320040"/>
          </a:xfrm>
          <a:prstGeom prst="rect">
            <a:avLst/>
          </a:prstGeom>
          <a:noFill/>
        </p:spPr>
        <p:txBody>
          <a:bodyPr wrap="none" lIns="0" tIns="0">
            <a:spAutoFit/>
          </a:bodyPr>
          <a:lstStyle/>
          <a:p>
            <a:pPr>
              <a:defRPr sz="1050" b="1">
                <a:solidFill>
                  <a:srgbClr val="1D4ED8"/>
                </a:solidFill>
                <a:latin typeface="Segoe UI"/>
              </a:defRPr>
            </a:pPr>
            <a:r>
              <a:t>Bảng V. Ma trận byte/token &amp; số lượng token (K=3840 trên 1 MiB)</a:t>
            </a:r>
          </a:p>
        </p:txBody>
      </p:sp>
      <p:graphicFrame>
        <p:nvGraphicFramePr>
          <p:cNvPr id="10" name="Table 9"/>
          <p:cNvGraphicFramePr>
            <a:graphicFrameLocks noGrp="1"/>
          </p:cNvGraphicFramePr>
          <p:nvPr/>
        </p:nvGraphicFramePr>
        <p:xfrm>
          <a:off x="960120" y="3246120"/>
          <a:ext cx="4663438" cy="1005840"/>
        </p:xfrm>
        <a:graphic>
          <a:graphicData uri="http://schemas.openxmlformats.org/drawingml/2006/table">
            <a:tbl>
              <a:tblPr firstRow="1" bandRow="1">
                <a:tableStyleId>{5C22544A-7EE6-4342-B048-85BDC9FD1C3A}</a:tableStyleId>
              </a:tblPr>
              <a:tblGrid>
                <a:gridCol w="914400"/>
                <a:gridCol w="1874519"/>
                <a:gridCol w="1874519"/>
              </a:tblGrid>
              <a:tr h="335280">
                <a:tc>
                  <a:txBody>
                    <a:bodyPr wrap="square" lIns="73152" rIns="73152"/>
                    <a:lstStyle/>
                    <a:p>
                      <a:pPr algn="ctr">
                        <a:defRPr sz="1000" b="1">
                          <a:solidFill>
                            <a:srgbClr val="FFFFFF"/>
                          </a:solidFill>
                          <a:latin typeface="Segoe UI"/>
                        </a:defRPr>
                      </a:pPr>
                      <a:r>
                        <a:t>Train</a:t>
                      </a:r>
                    </a:p>
                  </a:txBody>
                  <a:tcPr>
                    <a:solidFill>
                      <a:srgbClr val="1D4ED8"/>
                    </a:solidFill>
                  </a:tcPr>
                </a:tc>
                <a:tc>
                  <a:txBody>
                    <a:bodyPr wrap="square" lIns="73152" rIns="73152"/>
                    <a:lstStyle/>
                    <a:p>
                      <a:pPr algn="ctr">
                        <a:defRPr sz="1000" b="1">
                          <a:solidFill>
                            <a:srgbClr val="FFFFFF"/>
                          </a:solidFill>
                          <a:latin typeface="Segoe UI"/>
                        </a:defRPr>
                      </a:pPr>
                      <a:r>
                        <a:t>Test V1 (Tiếng Việt)</a:t>
                      </a:r>
                    </a:p>
                  </a:txBody>
                  <a:tcPr>
                    <a:solidFill>
                      <a:srgbClr val="1D4ED8"/>
                    </a:solidFill>
                  </a:tcPr>
                </a:tc>
                <a:tc>
                  <a:txBody>
                    <a:bodyPr wrap="square" lIns="73152" rIns="73152"/>
                    <a:lstStyle/>
                    <a:p>
                      <a:pPr algn="ctr">
                        <a:defRPr sz="1000" b="1">
                          <a:solidFill>
                            <a:srgbClr val="FFFFFF"/>
                          </a:solidFill>
                          <a:latin typeface="Segoe UI"/>
                        </a:defRPr>
                      </a:pPr>
                      <a:r>
                        <a:t>Test E1 (Tiếng Anh)</a:t>
                      </a:r>
                    </a:p>
                  </a:txBody>
                  <a:tcPr>
                    <a:solidFill>
                      <a:srgbClr val="1D4ED8"/>
                    </a:solidFill>
                  </a:tcPr>
                </a:tc>
              </a:tr>
              <a:tr h="335280">
                <a:tc>
                  <a:txBody>
                    <a:bodyPr wrap="square" lIns="73152" rIns="73152" tIns="36576" bIns="36576"/>
                    <a:lstStyle/>
                    <a:p>
                      <a:pPr algn="l">
                        <a:defRPr sz="950">
                          <a:solidFill>
                            <a:srgbClr val="0F172A"/>
                          </a:solidFill>
                          <a:latin typeface="Segoe UI"/>
                        </a:defRPr>
                      </a:pPr>
                      <a:r>
                        <a:t>V1</a:t>
                      </a:r>
                    </a:p>
                  </a:txBody>
                  <a:tcPr>
                    <a:solidFill>
                      <a:srgbClr val="FFFFFF"/>
                    </a:solidFill>
                  </a:tcPr>
                </a:tc>
                <a:tc>
                  <a:txBody>
                    <a:bodyPr wrap="square" lIns="73152" rIns="73152" tIns="36576" bIns="36576"/>
                    <a:lstStyle/>
                    <a:p>
                      <a:pPr algn="ctr">
                        <a:defRPr sz="950">
                          <a:solidFill>
                            <a:srgbClr val="0F172A"/>
                          </a:solidFill>
                          <a:latin typeface="Segoe UI"/>
                        </a:defRPr>
                      </a:pPr>
                      <a:r>
                        <a:t>4.67 B/T  (224,618 tokens)</a:t>
                      </a:r>
                    </a:p>
                  </a:txBody>
                  <a:tcPr>
                    <a:solidFill>
                      <a:srgbClr val="FFFFFF"/>
                    </a:solidFill>
                  </a:tcPr>
                </a:tc>
                <a:tc>
                  <a:txBody>
                    <a:bodyPr wrap="square" lIns="73152" rIns="73152" tIns="36576" bIns="36576"/>
                    <a:lstStyle/>
                    <a:p>
                      <a:pPr algn="ctr">
                        <a:defRPr sz="950">
                          <a:solidFill>
                            <a:srgbClr val="0F172A"/>
                          </a:solidFill>
                          <a:latin typeface="Segoe UI"/>
                        </a:defRPr>
                      </a:pPr>
                      <a:r>
                        <a:t>1.96 B/T  (534,128 tokens)</a:t>
                      </a:r>
                    </a:p>
                  </a:txBody>
                  <a:tcPr>
                    <a:solidFill>
                      <a:srgbClr val="FFFFFF"/>
                    </a:solidFill>
                  </a:tcPr>
                </a:tc>
              </a:tr>
              <a:tr h="335280">
                <a:tc>
                  <a:txBody>
                    <a:bodyPr wrap="square" lIns="73152" rIns="73152" tIns="36576" bIns="36576"/>
                    <a:lstStyle/>
                    <a:p>
                      <a:pPr algn="l">
                        <a:defRPr sz="950">
                          <a:solidFill>
                            <a:srgbClr val="0F172A"/>
                          </a:solidFill>
                          <a:latin typeface="Segoe UI"/>
                        </a:defRPr>
                      </a:pPr>
                      <a:r>
                        <a:t>E1</a:t>
                      </a:r>
                    </a:p>
                  </a:txBody>
                  <a:tcPr>
                    <a:solidFill>
                      <a:srgbClr val="FEF3C7"/>
                    </a:solidFill>
                  </a:tcPr>
                </a:tc>
                <a:tc>
                  <a:txBody>
                    <a:bodyPr wrap="square" lIns="73152" rIns="73152" tIns="36576" bIns="36576"/>
                    <a:lstStyle/>
                    <a:p>
                      <a:pPr algn="ctr">
                        <a:defRPr sz="950">
                          <a:solidFill>
                            <a:srgbClr val="0F172A"/>
                          </a:solidFill>
                          <a:latin typeface="Segoe UI"/>
                        </a:defRPr>
                      </a:pPr>
                      <a:r>
                        <a:t>1.32 B/T  (795,855 tokens)*</a:t>
                      </a:r>
                    </a:p>
                  </a:txBody>
                  <a:tcPr>
                    <a:solidFill>
                      <a:srgbClr val="FEF3C7"/>
                    </a:solidFill>
                  </a:tcPr>
                </a:tc>
                <a:tc>
                  <a:txBody>
                    <a:bodyPr wrap="square" lIns="73152" rIns="73152" tIns="36576" bIns="36576"/>
                    <a:lstStyle/>
                    <a:p>
                      <a:pPr algn="ctr">
                        <a:defRPr sz="950">
                          <a:solidFill>
                            <a:srgbClr val="0F172A"/>
                          </a:solidFill>
                          <a:latin typeface="Segoe UI"/>
                        </a:defRPr>
                      </a:pPr>
                      <a:r>
                        <a:t>3.31 B/T  (316,991 tokens)</a:t>
                      </a:r>
                    </a:p>
                  </a:txBody>
                  <a:tcPr>
                    <a:solidFill>
                      <a:srgbClr val="FEF3C7"/>
                    </a:solidFill>
                  </a:tcPr>
                </a:tc>
              </a:tr>
            </a:tbl>
          </a:graphicData>
        </a:graphic>
      </p:graphicFrame>
      <p:sp>
        <p:nvSpPr>
          <p:cNvPr id="11" name="TextBox 10"/>
          <p:cNvSpPr txBox="1"/>
          <p:nvPr/>
        </p:nvSpPr>
        <p:spPr>
          <a:xfrm>
            <a:off x="960120" y="4389120"/>
            <a:ext cx="4663440" cy="1828800"/>
          </a:xfrm>
          <a:prstGeom prst="rect">
            <a:avLst/>
          </a:prstGeom>
          <a:noFill/>
        </p:spPr>
        <p:txBody>
          <a:bodyPr wrap="square" lIns="0" tIns="0">
            <a:spAutoFit/>
          </a:bodyPr>
          <a:lstStyle/>
          <a:p/>
          <a:p>
            <a:pPr>
              <a:spcBef>
                <a:spcPts val="200"/>
              </a:spcBef>
              <a:defRPr sz="950">
                <a:solidFill>
                  <a:srgbClr val="0F172A"/>
                </a:solidFill>
                <a:latin typeface="Segoe UI"/>
              </a:defRPr>
            </a:pPr>
            <a:r>
              <a:t>• Vỡ vụn byte UTF-8: Ký tự tiếng Việt có dấu chiếm 2–3 bytes UTF-8. Tokenizer E1 thiếu merges tiếng Việt khiến các từ bị vỡ nát thành byte đơn lẻ.</a:t>
            </a:r>
          </a:p>
          <a:p>
            <a:pPr>
              <a:spcBef>
                <a:spcPts val="200"/>
              </a:spcBef>
              <a:defRPr sz="950">
                <a:solidFill>
                  <a:srgbClr val="0F172A"/>
                </a:solidFill>
                <a:latin typeface="Segoe UI"/>
              </a:defRPr>
            </a:pPr>
            <a:r>
              <a:t>• Thiệt hại thực tế trong LLM:</a:t>
            </a:r>
          </a:p>
          <a:p>
            <a:pPr>
              <a:spcBef>
                <a:spcPts val="200"/>
              </a:spcBef>
              <a:defRPr sz="950">
                <a:solidFill>
                  <a:srgbClr val="0F172A"/>
                </a:solidFill>
                <a:latin typeface="Segoe UI"/>
              </a:defRPr>
            </a:pPr>
            <a:r>
              <a:t>  • Chi phí API tăng vọt 3.54 lần (thanh toán theo token).</a:t>
            </a:r>
          </a:p>
          <a:p>
            <a:pPr>
              <a:spcBef>
                <a:spcPts val="200"/>
              </a:spcBef>
              <a:defRPr sz="950">
                <a:solidFill>
                  <a:srgbClr val="0F172A"/>
                </a:solidFill>
                <a:latin typeface="Segoe UI"/>
              </a:defRPr>
            </a:pPr>
            <a:r>
              <a:t>  • Cửa sổ ngữ cảnh (Context Window) bị co hẹp 3.54 lần.</a:t>
            </a:r>
          </a:p>
          <a:p>
            <a:pPr>
              <a:spcBef>
                <a:spcPts val="200"/>
              </a:spcBef>
              <a:defRPr sz="950">
                <a:solidFill>
                  <a:srgbClr val="0F172A"/>
                </a:solidFill>
                <a:latin typeface="Segoe UI"/>
              </a:defRPr>
            </a:pPr>
            <a:r>
              <a:t>  • Tăng độ trễ suy luận (Autoregressive latency) do sinh nhiều token hơn.</a:t>
            </a:r>
          </a:p>
        </p:txBody>
      </p:sp>
      <p:sp>
        <p:nvSpPr>
          <p:cNvPr id="12" name="Rounded Rectangle 11"/>
          <p:cNvSpPr/>
          <p:nvPr/>
        </p:nvSpPr>
        <p:spPr>
          <a:xfrm>
            <a:off x="6126480" y="1508760"/>
            <a:ext cx="533369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q3_bytes_per_token.png"/>
          <p:cNvPicPr>
            <a:picLocks noChangeAspect="1"/>
          </p:cNvPicPr>
          <p:nvPr/>
        </p:nvPicPr>
        <p:blipFill>
          <a:blip r:embed="rId2"/>
          <a:stretch>
            <a:fillRect/>
          </a:stretch>
        </p:blipFill>
        <p:spPr>
          <a:xfrm>
            <a:off x="6309360" y="1691640"/>
            <a:ext cx="4937760" cy="3566160"/>
          </a:xfrm>
          <a:prstGeom prst="rect">
            <a:avLst/>
          </a:prstGeom>
        </p:spPr>
      </p:pic>
      <p:sp>
        <p:nvSpPr>
          <p:cNvPr id="14" name="TextBox 13"/>
          <p:cNvSpPr txBox="1"/>
          <p:nvPr/>
        </p:nvSpPr>
        <p:spPr>
          <a:xfrm>
            <a:off x="6217920" y="5623560"/>
            <a:ext cx="5120640" cy="457200"/>
          </a:xfrm>
          <a:prstGeom prst="rect">
            <a:avLst/>
          </a:prstGeom>
          <a:noFill/>
        </p:spPr>
        <p:txBody>
          <a:bodyPr wrap="square" lIns="0" tIns="0">
            <a:spAutoFit/>
          </a:bodyPr>
          <a:lstStyle/>
          <a:p>
            <a:pPr algn="ctr">
              <a:defRPr sz="950">
                <a:solidFill>
                  <a:srgbClr val="475569"/>
                </a:solidFill>
                <a:latin typeface="Segoe UI"/>
              </a:defRPr>
            </a:pPr>
            <a:r>
              <a:t>Hình 5. Byte/token qua các mức K (khoảng cách lớn giữa in-domain và cross-domain)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74320"/>
          </a:xfrm>
          <a:prstGeom prst="rect">
            <a:avLst/>
          </a:prstGeom>
          <a:noFill/>
        </p:spPr>
        <p:txBody>
          <a:bodyPr wrap="square" lIns="0" tIns="0" rIns="0" bIns="0">
            <a:spAutoFit/>
          </a:bodyPr>
          <a:lstStyle/>
          <a:p>
            <a:pPr>
              <a:defRPr sz="1000" b="1">
                <a:solidFill>
                  <a:srgbClr val="2563EB"/>
                </a:solidFill>
                <a:latin typeface="Segoe UI"/>
              </a:defRPr>
            </a:pPr>
            <a:r>
              <a:t>RQ3: ABLATION STUDY BPE</a:t>
            </a:r>
          </a:p>
        </p:txBody>
      </p:sp>
      <p:sp>
        <p:nvSpPr>
          <p:cNvPr id="4" name="TextBox 3"/>
          <p:cNvSpPr txBox="1"/>
          <p:nvPr/>
        </p:nvSpPr>
        <p:spPr>
          <a:xfrm>
            <a:off x="731520" y="621792"/>
            <a:ext cx="10728655" cy="502920"/>
          </a:xfrm>
          <a:prstGeom prst="rect">
            <a:avLst/>
          </a:prstGeom>
          <a:noFill/>
        </p:spPr>
        <p:txBody>
          <a:bodyPr wrap="square" lIns="0" tIns="0" rIns="0" bIns="0">
            <a:spAutoFit/>
          </a:bodyPr>
          <a:lstStyle/>
          <a:p>
            <a:pPr>
              <a:defRPr sz="2100" b="1">
                <a:solidFill>
                  <a:srgbClr val="0F172A"/>
                </a:solidFill>
                <a:latin typeface="Segoe UI"/>
              </a:defRPr>
            </a:pPr>
            <a:r>
              <a:t>Bóc Tách Đóng Góp Của Cấu Trúc Dữ Liệu Trong Huấn Luyện BPE</a:t>
            </a:r>
          </a:p>
        </p:txBody>
      </p:sp>
      <p:sp>
        <p:nvSpPr>
          <p:cNvPr id="5" name="TextBox 4"/>
          <p:cNvSpPr txBox="1"/>
          <p:nvPr/>
        </p:nvSpPr>
        <p:spPr>
          <a:xfrm>
            <a:off x="731520" y="1115568"/>
            <a:ext cx="10728655" cy="274320"/>
          </a:xfrm>
          <a:prstGeom prst="rect">
            <a:avLst/>
          </a:prstGeom>
          <a:noFill/>
        </p:spPr>
        <p:txBody>
          <a:bodyPr wrap="square" lIns="0" tIns="0" rIns="0" bIns="0">
            <a:spAutoFit/>
          </a:bodyPr>
          <a:lstStyle/>
          <a:p>
            <a:pPr>
              <a:defRPr sz="1150">
                <a:solidFill>
                  <a:srgbClr val="475569"/>
                </a:solidFill>
                <a:latin typeface="Segoe UI"/>
              </a:defRPr>
            </a:pPr>
            <a:r>
              <a:t>So sánh thực nghiệm 3 biến thể trên full corpus 1 MiB: Naive vs No-Heap vs Incremental Heap</a:t>
            </a:r>
          </a:p>
        </p:txBody>
      </p:sp>
      <p:sp>
        <p:nvSpPr>
          <p:cNvPr id="6" name="Rounded Rectangle 5"/>
          <p:cNvSpPr/>
          <p:nvPr/>
        </p:nvSpPr>
        <p:spPr>
          <a:xfrm>
            <a:off x="731520" y="150876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691640"/>
            <a:ext cx="4663440" cy="105156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783080"/>
            <a:ext cx="4389120" cy="868680"/>
          </a:xfrm>
          <a:prstGeom prst="rect">
            <a:avLst/>
          </a:prstGeom>
          <a:noFill/>
        </p:spPr>
        <p:txBody>
          <a:bodyPr wrap="square" lIns="0" tIns="0" rIns="0" bIns="0">
            <a:spAutoFit/>
          </a:bodyPr>
          <a:lstStyle/>
          <a:p>
            <a:pPr>
              <a:defRPr sz="2600" b="1">
                <a:solidFill>
                  <a:srgbClr val="16A34A"/>
                </a:solidFill>
                <a:latin typeface="Segoe UI"/>
              </a:defRPr>
            </a:pPr>
            <a:r>
              <a:t>104.72×</a:t>
            </a:r>
          </a:p>
          <a:p>
            <a:pPr>
              <a:spcBef>
                <a:spcPts val="300"/>
              </a:spcBef>
              <a:defRPr sz="1100" b="1">
                <a:solidFill>
                  <a:srgbClr val="0F172A"/>
                </a:solidFill>
                <a:latin typeface="Segoe UI"/>
              </a:defRPr>
            </a:pPr>
            <a:r>
              <a:t>Gia Tốc Huấn Luyện Tối Đa (Speedup của Inc so với Naive)</a:t>
            </a:r>
          </a:p>
          <a:p>
            <a:pPr>
              <a:defRPr sz="950">
                <a:solidFill>
                  <a:srgbClr val="475569"/>
                </a:solidFill>
                <a:latin typeface="Segoe UI"/>
              </a:defRPr>
            </a:pPr>
            <a:r>
              <a:t>Từ 78.3 giây (Naive) giảm xuống chỉ còn 0.75 giây (Inc) trên V1 K=3840!</a:t>
            </a:r>
          </a:p>
        </p:txBody>
      </p:sp>
      <p:sp>
        <p:nvSpPr>
          <p:cNvPr id="9" name="TextBox 8"/>
          <p:cNvSpPr txBox="1"/>
          <p:nvPr/>
        </p:nvSpPr>
        <p:spPr>
          <a:xfrm>
            <a:off x="960120" y="2880360"/>
            <a:ext cx="4663440" cy="320040"/>
          </a:xfrm>
          <a:prstGeom prst="rect">
            <a:avLst/>
          </a:prstGeom>
          <a:noFill/>
        </p:spPr>
        <p:txBody>
          <a:bodyPr wrap="none" lIns="0" tIns="0">
            <a:spAutoFit/>
          </a:bodyPr>
          <a:lstStyle/>
          <a:p>
            <a:pPr>
              <a:defRPr sz="1000" b="1">
                <a:solidFill>
                  <a:srgbClr val="1D4ED8"/>
                </a:solidFill>
                <a:latin typeface="Segoe UI"/>
              </a:defRPr>
            </a:pPr>
            <a:r>
              <a:t>Bảng VI. Thời gian huấn luyện (ms) &amp; Tỷ số gia tốc</a:t>
            </a:r>
          </a:p>
        </p:txBody>
      </p:sp>
      <p:graphicFrame>
        <p:nvGraphicFramePr>
          <p:cNvPr id="10" name="Table 9"/>
          <p:cNvGraphicFramePr>
            <a:graphicFrameLocks noGrp="1"/>
          </p:cNvGraphicFramePr>
          <p:nvPr/>
        </p:nvGraphicFramePr>
        <p:xfrm>
          <a:off x="960120" y="3154680"/>
          <a:ext cx="4663440" cy="1600200"/>
        </p:xfrm>
        <a:graphic>
          <a:graphicData uri="http://schemas.openxmlformats.org/drawingml/2006/table">
            <a:tbl>
              <a:tblPr firstRow="1" bandRow="1">
                <a:tableStyleId>{5C22544A-7EE6-4342-B048-85BDC9FD1C3A}</a:tableStyleId>
              </a:tblPr>
              <a:tblGrid>
                <a:gridCol w="548640"/>
                <a:gridCol w="548640"/>
                <a:gridCol w="914400"/>
                <a:gridCol w="914400"/>
                <a:gridCol w="822960"/>
                <a:gridCol w="914400"/>
              </a:tblGrid>
              <a:tr h="228600">
                <a:tc>
                  <a:txBody>
                    <a:bodyPr wrap="square" lIns="73152" rIns="73152"/>
                    <a:lstStyle/>
                    <a:p>
                      <a:pPr algn="ctr">
                        <a:defRPr sz="1000" b="1">
                          <a:solidFill>
                            <a:srgbClr val="FFFFFF"/>
                          </a:solidFill>
                          <a:latin typeface="Segoe UI"/>
                        </a:defRPr>
                      </a:pPr>
                      <a:r>
                        <a:t>Train</a:t>
                      </a:r>
                    </a:p>
                  </a:txBody>
                  <a:tcPr>
                    <a:solidFill>
                      <a:srgbClr val="1D4ED8"/>
                    </a:solidFill>
                  </a:tcPr>
                </a:tc>
                <a:tc>
                  <a:txBody>
                    <a:bodyPr wrap="square" lIns="73152" rIns="73152"/>
                    <a:lstStyle/>
                    <a:p>
                      <a:pPr algn="ctr">
                        <a:defRPr sz="1000" b="1">
                          <a:solidFill>
                            <a:srgbClr val="FFFFFF"/>
                          </a:solidFill>
                          <a:latin typeface="Segoe UI"/>
                        </a:defRPr>
                      </a:pPr>
                      <a:r>
                        <a:t>K</a:t>
                      </a:r>
                    </a:p>
                  </a:txBody>
                  <a:tcPr>
                    <a:solidFill>
                      <a:srgbClr val="1D4ED8"/>
                    </a:solidFill>
                  </a:tcPr>
                </a:tc>
                <a:tc>
                  <a:txBody>
                    <a:bodyPr wrap="square" lIns="73152" rIns="73152"/>
                    <a:lstStyle/>
                    <a:p>
                      <a:pPr algn="ctr">
                        <a:defRPr sz="1000" b="1">
                          <a:solidFill>
                            <a:srgbClr val="FFFFFF"/>
                          </a:solidFill>
                          <a:latin typeface="Segoe UI"/>
                        </a:defRPr>
                      </a:pPr>
                      <a:r>
                        <a:t>Naive ms</a:t>
                      </a:r>
                    </a:p>
                  </a:txBody>
                  <a:tcPr>
                    <a:solidFill>
                      <a:srgbClr val="1D4ED8"/>
                    </a:solidFill>
                  </a:tcPr>
                </a:tc>
                <a:tc>
                  <a:txBody>
                    <a:bodyPr wrap="square" lIns="73152" rIns="73152"/>
                    <a:lstStyle/>
                    <a:p>
                      <a:pPr algn="ctr">
                        <a:defRPr sz="1000" b="1">
                          <a:solidFill>
                            <a:srgbClr val="FFFFFF"/>
                          </a:solidFill>
                          <a:latin typeface="Segoe UI"/>
                        </a:defRPr>
                      </a:pPr>
                      <a:r>
                        <a:t>Noheap ms</a:t>
                      </a:r>
                    </a:p>
                  </a:txBody>
                  <a:tcPr>
                    <a:solidFill>
                      <a:srgbClr val="1D4ED8"/>
                    </a:solidFill>
                  </a:tcPr>
                </a:tc>
                <a:tc>
                  <a:txBody>
                    <a:bodyPr wrap="square" lIns="73152" rIns="73152"/>
                    <a:lstStyle/>
                    <a:p>
                      <a:pPr algn="ctr">
                        <a:defRPr sz="1000" b="1">
                          <a:solidFill>
                            <a:srgbClr val="FFFFFF"/>
                          </a:solidFill>
                          <a:latin typeface="Segoe UI"/>
                        </a:defRPr>
                      </a:pPr>
                      <a:r>
                        <a:t>Inc ms</a:t>
                      </a:r>
                    </a:p>
                  </a:txBody>
                  <a:tcPr>
                    <a:solidFill>
                      <a:srgbClr val="1D4ED8"/>
                    </a:solidFill>
                  </a:tcPr>
                </a:tc>
                <a:tc>
                  <a:txBody>
                    <a:bodyPr wrap="square" lIns="73152" rIns="73152"/>
                    <a:lstStyle/>
                    <a:p>
                      <a:pPr algn="ctr">
                        <a:defRPr sz="1000" b="1">
                          <a:solidFill>
                            <a:srgbClr val="FFFFFF"/>
                          </a:solidFill>
                          <a:latin typeface="Segoe UI"/>
                        </a:defRPr>
                      </a:pPr>
                      <a:r>
                        <a:t>Naive/Inc</a:t>
                      </a:r>
                    </a:p>
                  </a:txBody>
                  <a:tcPr>
                    <a:solidFill>
                      <a:srgbClr val="1D4ED8"/>
                    </a:solidFill>
                  </a:tcPr>
                </a:tc>
              </a:tr>
              <a:tr h="228600">
                <a:tc>
                  <a:txBody>
                    <a:bodyPr wrap="square" lIns="73152" rIns="73152" tIns="36576" bIns="36576"/>
                    <a:lstStyle/>
                    <a:p>
                      <a:pPr algn="l">
                        <a:defRPr sz="950">
                          <a:solidFill>
                            <a:srgbClr val="0F172A"/>
                          </a:solidFill>
                          <a:latin typeface="Segoe UI"/>
                        </a:defRPr>
                      </a:pPr>
                      <a:r>
                        <a:t>V1</a:t>
                      </a:r>
                    </a:p>
                  </a:txBody>
                  <a:tcPr>
                    <a:solidFill>
                      <a:srgbClr val="FFFFFF"/>
                    </a:solidFill>
                  </a:tcPr>
                </a:tc>
                <a:tc>
                  <a:txBody>
                    <a:bodyPr wrap="square" lIns="73152" rIns="73152" tIns="36576" bIns="36576"/>
                    <a:lstStyle/>
                    <a:p>
                      <a:pPr algn="ctr">
                        <a:defRPr sz="950">
                          <a:solidFill>
                            <a:srgbClr val="0F172A"/>
                          </a:solidFill>
                          <a:latin typeface="Segoe UI"/>
                        </a:defRPr>
                      </a:pPr>
                      <a:r>
                        <a:t>256</a:t>
                      </a:r>
                    </a:p>
                  </a:txBody>
                  <a:tcPr>
                    <a:solidFill>
                      <a:srgbClr val="FFFFFF"/>
                    </a:solidFill>
                  </a:tcPr>
                </a:tc>
                <a:tc>
                  <a:txBody>
                    <a:bodyPr wrap="square" lIns="73152" rIns="73152" tIns="36576" bIns="36576"/>
                    <a:lstStyle/>
                    <a:p>
                      <a:pPr algn="ctr">
                        <a:defRPr sz="950">
                          <a:solidFill>
                            <a:srgbClr val="0F172A"/>
                          </a:solidFill>
                          <a:latin typeface="Segoe UI"/>
                        </a:defRPr>
                      </a:pPr>
                      <a:r>
                        <a:t>11,265</a:t>
                      </a:r>
                    </a:p>
                  </a:txBody>
                  <a:tcPr>
                    <a:solidFill>
                      <a:srgbClr val="FFFFFF"/>
                    </a:solidFill>
                  </a:tcPr>
                </a:tc>
                <a:tc>
                  <a:txBody>
                    <a:bodyPr wrap="square" lIns="73152" rIns="73152" tIns="36576" bIns="36576"/>
                    <a:lstStyle/>
                    <a:p>
                      <a:pPr algn="ctr">
                        <a:defRPr sz="950">
                          <a:solidFill>
                            <a:srgbClr val="0F172A"/>
                          </a:solidFill>
                          <a:latin typeface="Segoe UI"/>
                        </a:defRPr>
                      </a:pPr>
                      <a:r>
                        <a:t>785</a:t>
                      </a:r>
                    </a:p>
                  </a:txBody>
                  <a:tcPr>
                    <a:solidFill>
                      <a:srgbClr val="FFFFFF"/>
                    </a:solidFill>
                  </a:tcPr>
                </a:tc>
                <a:tc>
                  <a:txBody>
                    <a:bodyPr wrap="square" lIns="73152" rIns="73152" tIns="36576" bIns="36576"/>
                    <a:lstStyle/>
                    <a:p>
                      <a:pPr algn="ctr">
                        <a:defRPr sz="950">
                          <a:solidFill>
                            <a:srgbClr val="0F172A"/>
                          </a:solidFill>
                          <a:latin typeface="Segoe UI"/>
                        </a:defRPr>
                      </a:pPr>
                      <a:r>
                        <a:t>272</a:t>
                      </a:r>
                    </a:p>
                  </a:txBody>
                  <a:tcPr>
                    <a:solidFill>
                      <a:srgbClr val="FFFFFF"/>
                    </a:solidFill>
                  </a:tcPr>
                </a:tc>
                <a:tc>
                  <a:txBody>
                    <a:bodyPr wrap="square" lIns="73152" rIns="73152" tIns="36576" bIns="36576"/>
                    <a:lstStyle/>
                    <a:p>
                      <a:pPr algn="ctr">
                        <a:defRPr sz="950">
                          <a:solidFill>
                            <a:srgbClr val="0F172A"/>
                          </a:solidFill>
                          <a:latin typeface="Segoe UI"/>
                        </a:defRPr>
                      </a:pPr>
                      <a:r>
                        <a:t>41.40×</a:t>
                      </a:r>
                    </a:p>
                  </a:txBody>
                  <a:tcPr>
                    <a:solidFill>
                      <a:srgbClr val="FFFFFF"/>
                    </a:solidFill>
                  </a:tcPr>
                </a:tc>
              </a:tr>
              <a:tr h="228600">
                <a:tc>
                  <a:txBody>
                    <a:bodyPr wrap="square" lIns="73152" rIns="73152" tIns="36576" bIns="36576"/>
                    <a:lstStyle/>
                    <a:p>
                      <a:pPr algn="l">
                        <a:defRPr sz="950">
                          <a:solidFill>
                            <a:srgbClr val="0F172A"/>
                          </a:solidFill>
                          <a:latin typeface="Segoe UI"/>
                        </a:defRPr>
                      </a:pPr>
                      <a:r>
                        <a:t>V1</a:t>
                      </a:r>
                    </a:p>
                  </a:txBody>
                  <a:tcPr>
                    <a:solidFill>
                      <a:srgbClr val="F1F5F9"/>
                    </a:solidFill>
                  </a:tcPr>
                </a:tc>
                <a:tc>
                  <a:txBody>
                    <a:bodyPr wrap="square" lIns="73152" rIns="73152" tIns="36576" bIns="36576"/>
                    <a:lstStyle/>
                    <a:p>
                      <a:pPr algn="ctr">
                        <a:defRPr sz="950">
                          <a:solidFill>
                            <a:srgbClr val="0F172A"/>
                          </a:solidFill>
                          <a:latin typeface="Segoe UI"/>
                        </a:defRPr>
                      </a:pPr>
                      <a:r>
                        <a:t>1024</a:t>
                      </a:r>
                    </a:p>
                  </a:txBody>
                  <a:tcPr>
                    <a:solidFill>
                      <a:srgbClr val="F1F5F9"/>
                    </a:solidFill>
                  </a:tcPr>
                </a:tc>
                <a:tc>
                  <a:txBody>
                    <a:bodyPr wrap="square" lIns="73152" rIns="73152" tIns="36576" bIns="36576"/>
                    <a:lstStyle/>
                    <a:p>
                      <a:pPr algn="ctr">
                        <a:defRPr sz="950">
                          <a:solidFill>
                            <a:srgbClr val="0F172A"/>
                          </a:solidFill>
                          <a:latin typeface="Segoe UI"/>
                        </a:defRPr>
                      </a:pPr>
                      <a:r>
                        <a:t>22,819</a:t>
                      </a:r>
                    </a:p>
                  </a:txBody>
                  <a:tcPr>
                    <a:solidFill>
                      <a:srgbClr val="F1F5F9"/>
                    </a:solidFill>
                  </a:tcPr>
                </a:tc>
                <a:tc>
                  <a:txBody>
                    <a:bodyPr wrap="square" lIns="73152" rIns="73152" tIns="36576" bIns="36576"/>
                    <a:lstStyle/>
                    <a:p>
                      <a:pPr algn="ctr">
                        <a:defRPr sz="950">
                          <a:solidFill>
                            <a:srgbClr val="0F172A"/>
                          </a:solidFill>
                          <a:latin typeface="Segoe UI"/>
                        </a:defRPr>
                      </a:pPr>
                      <a:r>
                        <a:t>2,543</a:t>
                      </a:r>
                    </a:p>
                  </a:txBody>
                  <a:tcPr>
                    <a:solidFill>
                      <a:srgbClr val="F1F5F9"/>
                    </a:solidFill>
                  </a:tcPr>
                </a:tc>
                <a:tc>
                  <a:txBody>
                    <a:bodyPr wrap="square" lIns="73152" rIns="73152" tIns="36576" bIns="36576"/>
                    <a:lstStyle/>
                    <a:p>
                      <a:pPr algn="ctr">
                        <a:defRPr sz="950">
                          <a:solidFill>
                            <a:srgbClr val="0F172A"/>
                          </a:solidFill>
                          <a:latin typeface="Segoe UI"/>
                        </a:defRPr>
                      </a:pPr>
                      <a:r>
                        <a:t>687</a:t>
                      </a:r>
                    </a:p>
                  </a:txBody>
                  <a:tcPr>
                    <a:solidFill>
                      <a:srgbClr val="F1F5F9"/>
                    </a:solidFill>
                  </a:tcPr>
                </a:tc>
                <a:tc>
                  <a:txBody>
                    <a:bodyPr wrap="square" lIns="73152" rIns="73152" tIns="36576" bIns="36576"/>
                    <a:lstStyle/>
                    <a:p>
                      <a:pPr algn="ctr">
                        <a:defRPr sz="950">
                          <a:solidFill>
                            <a:srgbClr val="0F172A"/>
                          </a:solidFill>
                          <a:latin typeface="Segoe UI"/>
                        </a:defRPr>
                      </a:pPr>
                      <a:r>
                        <a:t>33.20×</a:t>
                      </a:r>
                    </a:p>
                  </a:txBody>
                  <a:tcPr>
                    <a:solidFill>
                      <a:srgbClr val="F1F5F9"/>
                    </a:solidFill>
                  </a:tcPr>
                </a:tc>
              </a:tr>
              <a:tr h="228600">
                <a:tc>
                  <a:txBody>
                    <a:bodyPr wrap="square" lIns="73152" rIns="73152" tIns="36576" bIns="36576"/>
                    <a:lstStyle/>
                    <a:p>
                      <a:pPr algn="l">
                        <a:defRPr sz="950">
                          <a:solidFill>
                            <a:srgbClr val="0F172A"/>
                          </a:solidFill>
                          <a:latin typeface="Segoe UI"/>
                        </a:defRPr>
                      </a:pPr>
                      <a:r>
                        <a:t>V1</a:t>
                      </a:r>
                    </a:p>
                  </a:txBody>
                  <a:tcPr>
                    <a:solidFill>
                      <a:srgbClr val="FEF3C7"/>
                    </a:solidFill>
                  </a:tcPr>
                </a:tc>
                <a:tc>
                  <a:txBody>
                    <a:bodyPr wrap="square" lIns="73152" rIns="73152" tIns="36576" bIns="36576"/>
                    <a:lstStyle/>
                    <a:p>
                      <a:pPr algn="ctr">
                        <a:defRPr sz="950">
                          <a:solidFill>
                            <a:srgbClr val="0F172A"/>
                          </a:solidFill>
                          <a:latin typeface="Segoe UI"/>
                        </a:defRPr>
                      </a:pPr>
                      <a:r>
                        <a:t>3840</a:t>
                      </a:r>
                    </a:p>
                  </a:txBody>
                  <a:tcPr>
                    <a:solidFill>
                      <a:srgbClr val="FEF3C7"/>
                    </a:solidFill>
                  </a:tcPr>
                </a:tc>
                <a:tc>
                  <a:txBody>
                    <a:bodyPr wrap="square" lIns="73152" rIns="73152" tIns="36576" bIns="36576"/>
                    <a:lstStyle/>
                    <a:p>
                      <a:pPr algn="ctr">
                        <a:defRPr sz="950">
                          <a:solidFill>
                            <a:srgbClr val="0F172A"/>
                          </a:solidFill>
                          <a:latin typeface="Segoe UI"/>
                        </a:defRPr>
                      </a:pPr>
                      <a:r>
                        <a:t>78,275</a:t>
                      </a:r>
                    </a:p>
                  </a:txBody>
                  <a:tcPr>
                    <a:solidFill>
                      <a:srgbClr val="FEF3C7"/>
                    </a:solidFill>
                  </a:tcPr>
                </a:tc>
                <a:tc>
                  <a:txBody>
                    <a:bodyPr wrap="square" lIns="73152" rIns="73152" tIns="36576" bIns="36576"/>
                    <a:lstStyle/>
                    <a:p>
                      <a:pPr algn="ctr">
                        <a:defRPr sz="950">
                          <a:solidFill>
                            <a:srgbClr val="0F172A"/>
                          </a:solidFill>
                          <a:latin typeface="Segoe UI"/>
                        </a:defRPr>
                      </a:pPr>
                      <a:r>
                        <a:t>12,749</a:t>
                      </a:r>
                    </a:p>
                  </a:txBody>
                  <a:tcPr>
                    <a:solidFill>
                      <a:srgbClr val="FEF3C7"/>
                    </a:solidFill>
                  </a:tcPr>
                </a:tc>
                <a:tc>
                  <a:txBody>
                    <a:bodyPr wrap="square" lIns="73152" rIns="73152" tIns="36576" bIns="36576"/>
                    <a:lstStyle/>
                    <a:p>
                      <a:pPr algn="ctr">
                        <a:defRPr sz="950">
                          <a:solidFill>
                            <a:srgbClr val="0F172A"/>
                          </a:solidFill>
                          <a:latin typeface="Segoe UI"/>
                        </a:defRPr>
                      </a:pPr>
                      <a:r>
                        <a:t>748</a:t>
                      </a:r>
                    </a:p>
                  </a:txBody>
                  <a:tcPr>
                    <a:solidFill>
                      <a:srgbClr val="FEF3C7"/>
                    </a:solidFill>
                  </a:tcPr>
                </a:tc>
                <a:tc>
                  <a:txBody>
                    <a:bodyPr wrap="square" lIns="73152" rIns="73152" tIns="36576" bIns="36576"/>
                    <a:lstStyle/>
                    <a:p>
                      <a:pPr algn="ctr">
                        <a:defRPr sz="950">
                          <a:solidFill>
                            <a:srgbClr val="0F172A"/>
                          </a:solidFill>
                          <a:latin typeface="Segoe UI"/>
                        </a:defRPr>
                      </a:pPr>
                      <a:r>
                        <a:t>104.72×</a:t>
                      </a:r>
                    </a:p>
                  </a:txBody>
                  <a:tcPr>
                    <a:solidFill>
                      <a:srgbClr val="FEF3C7"/>
                    </a:solidFill>
                  </a:tcPr>
                </a:tc>
              </a:tr>
              <a:tr h="228600">
                <a:tc>
                  <a:txBody>
                    <a:bodyPr wrap="square" lIns="73152" rIns="73152" tIns="36576" bIns="36576"/>
                    <a:lstStyle/>
                    <a:p>
                      <a:pPr algn="l">
                        <a:defRPr sz="950">
                          <a:solidFill>
                            <a:srgbClr val="0F172A"/>
                          </a:solidFill>
                          <a:latin typeface="Segoe UI"/>
                        </a:defRPr>
                      </a:pPr>
                      <a:r>
                        <a:t>E1</a:t>
                      </a:r>
                    </a:p>
                  </a:txBody>
                  <a:tcPr>
                    <a:solidFill>
                      <a:srgbClr val="F1F5F9"/>
                    </a:solidFill>
                  </a:tcPr>
                </a:tc>
                <a:tc>
                  <a:txBody>
                    <a:bodyPr wrap="square" lIns="73152" rIns="73152" tIns="36576" bIns="36576"/>
                    <a:lstStyle/>
                    <a:p>
                      <a:pPr algn="ctr">
                        <a:defRPr sz="950">
                          <a:solidFill>
                            <a:srgbClr val="0F172A"/>
                          </a:solidFill>
                          <a:latin typeface="Segoe UI"/>
                        </a:defRPr>
                      </a:pPr>
                      <a:r>
                        <a:t>256</a:t>
                      </a:r>
                    </a:p>
                  </a:txBody>
                  <a:tcPr>
                    <a:solidFill>
                      <a:srgbClr val="F1F5F9"/>
                    </a:solidFill>
                  </a:tcPr>
                </a:tc>
                <a:tc>
                  <a:txBody>
                    <a:bodyPr wrap="square" lIns="73152" rIns="73152" tIns="36576" bIns="36576"/>
                    <a:lstStyle/>
                    <a:p>
                      <a:pPr algn="ctr">
                        <a:defRPr sz="950">
                          <a:solidFill>
                            <a:srgbClr val="0F172A"/>
                          </a:solidFill>
                          <a:latin typeface="Segoe UI"/>
                        </a:defRPr>
                      </a:pPr>
                      <a:r>
                        <a:t>29,448</a:t>
                      </a:r>
                    </a:p>
                  </a:txBody>
                  <a:tcPr>
                    <a:solidFill>
                      <a:srgbClr val="F1F5F9"/>
                    </a:solidFill>
                  </a:tcPr>
                </a:tc>
                <a:tc>
                  <a:txBody>
                    <a:bodyPr wrap="square" lIns="73152" rIns="73152" tIns="36576" bIns="36576"/>
                    <a:lstStyle/>
                    <a:p>
                      <a:pPr algn="ctr">
                        <a:defRPr sz="950">
                          <a:solidFill>
                            <a:srgbClr val="0F172A"/>
                          </a:solidFill>
                          <a:latin typeface="Segoe UI"/>
                        </a:defRPr>
                      </a:pPr>
                      <a:r>
                        <a:t>2,196</a:t>
                      </a:r>
                    </a:p>
                  </a:txBody>
                  <a:tcPr>
                    <a:solidFill>
                      <a:srgbClr val="F1F5F9"/>
                    </a:solidFill>
                  </a:tcPr>
                </a:tc>
                <a:tc>
                  <a:txBody>
                    <a:bodyPr wrap="square" lIns="73152" rIns="73152" tIns="36576" bIns="36576"/>
                    <a:lstStyle/>
                    <a:p>
                      <a:pPr algn="ctr">
                        <a:defRPr sz="950">
                          <a:solidFill>
                            <a:srgbClr val="0F172A"/>
                          </a:solidFill>
                          <a:latin typeface="Segoe UI"/>
                        </a:defRPr>
                      </a:pPr>
                      <a:r>
                        <a:t>1,658</a:t>
                      </a:r>
                    </a:p>
                  </a:txBody>
                  <a:tcPr>
                    <a:solidFill>
                      <a:srgbClr val="F1F5F9"/>
                    </a:solidFill>
                  </a:tcPr>
                </a:tc>
                <a:tc>
                  <a:txBody>
                    <a:bodyPr wrap="square" lIns="73152" rIns="73152" tIns="36576" bIns="36576"/>
                    <a:lstStyle/>
                    <a:p>
                      <a:pPr algn="ctr">
                        <a:defRPr sz="950">
                          <a:solidFill>
                            <a:srgbClr val="0F172A"/>
                          </a:solidFill>
                          <a:latin typeface="Segoe UI"/>
                        </a:defRPr>
                      </a:pPr>
                      <a:r>
                        <a:t>17.76×</a:t>
                      </a:r>
                    </a:p>
                  </a:txBody>
                  <a:tcPr>
                    <a:solidFill>
                      <a:srgbClr val="F1F5F9"/>
                    </a:solidFill>
                  </a:tcPr>
                </a:tc>
              </a:tr>
              <a:tr h="228600">
                <a:tc>
                  <a:txBody>
                    <a:bodyPr wrap="square" lIns="73152" rIns="73152" tIns="36576" bIns="36576"/>
                    <a:lstStyle/>
                    <a:p>
                      <a:pPr algn="l">
                        <a:defRPr sz="950">
                          <a:solidFill>
                            <a:srgbClr val="0F172A"/>
                          </a:solidFill>
                          <a:latin typeface="Segoe UI"/>
                        </a:defRPr>
                      </a:pPr>
                      <a:r>
                        <a:t>E1</a:t>
                      </a:r>
                    </a:p>
                  </a:txBody>
                  <a:tcPr>
                    <a:solidFill>
                      <a:srgbClr val="FFFFFF"/>
                    </a:solidFill>
                  </a:tcPr>
                </a:tc>
                <a:tc>
                  <a:txBody>
                    <a:bodyPr wrap="square" lIns="73152" rIns="73152" tIns="36576" bIns="36576"/>
                    <a:lstStyle/>
                    <a:p>
                      <a:pPr algn="ctr">
                        <a:defRPr sz="950">
                          <a:solidFill>
                            <a:srgbClr val="0F172A"/>
                          </a:solidFill>
                          <a:latin typeface="Segoe UI"/>
                        </a:defRPr>
                      </a:pPr>
                      <a:r>
                        <a:t>1024</a:t>
                      </a:r>
                    </a:p>
                  </a:txBody>
                  <a:tcPr>
                    <a:solidFill>
                      <a:srgbClr val="FFFFFF"/>
                    </a:solidFill>
                  </a:tcPr>
                </a:tc>
                <a:tc>
                  <a:txBody>
                    <a:bodyPr wrap="square" lIns="73152" rIns="73152" tIns="36576" bIns="36576"/>
                    <a:lstStyle/>
                    <a:p>
                      <a:pPr algn="ctr">
                        <a:defRPr sz="950">
                          <a:solidFill>
                            <a:srgbClr val="0F172A"/>
                          </a:solidFill>
                          <a:latin typeface="Segoe UI"/>
                        </a:defRPr>
                      </a:pPr>
                      <a:r>
                        <a:t>56,808</a:t>
                      </a:r>
                    </a:p>
                  </a:txBody>
                  <a:tcPr>
                    <a:solidFill>
                      <a:srgbClr val="FFFFFF"/>
                    </a:solidFill>
                  </a:tcPr>
                </a:tc>
                <a:tc>
                  <a:txBody>
                    <a:bodyPr wrap="square" lIns="73152" rIns="73152" tIns="36576" bIns="36576"/>
                    <a:lstStyle/>
                    <a:p>
                      <a:pPr algn="ctr">
                        <a:defRPr sz="950">
                          <a:solidFill>
                            <a:srgbClr val="0F172A"/>
                          </a:solidFill>
                          <a:latin typeface="Segoe UI"/>
                        </a:defRPr>
                      </a:pPr>
                      <a:r>
                        <a:t>6,712</a:t>
                      </a:r>
                    </a:p>
                  </a:txBody>
                  <a:tcPr>
                    <a:solidFill>
                      <a:srgbClr val="FFFFFF"/>
                    </a:solidFill>
                  </a:tcPr>
                </a:tc>
                <a:tc>
                  <a:txBody>
                    <a:bodyPr wrap="square" lIns="73152" rIns="73152" tIns="36576" bIns="36576"/>
                    <a:lstStyle/>
                    <a:p>
                      <a:pPr algn="ctr">
                        <a:defRPr sz="950">
                          <a:solidFill>
                            <a:srgbClr val="0F172A"/>
                          </a:solidFill>
                          <a:latin typeface="Segoe UI"/>
                        </a:defRPr>
                      </a:pPr>
                      <a:r>
                        <a:t>1,888</a:t>
                      </a:r>
                    </a:p>
                  </a:txBody>
                  <a:tcPr>
                    <a:solidFill>
                      <a:srgbClr val="FFFFFF"/>
                    </a:solidFill>
                  </a:tcPr>
                </a:tc>
                <a:tc>
                  <a:txBody>
                    <a:bodyPr wrap="square" lIns="73152" rIns="73152" tIns="36576" bIns="36576"/>
                    <a:lstStyle/>
                    <a:p>
                      <a:pPr algn="ctr">
                        <a:defRPr sz="950">
                          <a:solidFill>
                            <a:srgbClr val="0F172A"/>
                          </a:solidFill>
                          <a:latin typeface="Segoe UI"/>
                        </a:defRPr>
                      </a:pPr>
                      <a:r>
                        <a:t>30.09×</a:t>
                      </a:r>
                    </a:p>
                  </a:txBody>
                  <a:tcPr>
                    <a:solidFill>
                      <a:srgbClr val="FFFFFF"/>
                    </a:solidFill>
                  </a:tcPr>
                </a:tc>
              </a:tr>
              <a:tr h="228600">
                <a:tc>
                  <a:txBody>
                    <a:bodyPr wrap="square" lIns="73152" rIns="73152" tIns="36576" bIns="36576"/>
                    <a:lstStyle/>
                    <a:p>
                      <a:pPr algn="l">
                        <a:defRPr sz="950">
                          <a:solidFill>
                            <a:srgbClr val="0F172A"/>
                          </a:solidFill>
                          <a:latin typeface="Segoe UI"/>
                        </a:defRPr>
                      </a:pPr>
                      <a:r>
                        <a:t>E1</a:t>
                      </a:r>
                    </a:p>
                  </a:txBody>
                  <a:tcPr>
                    <a:solidFill>
                      <a:srgbClr val="F1F5F9"/>
                    </a:solidFill>
                  </a:tcPr>
                </a:tc>
                <a:tc>
                  <a:txBody>
                    <a:bodyPr wrap="square" lIns="73152" rIns="73152" tIns="36576" bIns="36576"/>
                    <a:lstStyle/>
                    <a:p>
                      <a:pPr algn="ctr">
                        <a:defRPr sz="950">
                          <a:solidFill>
                            <a:srgbClr val="0F172A"/>
                          </a:solidFill>
                          <a:latin typeface="Segoe UI"/>
                        </a:defRPr>
                      </a:pPr>
                      <a:r>
                        <a:t>3840</a:t>
                      </a:r>
                    </a:p>
                  </a:txBody>
                  <a:tcPr>
                    <a:solidFill>
                      <a:srgbClr val="F1F5F9"/>
                    </a:solidFill>
                  </a:tcPr>
                </a:tc>
                <a:tc>
                  <a:txBody>
                    <a:bodyPr wrap="square" lIns="73152" rIns="73152" tIns="36576" bIns="36576"/>
                    <a:lstStyle/>
                    <a:p>
                      <a:pPr algn="ctr">
                        <a:defRPr sz="950">
                          <a:solidFill>
                            <a:srgbClr val="0F172A"/>
                          </a:solidFill>
                          <a:latin typeface="Segoe UI"/>
                        </a:defRPr>
                      </a:pPr>
                      <a:r>
                        <a:t>193,328</a:t>
                      </a:r>
                    </a:p>
                  </a:txBody>
                  <a:tcPr>
                    <a:solidFill>
                      <a:srgbClr val="F1F5F9"/>
                    </a:solidFill>
                  </a:tcPr>
                </a:tc>
                <a:tc>
                  <a:txBody>
                    <a:bodyPr wrap="square" lIns="73152" rIns="73152" tIns="36576" bIns="36576"/>
                    <a:lstStyle/>
                    <a:p>
                      <a:pPr algn="ctr">
                        <a:defRPr sz="950">
                          <a:solidFill>
                            <a:srgbClr val="0F172A"/>
                          </a:solidFill>
                          <a:latin typeface="Segoe UI"/>
                        </a:defRPr>
                      </a:pPr>
                      <a:r>
                        <a:t>24,235</a:t>
                      </a:r>
                    </a:p>
                  </a:txBody>
                  <a:tcPr>
                    <a:solidFill>
                      <a:srgbClr val="F1F5F9"/>
                    </a:solidFill>
                  </a:tcPr>
                </a:tc>
                <a:tc>
                  <a:txBody>
                    <a:bodyPr wrap="square" lIns="73152" rIns="73152" tIns="36576" bIns="36576"/>
                    <a:lstStyle/>
                    <a:p>
                      <a:pPr algn="ctr">
                        <a:defRPr sz="950">
                          <a:solidFill>
                            <a:srgbClr val="0F172A"/>
                          </a:solidFill>
                          <a:latin typeface="Segoe UI"/>
                        </a:defRPr>
                      </a:pPr>
                      <a:r>
                        <a:t>2,248</a:t>
                      </a:r>
                    </a:p>
                  </a:txBody>
                  <a:tcPr>
                    <a:solidFill>
                      <a:srgbClr val="F1F5F9"/>
                    </a:solidFill>
                  </a:tcPr>
                </a:tc>
                <a:tc>
                  <a:txBody>
                    <a:bodyPr wrap="square" lIns="73152" rIns="73152" tIns="36576" bIns="36576"/>
                    <a:lstStyle/>
                    <a:p>
                      <a:pPr algn="ctr">
                        <a:defRPr sz="950">
                          <a:solidFill>
                            <a:srgbClr val="0F172A"/>
                          </a:solidFill>
                          <a:latin typeface="Segoe UI"/>
                        </a:defRPr>
                      </a:pPr>
                      <a:r>
                        <a:t>86.02×</a:t>
                      </a:r>
                    </a:p>
                  </a:txBody>
                  <a:tcPr>
                    <a:solidFill>
                      <a:srgbClr val="F1F5F9"/>
                    </a:solidFill>
                  </a:tcPr>
                </a:tc>
              </a:tr>
            </a:tbl>
          </a:graphicData>
        </a:graphic>
      </p:graphicFrame>
      <p:sp>
        <p:nvSpPr>
          <p:cNvPr id="11" name="TextBox 10"/>
          <p:cNvSpPr txBox="1"/>
          <p:nvPr/>
        </p:nvSpPr>
        <p:spPr>
          <a:xfrm>
            <a:off x="960120" y="4892040"/>
            <a:ext cx="4663440" cy="1371600"/>
          </a:xfrm>
          <a:prstGeom prst="rect">
            <a:avLst/>
          </a:prstGeom>
          <a:noFill/>
        </p:spPr>
        <p:txBody>
          <a:bodyPr wrap="square" lIns="0" tIns="0">
            <a:spAutoFit/>
          </a:bodyPr>
          <a:lstStyle/>
          <a:p/>
          <a:p>
            <a:pPr>
              <a:spcBef>
                <a:spcPts val="200"/>
              </a:spcBef>
              <a:defRPr sz="950">
                <a:solidFill>
                  <a:srgbClr val="0F172A"/>
                </a:solidFill>
                <a:latin typeface="Segoe UI"/>
              </a:defRPr>
            </a:pPr>
            <a:r>
              <a:t>• Noheap vs Naive: Cập nhật liên kết cục bộ giúp nhanh hơn 6x – 8x nhờ loại bỏ việc quét lại toàn bộ dữ liệu.</a:t>
            </a:r>
          </a:p>
          <a:p>
            <a:pPr>
              <a:spcBef>
                <a:spcPts val="200"/>
              </a:spcBef>
              <a:defRPr sz="950">
                <a:solidFill>
                  <a:srgbClr val="0F172A"/>
                </a:solidFill>
                <a:latin typeface="Segoe UI"/>
              </a:defRPr>
            </a:pPr>
            <a:r>
              <a:t>• Inc vs Noheap: Max-Heap với Lazy Deletion giúp nhanh hơn tiếp 2.8x – 17.1x nhờ lấy cực đại trong O(1) thay vì O(Pₜ).</a:t>
            </a:r>
          </a:p>
        </p:txBody>
      </p:sp>
      <p:sp>
        <p:nvSpPr>
          <p:cNvPr id="12" name="Rounded Rectangle 11"/>
          <p:cNvSpPr/>
          <p:nvPr/>
        </p:nvSpPr>
        <p:spPr>
          <a:xfrm>
            <a:off x="6126480" y="1508760"/>
            <a:ext cx="533369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q3_train_ms.png"/>
          <p:cNvPicPr>
            <a:picLocks noChangeAspect="1"/>
          </p:cNvPicPr>
          <p:nvPr/>
        </p:nvPicPr>
        <p:blipFill>
          <a:blip r:embed="rId2"/>
          <a:stretch>
            <a:fillRect/>
          </a:stretch>
        </p:blipFill>
        <p:spPr>
          <a:xfrm>
            <a:off x="6309360" y="2011680"/>
            <a:ext cx="4937760" cy="2560320"/>
          </a:xfrm>
          <a:prstGeom prst="rect">
            <a:avLst/>
          </a:prstGeom>
        </p:spPr>
      </p:pic>
      <p:sp>
        <p:nvSpPr>
          <p:cNvPr id="14" name="TextBox 13"/>
          <p:cNvSpPr txBox="1"/>
          <p:nvPr/>
        </p:nvSpPr>
        <p:spPr>
          <a:xfrm>
            <a:off x="6217920" y="4937760"/>
            <a:ext cx="5120640" cy="1188720"/>
          </a:xfrm>
          <a:prstGeom prst="rect">
            <a:avLst/>
          </a:prstGeom>
          <a:noFill/>
        </p:spPr>
        <p:txBody>
          <a:bodyPr wrap="square" lIns="0" tIns="0">
            <a:spAutoFit/>
          </a:bodyPr>
          <a:lstStyle/>
          <a:p>
            <a:pPr algn="ctr">
              <a:defRPr sz="950">
                <a:solidFill>
                  <a:srgbClr val="475569"/>
                </a:solidFill>
                <a:latin typeface="Segoe UI"/>
              </a:defRPr>
            </a:pPr>
            <a:r>
              <a:t>Hình 6. Thời gian huấn luyện trên trục logarit (Inc duy trì tốc độ dưới 2.5s ở mọi mức K)</a:t>
            </a:r>
          </a:p>
          <a:p>
            <a:pPr>
              <a:spcBef>
                <a:spcPts val="400"/>
              </a:spcBef>
              <a:defRPr sz="950" b="1">
                <a:solidFill>
                  <a:srgbClr val="1D4ED8"/>
                </a:solidFill>
                <a:latin typeface="Segoe UI"/>
              </a:defRPr>
            </a:pPr>
            <a:r>
              <a:t>Kết luận: Cấu trúc dữ liệu Max-Heap và cơ chế cập nhật cục bộ triệt tiêu hoàn toàn nút thắt O(N · K), biến BPE thành giải thuật khả thi trên thực tế.</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74320"/>
          </a:xfrm>
          <a:prstGeom prst="rect">
            <a:avLst/>
          </a:prstGeom>
          <a:noFill/>
        </p:spPr>
        <p:txBody>
          <a:bodyPr wrap="square" lIns="0" tIns="0" rIns="0" bIns="0">
            <a:spAutoFit/>
          </a:bodyPr>
          <a:lstStyle/>
          <a:p>
            <a:pPr>
              <a:defRPr sz="1000" b="1">
                <a:solidFill>
                  <a:srgbClr val="2563EB"/>
                </a:solidFill>
                <a:latin typeface="Segoe UI"/>
              </a:defRPr>
            </a:pPr>
            <a:r>
              <a:t>PHÂN TÍCH SÂU: TÍNH HỢP LỆ (THREATS TO VALIDITY)</a:t>
            </a:r>
          </a:p>
        </p:txBody>
      </p:sp>
      <p:sp>
        <p:nvSpPr>
          <p:cNvPr id="4" name="TextBox 3"/>
          <p:cNvSpPr txBox="1"/>
          <p:nvPr/>
        </p:nvSpPr>
        <p:spPr>
          <a:xfrm>
            <a:off x="731520" y="621792"/>
            <a:ext cx="10728655" cy="502920"/>
          </a:xfrm>
          <a:prstGeom prst="rect">
            <a:avLst/>
          </a:prstGeom>
          <a:noFill/>
        </p:spPr>
        <p:txBody>
          <a:bodyPr wrap="square" lIns="0" tIns="0" rIns="0" bIns="0">
            <a:spAutoFit/>
          </a:bodyPr>
          <a:lstStyle/>
          <a:p>
            <a:pPr>
              <a:defRPr sz="2100" b="1">
                <a:solidFill>
                  <a:srgbClr val="0F172A"/>
                </a:solidFill>
                <a:latin typeface="Segoe UI"/>
              </a:defRPr>
            </a:pPr>
            <a:r>
              <a:t>Đánh Đổi Bộ Nhớ Huấn Luyện &amp; Nhiễu Dọn Rác (GC Drift) CPython</a:t>
            </a:r>
          </a:p>
        </p:txBody>
      </p:sp>
      <p:sp>
        <p:nvSpPr>
          <p:cNvPr id="5" name="TextBox 4"/>
          <p:cNvSpPr txBox="1"/>
          <p:nvPr/>
        </p:nvSpPr>
        <p:spPr>
          <a:xfrm>
            <a:off x="731520" y="1115568"/>
            <a:ext cx="10728655" cy="274320"/>
          </a:xfrm>
          <a:prstGeom prst="rect">
            <a:avLst/>
          </a:prstGeom>
          <a:noFill/>
        </p:spPr>
        <p:txBody>
          <a:bodyPr wrap="square" lIns="0" tIns="0" rIns="0" bIns="0">
            <a:spAutoFit/>
          </a:bodyPr>
          <a:lstStyle/>
          <a:p>
            <a:pPr>
              <a:defRPr sz="1150">
                <a:solidFill>
                  <a:srgbClr val="475569"/>
                </a:solidFill>
                <a:latin typeface="Segoe UI"/>
              </a:defRPr>
            </a:pPr>
            <a:r>
              <a:t>Chẩn đoán hiện tượng sai lệch 2x thời gian đo và tầm quan trọng của việc cô lập tiến trình</a:t>
            </a:r>
          </a:p>
        </p:txBody>
      </p:sp>
      <p:sp>
        <p:nvSpPr>
          <p:cNvPr id="6" name="Rounded Rectangle 5"/>
          <p:cNvSpPr/>
          <p:nvPr/>
        </p:nvSpPr>
        <p:spPr>
          <a:xfrm>
            <a:off x="731520" y="150876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4754880" cy="320040"/>
          </a:xfrm>
          <a:prstGeom prst="rect">
            <a:avLst/>
          </a:prstGeom>
          <a:noFill/>
        </p:spPr>
        <p:txBody>
          <a:bodyPr wrap="none" lIns="0" tIns="0">
            <a:spAutoFit/>
          </a:bodyPr>
          <a:lstStyle/>
          <a:p>
            <a:pPr>
              <a:defRPr sz="1200" b="1">
                <a:solidFill>
                  <a:srgbClr val="1D4ED8"/>
                </a:solidFill>
                <a:latin typeface="Segoe UI"/>
              </a:defRPr>
            </a:pPr>
            <a:r>
              <a:t>1. Hồ Sơ Đỉnh Bộ Nhớ Huấn Luyện (128 KiB, K=256)</a:t>
            </a:r>
          </a:p>
        </p:txBody>
      </p:sp>
      <p:pic>
        <p:nvPicPr>
          <p:cNvPr id="8" name="Picture 7" descr="rq3_training_memory.png"/>
          <p:cNvPicPr>
            <a:picLocks noChangeAspect="1"/>
          </p:cNvPicPr>
          <p:nvPr/>
        </p:nvPicPr>
        <p:blipFill>
          <a:blip r:embed="rId2"/>
          <a:stretch>
            <a:fillRect/>
          </a:stretch>
        </p:blipFill>
        <p:spPr>
          <a:xfrm>
            <a:off x="914400" y="2011680"/>
            <a:ext cx="4754880" cy="2286000"/>
          </a:xfrm>
          <a:prstGeom prst="rect">
            <a:avLst/>
          </a:prstGeom>
        </p:spPr>
      </p:pic>
      <p:sp>
        <p:nvSpPr>
          <p:cNvPr id="9" name="TextBox 8"/>
          <p:cNvSpPr txBox="1"/>
          <p:nvPr/>
        </p:nvSpPr>
        <p:spPr>
          <a:xfrm>
            <a:off x="914400" y="4480560"/>
            <a:ext cx="4754880" cy="1737360"/>
          </a:xfrm>
          <a:prstGeom prst="rect">
            <a:avLst/>
          </a:prstGeom>
          <a:noFill/>
        </p:spPr>
        <p:txBody>
          <a:bodyPr wrap="square" lIns="0" tIns="0">
            <a:spAutoFit/>
          </a:bodyPr>
          <a:lstStyle/>
          <a:p/>
          <a:p>
            <a:pPr>
              <a:spcBef>
                <a:spcPts val="250"/>
              </a:spcBef>
              <a:defRPr sz="950">
                <a:solidFill>
                  <a:srgbClr val="0F172A"/>
                </a:solidFill>
                <a:latin typeface="Segoe UI"/>
              </a:defRPr>
            </a:pPr>
            <a:r>
              <a:t>• Naive: Đỉnh RAM thấp nhất (~4.5 MiB) do không lưu trữ cấu trúc phụ trợ.</a:t>
            </a:r>
          </a:p>
          <a:p>
            <a:pPr>
              <a:spcBef>
                <a:spcPts val="250"/>
              </a:spcBef>
              <a:defRPr sz="950">
                <a:solidFill>
                  <a:srgbClr val="0F172A"/>
                </a:solidFill>
                <a:latin typeface="Segoe UI"/>
              </a:defRPr>
            </a:pPr>
            <a:r>
              <a:t>• Noheap &amp; Inc: Chiếm ~21.5 – 23.4 MiB để duy trì danh sách liên kết kép, mảng vị trí và inverted index.</a:t>
            </a:r>
          </a:p>
          <a:p>
            <a:pPr>
              <a:spcBef>
                <a:spcPts val="250"/>
              </a:spcBef>
              <a:defRPr sz="950">
                <a:solidFill>
                  <a:srgbClr val="0F172A"/>
                </a:solidFill>
                <a:latin typeface="Segoe UI"/>
              </a:defRPr>
            </a:pPr>
            <a:r>
              <a:t>• Đánh đổi hoàn toàn xứng đáng: Chấp nhận tăng ~17 MiB RAM để đổi lại tốc độ huấn luyện nhanh hơn 104 lần!</a:t>
            </a:r>
          </a:p>
        </p:txBody>
      </p:sp>
      <p:sp>
        <p:nvSpPr>
          <p:cNvPr id="10" name="Rounded Rectangle 9"/>
          <p:cNvSpPr/>
          <p:nvPr/>
        </p:nvSpPr>
        <p:spPr>
          <a:xfrm>
            <a:off x="6126480" y="1508760"/>
            <a:ext cx="5333695" cy="48463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91640"/>
            <a:ext cx="4876495" cy="4480560"/>
          </a:xfrm>
          <a:prstGeom prst="rect">
            <a:avLst/>
          </a:prstGeom>
          <a:noFill/>
        </p:spPr>
        <p:txBody>
          <a:bodyPr wrap="square" lIns="0" tIns="0">
            <a:spAutoFit/>
          </a:bodyPr>
          <a:lstStyle/>
          <a:p>
            <a:pPr>
              <a:defRPr sz="1300" b="1">
                <a:solidFill>
                  <a:srgbClr val="D97706"/>
                </a:solidFill>
                <a:latin typeface="Segoe UI"/>
              </a:defRPr>
            </a:pPr>
            <a:r>
              <a:t>2. Hiện Tượng Nhiễu GC (CPython Garbage Collection)</a:t>
            </a:r>
          </a:p>
          <a:p>
            <a:pPr>
              <a:spcBef>
                <a:spcPts val="250"/>
              </a:spcBef>
              <a:defRPr sz="950">
                <a:solidFill>
                  <a:srgbClr val="0F172A"/>
                </a:solidFill>
                <a:latin typeface="Segoe UI"/>
              </a:defRPr>
            </a:pPr>
            <a:r>
              <a:t>• Phát hiện bất thường:</a:t>
            </a:r>
          </a:p>
          <a:p>
            <a:pPr>
              <a:spcBef>
                <a:spcPts val="250"/>
              </a:spcBef>
              <a:defRPr sz="950">
                <a:solidFill>
                  <a:srgbClr val="0F172A"/>
                </a:solidFill>
                <a:latin typeface="Segoe UI"/>
              </a:defRPr>
            </a:pPr>
            <a:r>
              <a:t>  • Khi chạy kiểm tra độc lập từng dòng bằng tiến trình cô lập (verify_row.py), thời gian huấn luyện Inc nhanh gấp đôi số liệu nộp (ví dụ E1 K=256 đạt ~832 ms so với 1658 ms nộp, tỷ lệ ~0.502x).</a:t>
            </a:r>
          </a:p>
          <a:p>
            <a:pPr>
              <a:spcBef>
                <a:spcPts val="250"/>
              </a:spcBef>
              <a:defRPr sz="950">
                <a:solidFill>
                  <a:srgbClr val="0F172A"/>
                </a:solidFill>
                <a:latin typeface="Segoe UI"/>
              </a:defRPr>
            </a:pPr>
            <a:r>
              <a:t>• Chẩn đoán kỹ thuật chuyên sâu:</a:t>
            </a:r>
          </a:p>
          <a:p>
            <a:pPr>
              <a:spcBef>
                <a:spcPts val="250"/>
              </a:spcBef>
              <a:defRPr sz="950">
                <a:solidFill>
                  <a:srgbClr val="0F172A"/>
                </a:solidFill>
                <a:latin typeface="Segoe UI"/>
              </a:defRPr>
            </a:pPr>
            <a:r>
              <a:t>  • Runner đo gốc chạy tuần tự 18 mô hình liên tục trong một tiến trình duy nhất.</a:t>
            </a:r>
          </a:p>
          <a:p>
            <a:pPr>
              <a:spcBef>
                <a:spcPts val="250"/>
              </a:spcBef>
              <a:defRPr sz="950">
                <a:solidFill>
                  <a:srgbClr val="0F172A"/>
                </a:solidFill>
                <a:latin typeface="Segoe UI"/>
              </a:defRPr>
            </a:pPr>
            <a:r>
              <a:t>  • Hàng triệu đối tượng node liên kết Pure Python làm tràn thế hệ Gen-2 của bộ dọn rác CPython.</a:t>
            </a:r>
          </a:p>
          <a:p>
            <a:pPr>
              <a:spcBef>
                <a:spcPts val="250"/>
              </a:spcBef>
              <a:defRPr sz="950">
                <a:solidFill>
                  <a:srgbClr val="0F172A"/>
                </a:solidFill>
                <a:latin typeface="Segoe UI"/>
              </a:defRPr>
            </a:pPr>
            <a:r>
              <a:t>  • Chi phí quét dọn rác chu kỳ Gen-2 tăng gấp đôi trong tiến trình kéo dài; trong khi tiến trình con cô lập khởi tạo heap hoàn toàn sạch.</a:t>
            </a:r>
          </a:p>
          <a:p>
            <a:pPr>
              <a:spcBef>
                <a:spcPts val="250"/>
              </a:spcBef>
              <a:defRPr sz="950">
                <a:solidFill>
                  <a:srgbClr val="0F172A"/>
                </a:solidFill>
                <a:latin typeface="Segoe UI"/>
              </a:defRPr>
            </a:pPr>
            <a:r>
              <a:t>• Bài học phương pháp luận:</a:t>
            </a:r>
          </a:p>
          <a:p>
            <a:pPr>
              <a:spcBef>
                <a:spcPts val="250"/>
              </a:spcBef>
              <a:defRPr sz="950">
                <a:solidFill>
                  <a:srgbClr val="0F172A"/>
                </a:solidFill>
                <a:latin typeface="Segoe UI"/>
              </a:defRPr>
            </a:pPr>
            <a:r>
              <a:t>  • Độ nhạy cao của cấu trúc dữ liệu liên kết Pure Python trước trạng thái bộ nhớ.</a:t>
            </a:r>
          </a:p>
          <a:p>
            <a:pPr>
              <a:spcBef>
                <a:spcPts val="250"/>
              </a:spcBef>
              <a:defRPr sz="950">
                <a:solidFill>
                  <a:srgbClr val="0F172A"/>
                </a:solidFill>
                <a:latin typeface="Segoe UI"/>
              </a:defRPr>
            </a:pPr>
            <a:r>
              <a:t>  • Khẳng định tính tất yếu của việc cô lập tiến trình (subprocess isolation) khi benchmark hệ thống.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74320"/>
          </a:xfrm>
          <a:prstGeom prst="rect">
            <a:avLst/>
          </a:prstGeom>
          <a:noFill/>
        </p:spPr>
        <p:txBody>
          <a:bodyPr wrap="square" lIns="0" tIns="0" rIns="0" bIns="0">
            <a:spAutoFit/>
          </a:bodyPr>
          <a:lstStyle/>
          <a:p>
            <a:pPr>
              <a:defRPr sz="1000" b="1">
                <a:solidFill>
                  <a:srgbClr val="2563EB"/>
                </a:solidFill>
                <a:latin typeface="Segoe UI"/>
              </a:defRPr>
            </a:pPr>
            <a:r>
              <a:t>ĐẢM BẢO CHẤT LƯỢNG &amp; TÁI LẬP</a:t>
            </a:r>
          </a:p>
        </p:txBody>
      </p:sp>
      <p:sp>
        <p:nvSpPr>
          <p:cNvPr id="4" name="TextBox 3"/>
          <p:cNvSpPr txBox="1"/>
          <p:nvPr/>
        </p:nvSpPr>
        <p:spPr>
          <a:xfrm>
            <a:off x="731520" y="621792"/>
            <a:ext cx="10728655" cy="502920"/>
          </a:xfrm>
          <a:prstGeom prst="rect">
            <a:avLst/>
          </a:prstGeom>
          <a:noFill/>
        </p:spPr>
        <p:txBody>
          <a:bodyPr wrap="square" lIns="0" tIns="0" rIns="0" bIns="0">
            <a:spAutoFit/>
          </a:bodyPr>
          <a:lstStyle/>
          <a:p>
            <a:pPr>
              <a:defRPr sz="2100" b="1">
                <a:solidFill>
                  <a:srgbClr val="0F172A"/>
                </a:solidFill>
                <a:latin typeface="Segoe UI"/>
              </a:defRPr>
            </a:pPr>
            <a:r>
              <a:t>Hệ Thống 831 Unit Tests &amp; Cơ Chế Thẩm Định Độc Lập</a:t>
            </a:r>
          </a:p>
        </p:txBody>
      </p:sp>
      <p:sp>
        <p:nvSpPr>
          <p:cNvPr id="5" name="TextBox 4"/>
          <p:cNvSpPr txBox="1"/>
          <p:nvPr/>
        </p:nvSpPr>
        <p:spPr>
          <a:xfrm>
            <a:off x="731520" y="1115568"/>
            <a:ext cx="10728655" cy="274320"/>
          </a:xfrm>
          <a:prstGeom prst="rect">
            <a:avLst/>
          </a:prstGeom>
          <a:noFill/>
        </p:spPr>
        <p:txBody>
          <a:bodyPr wrap="square" lIns="0" tIns="0" rIns="0" bIns="0">
            <a:spAutoFit/>
          </a:bodyPr>
          <a:lstStyle/>
          <a:p>
            <a:pPr>
              <a:defRPr sz="1150">
                <a:solidFill>
                  <a:srgbClr val="475569"/>
                </a:solidFill>
                <a:latin typeface="Segoe UI"/>
              </a:defRPr>
            </a:pPr>
            <a:r>
              <a:t>Đảm bảo 100% tính toàn vẹn dữ liệu, kiểm soát ràng buộc mã nguồn và tự động hóa kiểm chứng</a:t>
            </a:r>
          </a:p>
        </p:txBody>
      </p:sp>
      <p:sp>
        <p:nvSpPr>
          <p:cNvPr id="6" name="Rounded Rectangle 5"/>
          <p:cNvSpPr/>
          <p:nvPr/>
        </p:nvSpPr>
        <p:spPr>
          <a:xfrm>
            <a:off x="731520" y="1508760"/>
            <a:ext cx="3328416" cy="48463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91640"/>
            <a:ext cx="2999232" cy="4480560"/>
          </a:xfrm>
          <a:prstGeom prst="rect">
            <a:avLst/>
          </a:prstGeom>
          <a:noFill/>
        </p:spPr>
        <p:txBody>
          <a:bodyPr wrap="square" lIns="0" tIns="0">
            <a:spAutoFit/>
          </a:bodyPr>
          <a:lstStyle/>
          <a:p>
            <a:pPr>
              <a:defRPr sz="1300" b="1">
                <a:solidFill>
                  <a:srgbClr val="2563EB"/>
                </a:solidFill>
                <a:latin typeface="Segoe UI"/>
              </a:defRPr>
            </a:pPr>
            <a:r>
              <a:t>1. Bộ 831 Unit Tests Toàn Diện</a:t>
            </a:r>
          </a:p>
          <a:p>
            <a:pPr>
              <a:spcBef>
                <a:spcPts val="300"/>
              </a:spcBef>
              <a:defRPr sz="980">
                <a:solidFill>
                  <a:srgbClr val="0F172A"/>
                </a:solidFill>
                <a:latin typeface="Segoe UI"/>
              </a:defRPr>
            </a:pPr>
            <a:r>
              <a:t>100% tests vượt qua bằng pytest -q.</a:t>
            </a:r>
          </a:p>
          <a:p>
            <a:pPr>
              <a:spcBef>
                <a:spcPts val="300"/>
              </a:spcBef>
              <a:defRPr sz="980">
                <a:solidFill>
                  <a:srgbClr val="0F172A"/>
                </a:solidFill>
                <a:latin typeface="Segoe UI"/>
              </a:defRPr>
            </a:pPr>
            <a:r>
              <a:t>Bảo toàn dữ liệu (Round-trip integrity): Đối chiếu SHA-256 sau khi giải nén trên toàn bộ ngữ liệu.</a:t>
            </a:r>
          </a:p>
          <a:p>
            <a:pPr>
              <a:spcBef>
                <a:spcPts val="300"/>
              </a:spcBef>
              <a:defRPr sz="980">
                <a:solidFill>
                  <a:srgbClr val="0F172A"/>
                </a:solidFill>
                <a:latin typeface="Segoe UI"/>
              </a:defRPr>
            </a:pPr>
            <a:r>
              <a:t>Kiểm thử ca biên khắt khe (Edge cases):</a:t>
            </a:r>
          </a:p>
          <a:p>
            <a:pPr>
              <a:spcBef>
                <a:spcPts val="300"/>
              </a:spcBef>
              <a:defRPr sz="980">
                <a:solidFill>
                  <a:srgbClr val="0F172A"/>
                </a:solidFill>
                <a:latin typeface="Segoe UI"/>
              </a:defRPr>
            </a:pPr>
            <a:r>
              <a:t>  • Chuỗi rỗng, 1 byte, 64 KiB cùng 1 byte.</a:t>
            </a:r>
          </a:p>
          <a:p>
            <a:pPr>
              <a:spcBef>
                <a:spcPts val="300"/>
              </a:spcBef>
              <a:defRPr sz="980">
                <a:solidFill>
                  <a:srgbClr val="0F172A"/>
                </a:solidFill>
                <a:latin typeface="Segoe UI"/>
              </a:defRPr>
            </a:pPr>
            <a:r>
              <a:t>  • Đầy đủ 256 giá trị byte nhị phân.</a:t>
            </a:r>
          </a:p>
          <a:p>
            <a:pPr>
              <a:spcBef>
                <a:spcPts val="300"/>
              </a:spcBef>
              <a:defRPr sz="980">
                <a:solidFill>
                  <a:srgbClr val="0F172A"/>
                </a:solidFill>
                <a:latin typeface="Segoe UI"/>
              </a:defRPr>
            </a:pPr>
            <a:r>
              <a:t>  • Chuỗi lặp ABABABA và aaabdaaabac.</a:t>
            </a:r>
          </a:p>
          <a:p>
            <a:pPr>
              <a:spcBef>
                <a:spcPts val="300"/>
              </a:spcBef>
              <a:defRPr sz="980">
                <a:solidFill>
                  <a:srgbClr val="0F172A"/>
                </a:solidFill>
                <a:latin typeface="Segoe UI"/>
              </a:defRPr>
            </a:pPr>
            <a:r>
              <a:t>  • Kiểm tra ranh giới phân đoạn regex UTF-8.</a:t>
            </a:r>
          </a:p>
        </p:txBody>
      </p:sp>
      <p:sp>
        <p:nvSpPr>
          <p:cNvPr id="8" name="Rounded Rectangle 7"/>
          <p:cNvSpPr/>
          <p:nvPr/>
        </p:nvSpPr>
        <p:spPr>
          <a:xfrm>
            <a:off x="4425696" y="1508760"/>
            <a:ext cx="3328416" cy="48463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1691640"/>
            <a:ext cx="2999232" cy="4480560"/>
          </a:xfrm>
          <a:prstGeom prst="rect">
            <a:avLst/>
          </a:prstGeom>
          <a:noFill/>
        </p:spPr>
        <p:txBody>
          <a:bodyPr wrap="square" lIns="0" tIns="0">
            <a:spAutoFit/>
          </a:bodyPr>
          <a:lstStyle/>
          <a:p>
            <a:pPr>
              <a:defRPr sz="1300" b="1">
                <a:solidFill>
                  <a:srgbClr val="0D9488"/>
                </a:solidFill>
                <a:latin typeface="Segoe UI"/>
              </a:defRPr>
            </a:pPr>
            <a:r>
              <a:t>2. Kiểm Soát Ràng Buộc AST Guard</a:t>
            </a:r>
          </a:p>
          <a:p>
            <a:pPr>
              <a:spcBef>
                <a:spcPts val="300"/>
              </a:spcBef>
              <a:defRPr sz="980">
                <a:solidFill>
                  <a:srgbClr val="0F172A"/>
                </a:solidFill>
                <a:latin typeface="Segoe UI"/>
              </a:defRPr>
            </a:pPr>
            <a:r>
              <a:t>Tự động duyệt cây cú pháp trừu tượng (Abstract Syntax Tree):</a:t>
            </a:r>
          </a:p>
          <a:p>
            <a:pPr>
              <a:spcBef>
                <a:spcPts val="300"/>
              </a:spcBef>
              <a:defRPr sz="980">
                <a:solidFill>
                  <a:srgbClr val="0F172A"/>
                </a:solidFill>
                <a:latin typeface="Segoe UI"/>
              </a:defRPr>
            </a:pPr>
            <a:r>
              <a:t>  • File test_no_library_sort.py duyệt AST của toàn bộ codebase.</a:t>
            </a:r>
          </a:p>
          <a:p>
            <a:pPr>
              <a:spcBef>
                <a:spcPts val="300"/>
              </a:spcBef>
              <a:defRPr sz="980">
                <a:solidFill>
                  <a:srgbClr val="0F172A"/>
                </a:solidFill>
                <a:latin typeface="Segoe UI"/>
              </a:defRPr>
            </a:pPr>
            <a:r>
              <a:t>  • Cấm hoàn toàn mọi lời gọi hàm sort() hoặc sorted() thư viện.</a:t>
            </a:r>
          </a:p>
          <a:p>
            <a:pPr>
              <a:spcBef>
                <a:spcPts val="300"/>
              </a:spcBef>
              <a:defRPr sz="980">
                <a:solidFill>
                  <a:srgbClr val="0F172A"/>
                </a:solidFill>
                <a:latin typeface="Segoe UI"/>
              </a:defRPr>
            </a:pPr>
            <a:r>
              <a:t>Decoder gia cố phòng thủ:</a:t>
            </a:r>
          </a:p>
          <a:p>
            <a:pPr>
              <a:spcBef>
                <a:spcPts val="300"/>
              </a:spcBef>
              <a:defRPr sz="980">
                <a:solidFill>
                  <a:srgbClr val="0F172A"/>
                </a:solidFill>
                <a:latin typeface="Segoe UI"/>
              </a:defRPr>
            </a:pPr>
            <a:r>
              <a:t>  • Bắt lỗi và từ chối magic sai, header cắt cụt.</a:t>
            </a:r>
          </a:p>
          <a:p>
            <a:pPr>
              <a:spcBef>
                <a:spcPts val="300"/>
              </a:spcBef>
              <a:defRPr sz="980">
                <a:solidFill>
                  <a:srgbClr val="0F172A"/>
                </a:solidFill>
                <a:latin typeface="Segoe UI"/>
              </a:defRPr>
            </a:pPr>
            <a:r>
              <a:t>  • Bắt lỗi đệm byte cuối (padding khác 0).</a:t>
            </a:r>
          </a:p>
          <a:p>
            <a:pPr>
              <a:spcBef>
                <a:spcPts val="300"/>
              </a:spcBef>
              <a:defRPr sz="980">
                <a:solidFill>
                  <a:srgbClr val="0F172A"/>
                </a:solidFill>
                <a:latin typeface="Segoe UI"/>
              </a:defRPr>
            </a:pPr>
            <a:r>
              <a:t>  • Kiểm tra bảng Huffman vượt độ dài bit.</a:t>
            </a:r>
          </a:p>
        </p:txBody>
      </p:sp>
      <p:sp>
        <p:nvSpPr>
          <p:cNvPr id="10" name="Rounded Rectangle 9"/>
          <p:cNvSpPr/>
          <p:nvPr/>
        </p:nvSpPr>
        <p:spPr>
          <a:xfrm>
            <a:off x="8119872" y="1508760"/>
            <a:ext cx="3328416" cy="48463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4464" y="1691640"/>
            <a:ext cx="2999232" cy="4480560"/>
          </a:xfrm>
          <a:prstGeom prst="rect">
            <a:avLst/>
          </a:prstGeom>
          <a:noFill/>
        </p:spPr>
        <p:txBody>
          <a:bodyPr wrap="square" lIns="0" tIns="0">
            <a:spAutoFit/>
          </a:bodyPr>
          <a:lstStyle/>
          <a:p>
            <a:pPr>
              <a:defRPr sz="1300" b="1">
                <a:solidFill>
                  <a:srgbClr val="D97706"/>
                </a:solidFill>
                <a:latin typeface="Segoe UI"/>
              </a:defRPr>
            </a:pPr>
            <a:r>
              <a:t>3. Tái Lập Thực Nghiệm Tự Động</a:t>
            </a:r>
          </a:p>
          <a:p>
            <a:pPr>
              <a:spcBef>
                <a:spcPts val="300"/>
              </a:spcBef>
              <a:defRPr sz="980">
                <a:solidFill>
                  <a:srgbClr val="0F172A"/>
                </a:solidFill>
                <a:latin typeface="Segoe UI"/>
              </a:defRPr>
            </a:pPr>
            <a:r>
              <a:t>Công cụ verify_row.py:</a:t>
            </a:r>
          </a:p>
          <a:p>
            <a:pPr>
              <a:spcBef>
                <a:spcPts val="300"/>
              </a:spcBef>
              <a:defRPr sz="980">
                <a:solidFill>
                  <a:srgbClr val="0F172A"/>
                </a:solidFill>
                <a:latin typeface="Segoe UI"/>
              </a:defRPr>
            </a:pPr>
            <a:r>
              <a:t>  • Cho phép chỉ định số dòng bất kỳ trong CSV để chạy kiểm tra độc lập trong tiến trình riêng.</a:t>
            </a:r>
          </a:p>
          <a:p>
            <a:pPr>
              <a:spcBef>
                <a:spcPts val="300"/>
              </a:spcBef>
              <a:defRPr sz="980">
                <a:solidFill>
                  <a:srgbClr val="0F172A"/>
                </a:solidFill>
                <a:latin typeface="Segoe UI"/>
              </a:defRPr>
            </a:pPr>
            <a:r>
              <a:t>  • Tự động đối chiếu hash input/output và sai số thời gian.</a:t>
            </a:r>
          </a:p>
          <a:p>
            <a:pPr>
              <a:spcBef>
                <a:spcPts val="300"/>
              </a:spcBef>
              <a:defRPr sz="980">
                <a:solidFill>
                  <a:srgbClr val="0F172A"/>
                </a:solidFill>
                <a:latin typeface="Segoe UI"/>
              </a:defRPr>
            </a:pPr>
            <a:r>
              <a:t>Pipeline sinh báo cáo tự động:</a:t>
            </a:r>
          </a:p>
          <a:p>
            <a:pPr>
              <a:spcBef>
                <a:spcPts val="300"/>
              </a:spcBef>
              <a:defRPr sz="980">
                <a:solidFill>
                  <a:srgbClr val="0F172A"/>
                </a:solidFill>
                <a:latin typeface="Segoe UI"/>
              </a:defRPr>
            </a:pPr>
            <a:r>
              <a:t>  • Bảng biểu và đồ thị được sinh tự động trực tiếp từ CSV (generate_report.py, build_submission.py).</a:t>
            </a:r>
          </a:p>
          <a:p>
            <a:pPr>
              <a:spcBef>
                <a:spcPts val="300"/>
              </a:spcBef>
              <a:defRPr sz="980">
                <a:solidFill>
                  <a:srgbClr val="0F172A"/>
                </a:solidFill>
                <a:latin typeface="Segoe UI"/>
              </a:defRPr>
            </a:pPr>
            <a:r>
              <a:t>  • Triệt tiêu hoàn toàn sai sót chép tay số liệu.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74320"/>
          </a:xfrm>
          <a:prstGeom prst="rect">
            <a:avLst/>
          </a:prstGeom>
          <a:noFill/>
        </p:spPr>
        <p:txBody>
          <a:bodyPr wrap="square" lIns="0" tIns="0" rIns="0" bIns="0">
            <a:spAutoFit/>
          </a:bodyPr>
          <a:lstStyle/>
          <a:p>
            <a:pPr>
              <a:defRPr sz="1000" b="1">
                <a:solidFill>
                  <a:srgbClr val="2563EB"/>
                </a:solidFill>
                <a:latin typeface="Segoe UI"/>
              </a:defRPr>
            </a:pPr>
            <a:r>
              <a:t>TỔ CHỨC &amp; ĐÓNG GÓP</a:t>
            </a:r>
          </a:p>
        </p:txBody>
      </p:sp>
      <p:sp>
        <p:nvSpPr>
          <p:cNvPr id="4" name="TextBox 3"/>
          <p:cNvSpPr txBox="1"/>
          <p:nvPr/>
        </p:nvSpPr>
        <p:spPr>
          <a:xfrm>
            <a:off x="731520" y="621792"/>
            <a:ext cx="10728655" cy="502920"/>
          </a:xfrm>
          <a:prstGeom prst="rect">
            <a:avLst/>
          </a:prstGeom>
          <a:noFill/>
        </p:spPr>
        <p:txBody>
          <a:bodyPr wrap="square" lIns="0" tIns="0" rIns="0" bIns="0">
            <a:spAutoFit/>
          </a:bodyPr>
          <a:lstStyle/>
          <a:p>
            <a:pPr>
              <a:defRPr sz="2100" b="1">
                <a:solidFill>
                  <a:srgbClr val="0F172A"/>
                </a:solidFill>
                <a:latin typeface="Segoe UI"/>
              </a:defRPr>
            </a:pPr>
            <a:r>
              <a:t>Mô Hình Lập Trình Cặp (Pair Programming) &amp; Minh Bạch Sử Dụng AI</a:t>
            </a:r>
          </a:p>
        </p:txBody>
      </p:sp>
      <p:sp>
        <p:nvSpPr>
          <p:cNvPr id="5" name="TextBox 4"/>
          <p:cNvSpPr txBox="1"/>
          <p:nvPr/>
        </p:nvSpPr>
        <p:spPr>
          <a:xfrm>
            <a:off x="731520" y="1115568"/>
            <a:ext cx="10728655" cy="274320"/>
          </a:xfrm>
          <a:prstGeom prst="rect">
            <a:avLst/>
          </a:prstGeom>
          <a:noFill/>
        </p:spPr>
        <p:txBody>
          <a:bodyPr wrap="square" lIns="0" tIns="0" rIns="0" bIns="0">
            <a:spAutoFit/>
          </a:bodyPr>
          <a:lstStyle/>
          <a:p>
            <a:pPr>
              <a:defRPr sz="1150">
                <a:solidFill>
                  <a:srgbClr val="475569"/>
                </a:solidFill>
                <a:latin typeface="Segoe UI"/>
              </a:defRPr>
            </a:pPr>
            <a:r>
              <a:t>Phân định rõ ràng trách nhiệm kỹ thuật, cơ chế review chéo và tự chủ học thuật 100%</a:t>
            </a:r>
          </a:p>
        </p:txBody>
      </p:sp>
      <p:sp>
        <p:nvSpPr>
          <p:cNvPr id="6" name="Rounded Rectangle 5"/>
          <p:cNvSpPr/>
          <p:nvPr/>
        </p:nvSpPr>
        <p:spPr>
          <a:xfrm>
            <a:off x="731520" y="1508760"/>
            <a:ext cx="530352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937760" cy="4572000"/>
          </a:xfrm>
          <a:prstGeom prst="rect">
            <a:avLst/>
          </a:prstGeom>
          <a:noFill/>
        </p:spPr>
        <p:txBody>
          <a:bodyPr wrap="square" lIns="0" tIns="0">
            <a:spAutoFit/>
          </a:bodyPr>
          <a:lstStyle/>
          <a:p>
            <a:pPr>
              <a:defRPr sz="1350" b="1">
                <a:solidFill>
                  <a:srgbClr val="1D4ED8"/>
                </a:solidFill>
                <a:latin typeface="Segoe UI"/>
              </a:defRPr>
            </a:pPr>
            <a:r>
              <a:t>Mô Hình 3 Cặp Chuyên Trách (Pair Programming)</a:t>
            </a:r>
          </a:p>
          <a:p>
            <a:pPr>
              <a:spcBef>
                <a:spcPts val="800"/>
              </a:spcBef>
              <a:defRPr sz="1100" b="1">
                <a:solidFill>
                  <a:srgbClr val="0D9488"/>
                </a:solidFill>
                <a:latin typeface="Segoe UI"/>
              </a:defRPr>
            </a:pPr>
            <a:r>
              <a:t>Cặp 1 (RQ1 - Định luật tải):</a:t>
            </a:r>
          </a:p>
          <a:p>
            <a:pPr>
              <a:spcBef>
                <a:spcPts val="200"/>
              </a:spcBef>
              <a:defRPr sz="950">
                <a:solidFill>
                  <a:srgbClr val="0F172A"/>
                </a:solidFill>
                <a:latin typeface="Segoe UI"/>
              </a:defRPr>
            </a:pPr>
            <a:r>
              <a:t>• Nguyễn Trí Viễn: Implementer RLE, LZW &amp; Container.</a:t>
            </a:r>
            <a:br/>
            <a:r>
              <a:t>• Phạm Minh Tiến: Tester/Benchmark Lead, bộ sinh C1–C3.</a:t>
            </a:r>
          </a:p>
          <a:p>
            <a:pPr>
              <a:spcBef>
                <a:spcPts val="800"/>
              </a:spcBef>
              <a:defRPr sz="1100" b="1">
                <a:solidFill>
                  <a:srgbClr val="0D9488"/>
                </a:solidFill>
                <a:latin typeface="Segoe UI"/>
              </a:defRPr>
            </a:pPr>
            <a:r>
              <a:t>Cặp 2 (RQ2 - Độ nhạy điều kiện):</a:t>
            </a:r>
          </a:p>
          <a:p>
            <a:pPr>
              <a:spcBef>
                <a:spcPts val="200"/>
              </a:spcBef>
              <a:defRPr sz="950">
                <a:solidFill>
                  <a:srgbClr val="0F172A"/>
                </a:solidFill>
                <a:latin typeface="Segoe UI"/>
              </a:defRPr>
            </a:pPr>
            <a:r>
              <a:t>• Hoàng Đức Khánh: Implementer Canonical Huffman 2 lượt.</a:t>
            </a:r>
            <a:br/>
            <a:r>
              <a:t>• Trần Châu Hoàng Nam (Leader): Theory Lead H₀, hoán vị &amp; runner.</a:t>
            </a:r>
          </a:p>
          <a:p>
            <a:pPr>
              <a:spcBef>
                <a:spcPts val="800"/>
              </a:spcBef>
              <a:defRPr sz="1100" b="1">
                <a:solidFill>
                  <a:srgbClr val="0D9488"/>
                </a:solidFill>
                <a:latin typeface="Segoe UI"/>
              </a:defRPr>
            </a:pPr>
            <a:r>
              <a:t>Cặp 3 (RQ3 - Ablation Study BPE):</a:t>
            </a:r>
          </a:p>
          <a:p>
            <a:pPr>
              <a:spcBef>
                <a:spcPts val="200"/>
              </a:spcBef>
              <a:defRPr sz="950">
                <a:solidFill>
                  <a:srgbClr val="0F172A"/>
                </a:solidFill>
                <a:latin typeface="Segoe UI"/>
              </a:defRPr>
            </a:pPr>
            <a:r>
              <a:t>• Dương Quốc Thịnh: Implementer Pre-tokenization GPT regex &amp; BPE.</a:t>
            </a:r>
            <a:br/>
            <a:r>
              <a:t>• Trương Đình Tân: Implementer 3 biến thể huấn luyện &amp; runner.</a:t>
            </a:r>
          </a:p>
          <a:p>
            <a:pPr>
              <a:spcBef>
                <a:spcPts val="800"/>
              </a:spcBef>
              <a:defRPr sz="1100" b="1">
                <a:solidFill>
                  <a:srgbClr val="0F172A"/>
                </a:solidFill>
                <a:latin typeface="Segoe UI"/>
              </a:defRPr>
            </a:pPr>
            <a:r>
              <a:t>Cơ chế Review Chéo Vòng Tròn (Cross-Review):</a:t>
            </a:r>
          </a:p>
          <a:p>
            <a:pPr>
              <a:spcBef>
                <a:spcPts val="200"/>
              </a:spcBef>
              <a:defRPr sz="950">
                <a:solidFill>
                  <a:srgbClr val="475569"/>
                </a:solidFill>
                <a:latin typeface="Segoe UI"/>
              </a:defRPr>
            </a:pPr>
            <a:r>
              <a:t>Cặp 1 review Cặp 2 (reorder, bitlength) -&gt; Cặp 2 review Cặp 3 (heap update, verify_row) -&gt; Cặp 3 review Cặp 1 (synthetic data, edge cases).</a:t>
            </a:r>
          </a:p>
        </p:txBody>
      </p:sp>
      <p:sp>
        <p:nvSpPr>
          <p:cNvPr id="8" name="Rounded Rectangle 7"/>
          <p:cNvSpPr/>
          <p:nvPr/>
        </p:nvSpPr>
        <p:spPr>
          <a:xfrm>
            <a:off x="6309360" y="1508760"/>
            <a:ext cx="5150815" cy="48463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645920"/>
            <a:ext cx="4693615" cy="4572000"/>
          </a:xfrm>
          <a:prstGeom prst="rect">
            <a:avLst/>
          </a:prstGeom>
          <a:noFill/>
        </p:spPr>
        <p:txBody>
          <a:bodyPr wrap="square" lIns="0" tIns="0">
            <a:spAutoFit/>
          </a:bodyPr>
          <a:lstStyle/>
          <a:p>
            <a:pPr>
              <a:defRPr sz="1350" b="1">
                <a:solidFill>
                  <a:srgbClr val="D97706"/>
                </a:solidFill>
                <a:latin typeface="Segoe UI"/>
              </a:defRPr>
            </a:pPr>
            <a:r>
              <a:t>Tuyên Bố Minh Bạch Sử Dụng AI (AI Disclosure)</a:t>
            </a:r>
          </a:p>
          <a:p>
            <a:pPr>
              <a:spcBef>
                <a:spcPts val="300"/>
              </a:spcBef>
              <a:defRPr sz="1000">
                <a:solidFill>
                  <a:srgbClr val="0F172A"/>
                </a:solidFill>
                <a:latin typeface="Segoe UI"/>
              </a:defRPr>
            </a:pPr>
            <a:r>
              <a:t>• Công cụ AI sử dụng: Google Antigravity / Gemini.</a:t>
            </a:r>
          </a:p>
          <a:p>
            <a:pPr>
              <a:spcBef>
                <a:spcPts val="300"/>
              </a:spcBef>
              <a:defRPr sz="1000">
                <a:solidFill>
                  <a:srgbClr val="0F172A"/>
                </a:solidFill>
                <a:latin typeface="Segoe UI"/>
              </a:defRPr>
            </a:pPr>
            <a:r>
              <a:t>• Phạm vi hỗ trợ cụ thể:</a:t>
            </a:r>
          </a:p>
          <a:p>
            <a:pPr>
              <a:spcBef>
                <a:spcPts val="300"/>
              </a:spcBef>
              <a:defRPr sz="1000">
                <a:solidFill>
                  <a:srgbClr val="0F172A"/>
                </a:solidFill>
                <a:latin typeface="Segoe UI"/>
              </a:defRPr>
            </a:pPr>
            <a:r>
              <a:t>  • Rà soát văn phong học thuật và định dạng báo cáo theo chuẩn IEEE.</a:t>
            </a:r>
          </a:p>
          <a:p>
            <a:pPr>
              <a:spcBef>
                <a:spcPts val="300"/>
              </a:spcBef>
              <a:defRPr sz="1000">
                <a:solidFill>
                  <a:srgbClr val="0F172A"/>
                </a:solidFill>
                <a:latin typeface="Segoe UI"/>
              </a:defRPr>
            </a:pPr>
            <a:r>
              <a:t>  • Hỗ trợ xây dựng khung kịch bản kiểm thử tự động (unit test skeleton).</a:t>
            </a:r>
          </a:p>
          <a:p>
            <a:pPr>
              <a:spcBef>
                <a:spcPts val="300"/>
              </a:spcBef>
              <a:defRPr sz="1000">
                <a:solidFill>
                  <a:srgbClr val="0F172A"/>
                </a:solidFill>
                <a:latin typeface="Segoe UI"/>
              </a:defRPr>
            </a:pPr>
            <a:r>
              <a:t>  • Hỗ trợ chẩn đoán nguyên nhân rác bộ nhớ Gen-2 của CPython GC.</a:t>
            </a:r>
          </a:p>
          <a:p>
            <a:pPr>
              <a:spcBef>
                <a:spcPts val="300"/>
              </a:spcBef>
              <a:defRPr sz="1000">
                <a:solidFill>
                  <a:srgbClr val="0F172A"/>
                </a:solidFill>
                <a:latin typeface="Segoe UI"/>
              </a:defRPr>
            </a:pPr>
            <a:r>
              <a:t>• Cam kết tự chủ học thuật 100%:</a:t>
            </a:r>
          </a:p>
          <a:p>
            <a:pPr>
              <a:spcBef>
                <a:spcPts val="300"/>
              </a:spcBef>
              <a:defRPr sz="1000">
                <a:solidFill>
                  <a:srgbClr val="0F172A"/>
                </a:solidFill>
                <a:latin typeface="Segoe UI"/>
              </a:defRPr>
            </a:pPr>
            <a:r>
              <a:t>  • Toàn bộ 4 giải thuật (RLE, Canonical Huffman, LZW, BPE 3 biến thể) do sinh viên tự tay lập trình 100% Pure Python.</a:t>
            </a:r>
          </a:p>
          <a:p>
            <a:pPr>
              <a:spcBef>
                <a:spcPts val="300"/>
              </a:spcBef>
              <a:defRPr sz="1000">
                <a:solidFill>
                  <a:srgbClr val="0F172A"/>
                </a:solidFill>
                <a:latin typeface="Segoe UI"/>
              </a:defRPr>
            </a:pPr>
            <a:r>
              <a:t>  • Toàn bộ số liệu thực nghiệm được đo đạc thực tế, không dùng số liệu giả định.</a:t>
            </a:r>
          </a:p>
          <a:p>
            <a:pPr>
              <a:spcBef>
                <a:spcPts val="300"/>
              </a:spcBef>
              <a:defRPr sz="1000">
                <a:solidFill>
                  <a:srgbClr val="0F172A"/>
                </a:solidFill>
                <a:latin typeface="Segoe UI"/>
              </a:defRPr>
            </a:pPr>
            <a:r>
              <a:t>  • 831 unit tests và công cụ verify_row kiểm chứng tính toàn vẹn độc lập.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74320"/>
          </a:xfrm>
          <a:prstGeom prst="rect">
            <a:avLst/>
          </a:prstGeom>
          <a:noFill/>
        </p:spPr>
        <p:txBody>
          <a:bodyPr wrap="square" lIns="0" tIns="0" rIns="0" bIns="0">
            <a:spAutoFit/>
          </a:bodyPr>
          <a:lstStyle/>
          <a:p>
            <a:pPr>
              <a:defRPr sz="1000" b="1">
                <a:solidFill>
                  <a:srgbClr val="2563EB"/>
                </a:solidFill>
                <a:latin typeface="Segoe UI"/>
              </a:defRPr>
            </a:pPr>
            <a:r>
              <a:t>KẾT LUẬN &amp; KHUYẾN NGHỊ</a:t>
            </a:r>
          </a:p>
        </p:txBody>
      </p:sp>
      <p:sp>
        <p:nvSpPr>
          <p:cNvPr id="4" name="TextBox 3"/>
          <p:cNvSpPr txBox="1"/>
          <p:nvPr/>
        </p:nvSpPr>
        <p:spPr>
          <a:xfrm>
            <a:off x="731520" y="621792"/>
            <a:ext cx="10728655" cy="502920"/>
          </a:xfrm>
          <a:prstGeom prst="rect">
            <a:avLst/>
          </a:prstGeom>
          <a:noFill/>
        </p:spPr>
        <p:txBody>
          <a:bodyPr wrap="square" lIns="0" tIns="0" rIns="0" bIns="0">
            <a:spAutoFit/>
          </a:bodyPr>
          <a:lstStyle/>
          <a:p>
            <a:pPr>
              <a:defRPr sz="2100" b="1">
                <a:solidFill>
                  <a:srgbClr val="0F172A"/>
                </a:solidFill>
                <a:latin typeface="Segoe UI"/>
              </a:defRPr>
            </a:pPr>
            <a:r>
              <a:t>Tổng Kết Đóng Góp Khoa Học &amp; Khuyến Nghị Tokenizer Tiếng Việt</a:t>
            </a:r>
          </a:p>
        </p:txBody>
      </p:sp>
      <p:sp>
        <p:nvSpPr>
          <p:cNvPr id="5" name="TextBox 4"/>
          <p:cNvSpPr txBox="1"/>
          <p:nvPr/>
        </p:nvSpPr>
        <p:spPr>
          <a:xfrm>
            <a:off x="731520" y="1115568"/>
            <a:ext cx="10728655" cy="274320"/>
          </a:xfrm>
          <a:prstGeom prst="rect">
            <a:avLst/>
          </a:prstGeom>
          <a:noFill/>
        </p:spPr>
        <p:txBody>
          <a:bodyPr wrap="square" lIns="0" tIns="0" rIns="0" bIns="0">
            <a:spAutoFit/>
          </a:bodyPr>
          <a:lstStyle/>
          <a:p>
            <a:pPr>
              <a:defRPr sz="1150">
                <a:solidFill>
                  <a:srgbClr val="475569"/>
                </a:solidFill>
                <a:latin typeface="Segoe UI"/>
              </a:defRPr>
            </a:pPr>
            <a:r>
              <a:t>Các kết luận rút ra từ thực nghiệm có kiểm chứng và định hướng phát triển tiếp theo</a:t>
            </a:r>
          </a:p>
        </p:txBody>
      </p:sp>
      <p:sp>
        <p:nvSpPr>
          <p:cNvPr id="6" name="Rounded Rectangle 5"/>
          <p:cNvSpPr/>
          <p:nvPr/>
        </p:nvSpPr>
        <p:spPr>
          <a:xfrm>
            <a:off x="731520" y="1508760"/>
            <a:ext cx="5212080" cy="16459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18488"/>
            <a:ext cx="4846320" cy="1426464"/>
          </a:xfrm>
          <a:prstGeom prst="rect">
            <a:avLst/>
          </a:prstGeom>
          <a:noFill/>
        </p:spPr>
        <p:txBody>
          <a:bodyPr wrap="square" lIns="0" tIns="0">
            <a:spAutoFit/>
          </a:bodyPr>
          <a:lstStyle/>
          <a:p>
            <a:pPr>
              <a:defRPr sz="1200" b="1">
                <a:solidFill>
                  <a:srgbClr val="2563EB"/>
                </a:solidFill>
                <a:latin typeface="Segoe UI"/>
              </a:defRPr>
            </a:pPr>
            <a:r>
              <a:t>1. Đặc Trưng Bản Chất Codec</a:t>
            </a:r>
          </a:p>
          <a:p>
            <a:pPr>
              <a:spcBef>
                <a:spcPts val="300"/>
              </a:spcBef>
              <a:defRPr sz="950">
                <a:solidFill>
                  <a:srgbClr val="0F172A"/>
                </a:solidFill>
                <a:latin typeface="Segoe UI"/>
              </a:defRPr>
            </a:pPr>
            <a:r>
              <a:t>RLE thống trị trên run dài (C1: 0.062); Huffman ổn định tuyệt đối theo phân bố tần suất byte (bất biến H₀); LZW khai thác mạnh chuỗi con nhưng nhạy cảm với thứ tự và dễ bị tắc nghẽn khi từ điển cố định bị lấp đầy sớm.</a:t>
            </a:r>
          </a:p>
        </p:txBody>
      </p:sp>
      <p:sp>
        <p:nvSpPr>
          <p:cNvPr id="8" name="Rounded Rectangle 7"/>
          <p:cNvSpPr/>
          <p:nvPr/>
        </p:nvSpPr>
        <p:spPr>
          <a:xfrm>
            <a:off x="6248095" y="1508760"/>
            <a:ext cx="5212080" cy="16459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30975" y="1618488"/>
            <a:ext cx="4846320" cy="1426464"/>
          </a:xfrm>
          <a:prstGeom prst="rect">
            <a:avLst/>
          </a:prstGeom>
          <a:noFill/>
        </p:spPr>
        <p:txBody>
          <a:bodyPr wrap="square" lIns="0" tIns="0">
            <a:spAutoFit/>
          </a:bodyPr>
          <a:lstStyle/>
          <a:p>
            <a:pPr>
              <a:defRPr sz="1200" b="1">
                <a:solidFill>
                  <a:srgbClr val="0D9488"/>
                </a:solidFill>
                <a:latin typeface="Segoe UI"/>
              </a:defRPr>
            </a:pPr>
            <a:r>
              <a:t>2. BPE Vượt Trội Trên Ngôn Ngữ Tự Nhiên</a:t>
            </a:r>
          </a:p>
          <a:p>
            <a:pPr>
              <a:spcBef>
                <a:spcPts val="300"/>
              </a:spcBef>
              <a:defRPr sz="950">
                <a:solidFill>
                  <a:srgbClr val="0F172A"/>
                </a:solidFill>
                <a:latin typeface="Segoe UI"/>
              </a:defRPr>
            </a:pPr>
            <a:r>
              <a:t>Ở K=3840, BPE cùng miền tạo container nhỏ hơn LZW 32.6% trên Tiếng Việt và 13.7% trên Tiếng Anh. Mô hình hóa subword phản ánh chính xác cấu trúc hình thái học của ngôn ngữ hơn từ điển chuỗi LZW.</a:t>
            </a:r>
          </a:p>
        </p:txBody>
      </p:sp>
      <p:sp>
        <p:nvSpPr>
          <p:cNvPr id="10" name="Rounded Rectangle 9"/>
          <p:cNvSpPr/>
          <p:nvPr/>
        </p:nvSpPr>
        <p:spPr>
          <a:xfrm>
            <a:off x="731520" y="3337560"/>
            <a:ext cx="5212080" cy="164592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447288"/>
            <a:ext cx="4846320" cy="1426464"/>
          </a:xfrm>
          <a:prstGeom prst="rect">
            <a:avLst/>
          </a:prstGeom>
          <a:noFill/>
        </p:spPr>
        <p:txBody>
          <a:bodyPr wrap="square" lIns="0" tIns="0">
            <a:spAutoFit/>
          </a:bodyPr>
          <a:lstStyle/>
          <a:p>
            <a:pPr>
              <a:defRPr sz="1200" b="1">
                <a:solidFill>
                  <a:srgbClr val="E11D48"/>
                </a:solidFill>
                <a:latin typeface="Segoe UI"/>
              </a:defRPr>
            </a:pPr>
            <a:r>
              <a:t>3. Hiện Tượng Lạm Phát Token 3.54×</a:t>
            </a:r>
          </a:p>
          <a:p>
            <a:pPr>
              <a:spcBef>
                <a:spcPts val="300"/>
              </a:spcBef>
              <a:defRPr sz="950">
                <a:solidFill>
                  <a:srgbClr val="0F172A"/>
                </a:solidFill>
                <a:latin typeface="Segoe UI"/>
              </a:defRPr>
            </a:pPr>
            <a:r>
              <a:t>Tokenizer tiếng Anh gây lạm phát 3.54x số lượng token trên văn bản tiếng Việt do phân mảnh byte UTF-8. Đây là minh chứng thực nghiệm về sự cần thiết phải xây dựng Tokenizer bản địa hoặc đa ngữ cân bằng cho các mô hình LLM.</a:t>
            </a:r>
          </a:p>
        </p:txBody>
      </p:sp>
      <p:sp>
        <p:nvSpPr>
          <p:cNvPr id="12" name="Rounded Rectangle 11"/>
          <p:cNvSpPr/>
          <p:nvPr/>
        </p:nvSpPr>
        <p:spPr>
          <a:xfrm>
            <a:off x="6248095" y="3337560"/>
            <a:ext cx="5212080" cy="164592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0975" y="3447288"/>
            <a:ext cx="4846320" cy="1426464"/>
          </a:xfrm>
          <a:prstGeom prst="rect">
            <a:avLst/>
          </a:prstGeom>
          <a:noFill/>
        </p:spPr>
        <p:txBody>
          <a:bodyPr wrap="square" lIns="0" tIns="0">
            <a:spAutoFit/>
          </a:bodyPr>
          <a:lstStyle/>
          <a:p>
            <a:pPr>
              <a:defRPr sz="1200" b="1">
                <a:solidFill>
                  <a:srgbClr val="16A34A"/>
                </a:solidFill>
                <a:latin typeface="Segoe UI"/>
              </a:defRPr>
            </a:pPr>
            <a:r>
              <a:t>4. Sức Mạnh Cấu Trúc Dữ Liệu Tối Ưu</a:t>
            </a:r>
          </a:p>
          <a:p>
            <a:pPr>
              <a:spcBef>
                <a:spcPts val="300"/>
              </a:spcBef>
              <a:defRPr sz="950">
                <a:solidFill>
                  <a:srgbClr val="0F172A"/>
                </a:solidFill>
                <a:latin typeface="Segoe UI"/>
              </a:defRPr>
            </a:pPr>
            <a:r>
              <a:t>Sự kết hợp giữa Inverted Index, Max-Heap và kỹ thuật Lazy Deletion mang lại gia tốc hơn 104 lần (giảm từ 78.3s xuống 0.75s), khẳng định vai trò quyết định của cấu trúc dữ liệu đối với hiệu năng phần mềm.</a:t>
            </a:r>
          </a:p>
        </p:txBody>
      </p:sp>
      <p:sp>
        <p:nvSpPr>
          <p:cNvPr id="14" name="Rounded Rectangle 13"/>
          <p:cNvSpPr/>
          <p:nvPr/>
        </p:nvSpPr>
        <p:spPr>
          <a:xfrm>
            <a:off x="731520" y="5166360"/>
            <a:ext cx="10728655" cy="11887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257800"/>
            <a:ext cx="10271455" cy="1005840"/>
          </a:xfrm>
          <a:prstGeom prst="rect">
            <a:avLst/>
          </a:prstGeom>
          <a:noFill/>
        </p:spPr>
        <p:txBody>
          <a:bodyPr wrap="square" lIns="0" tIns="0">
            <a:spAutoFit/>
          </a:bodyPr>
          <a:lstStyle/>
          <a:p>
            <a:pPr>
              <a:defRPr sz="1100" b="1">
                <a:solidFill>
                  <a:srgbClr val="1D4ED8"/>
                </a:solidFill>
                <a:latin typeface="Segoe UI"/>
              </a:defRPr>
            </a:pPr>
            <a:r>
              <a:t>Hướng Nghiên Cứu &amp; Phát Triển Tiếp Theo:</a:t>
            </a:r>
          </a:p>
          <a:p>
            <a:pPr>
              <a:spcBef>
                <a:spcPts val="200"/>
              </a:spcBef>
              <a:defRPr sz="950">
                <a:solidFill>
                  <a:srgbClr val="0F172A"/>
                </a:solidFill>
                <a:latin typeface="Segoe UI"/>
              </a:defRPr>
            </a:pPr>
            <a:r>
              <a:t>(1) Thử nghiệm trên ngữ liệu song ngữ song song (parallel corpus) để triệt tiêu độ lệch chủ đề; (2) Tối ưu hóa I/O nhị phân của Huffman bằng BitArray cấp thấp để xóa bỏ nút thắt RAM; (3) Khảo sát các kỹ thuật mở rộng từ điển động cho LZW.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371600"/>
            <a:ext cx="9448495" cy="2743200"/>
          </a:xfrm>
          <a:prstGeom prst="rect">
            <a:avLst/>
          </a:prstGeom>
          <a:noFill/>
        </p:spPr>
        <p:txBody>
          <a:bodyPr wrap="square" lIns="0" tIns="0">
            <a:spAutoFit/>
          </a:bodyPr>
          <a:lstStyle/>
          <a:p>
            <a:pPr algn="ctr">
              <a:defRPr sz="2800" b="1">
                <a:solidFill>
                  <a:srgbClr val="F8FAFC"/>
                </a:solidFill>
                <a:latin typeface="Segoe UI"/>
              </a:defRPr>
            </a:pPr>
            <a:r>
              <a:t>CHÂN THÀNH CẢM ƠN THẦY VÀ HỘI ĐỒNG!</a:t>
            </a:r>
          </a:p>
          <a:p>
            <a:pPr algn="ctr">
              <a:spcBef>
                <a:spcPts val="800"/>
              </a:spcBef>
              <a:defRPr sz="1400">
                <a:solidFill>
                  <a:srgbClr val="0D9488"/>
                </a:solidFill>
                <a:latin typeface="Segoe UI"/>
              </a:defRPr>
            </a:pPr>
            <a:r>
              <a:t>Học phần CSD203 — Data Structures and Algorithms with Python · FA26</a:t>
            </a:r>
          </a:p>
          <a:p>
            <a:pPr algn="ctr">
              <a:spcBef>
                <a:spcPts val="400"/>
              </a:spcBef>
              <a:defRPr sz="1300">
                <a:solidFill>
                  <a:srgbClr val="94A3B8"/>
                </a:solidFill>
                <a:latin typeface="Segoe UI"/>
              </a:defRPr>
            </a:pPr>
            <a:r>
              <a:t>Nhóm 4 — Lớp AI21B — Đề tài 4: Nén Dữ Liệu &amp; Tokenizer BPE</a:t>
            </a:r>
          </a:p>
        </p:txBody>
      </p:sp>
      <p:sp>
        <p:nvSpPr>
          <p:cNvPr id="5" name="Rounded Rectangle 4"/>
          <p:cNvSpPr/>
          <p:nvPr/>
        </p:nvSpPr>
        <p:spPr>
          <a:xfrm>
            <a:off x="2011680" y="3474720"/>
            <a:ext cx="8168335" cy="2468880"/>
          </a:xfrm>
          <a:prstGeom prst="roundRect">
            <a:avLst/>
          </a:prstGeom>
          <a:solidFill>
            <a:srgbClr val="1C2541"/>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3657600"/>
            <a:ext cx="7619695" cy="2103120"/>
          </a:xfrm>
          <a:prstGeom prst="rect">
            <a:avLst/>
          </a:prstGeom>
          <a:noFill/>
        </p:spPr>
        <p:txBody>
          <a:bodyPr wrap="square" lIns="0" tIns="0">
            <a:spAutoFit/>
          </a:bodyPr>
          <a:lstStyle/>
          <a:p>
            <a:pPr algn="ctr">
              <a:defRPr sz="1600" b="1">
                <a:solidFill>
                  <a:srgbClr val="D97706"/>
                </a:solidFill>
                <a:latin typeface="Segoe UI"/>
              </a:defRPr>
            </a:pPr>
            <a:r>
              <a:t>PHIÊN HỎI ĐÁP &amp; VẤN ĐÁP ĐỒ ÁN (Q&amp;A SESSION)</a:t>
            </a:r>
          </a:p>
          <a:p>
            <a:pPr algn="ctr">
              <a:spcBef>
                <a:spcPts val="400"/>
              </a:spcBef>
              <a:defRPr sz="1100">
                <a:solidFill>
                  <a:srgbClr val="F8FAFC"/>
                </a:solidFill>
                <a:latin typeface="Segoe UI"/>
              </a:defRPr>
            </a:pPr>
            <a:r>
              <a:t>✓ Sẵn sàng giải đáp chi tiết mọi câu hỏi về cơ chế thuật toán và cấu trúc dữ liệu.</a:t>
            </a:r>
          </a:p>
          <a:p>
            <a:pPr algn="ctr">
              <a:spcBef>
                <a:spcPts val="400"/>
              </a:spcBef>
              <a:defRPr sz="1100">
                <a:solidFill>
                  <a:srgbClr val="F8FAFC"/>
                </a:solidFill>
                <a:latin typeface="Segoe UI"/>
              </a:defRPr>
            </a:pPr>
            <a:r>
              <a:t>✓ Sẵn sàng trình diễn kiểm thử trực tiếp: python -m pytest -q (831 tests passed 100%).</a:t>
            </a:r>
          </a:p>
          <a:p>
            <a:pPr algn="ctr">
              <a:spcBef>
                <a:spcPts val="400"/>
              </a:spcBef>
              <a:defRPr sz="1100">
                <a:solidFill>
                  <a:srgbClr val="F8FAFC"/>
                </a:solidFill>
                <a:latin typeface="Segoe UI"/>
              </a:defRPr>
            </a:pPr>
            <a:r>
              <a:t>✓ Sẵn sàng tái lập bất kỳ dòng thực nghiệm nào: python -m tools.verify_row --row &lt;X&gt;.</a:t>
            </a:r>
          </a:p>
          <a:p>
            <a:pPr algn="ctr">
              <a:spcBef>
                <a:spcPts val="400"/>
              </a:spcBef>
              <a:defRPr sz="1100">
                <a:solidFill>
                  <a:srgbClr val="F8FAFC"/>
                </a:solidFill>
                <a:latin typeface="Segoe UI"/>
              </a:defRPr>
            </a:pPr>
            <a:r>
              <a:t>✓ Toàn bộ mã nguồn, dữ liệu đo đạc và báo cáo đầy đủ đã được lưu trữ hoàn chỉnh.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