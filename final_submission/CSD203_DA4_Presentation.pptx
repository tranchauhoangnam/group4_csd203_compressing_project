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731520"/>
            <a:ext cx="411480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Segoe UI"/>
              </a:defRPr>
            </a:pPr>
            <a:r>
              <a:t>HỌC PHẦN CSD203 — DATA STRUCTURES &amp; ALGORITHMS</a:t>
            </a:r>
          </a:p>
        </p:txBody>
      </p:sp>
      <p:sp>
        <p:nvSpPr>
          <p:cNvPr id="4" name="TextBox 3"/>
          <p:cNvSpPr txBox="1"/>
          <p:nvPr/>
        </p:nvSpPr>
        <p:spPr>
          <a:xfrm>
            <a:off x="822960" y="1234440"/>
            <a:ext cx="10515600" cy="1645920"/>
          </a:xfrm>
          <a:prstGeom prst="rect">
            <a:avLst/>
          </a:prstGeom>
          <a:noFill/>
        </p:spPr>
        <p:txBody>
          <a:bodyPr wrap="square" lIns="0" tIns="0" rIns="0" bIns="0">
            <a:spAutoFit/>
          </a:bodyPr>
          <a:lstStyle/>
          <a:p>
            <a:pPr>
              <a:defRPr sz="2500" b="1">
                <a:solidFill>
                  <a:srgbClr val="FFFFFF"/>
                </a:solidFill>
                <a:latin typeface="Segoe UI"/>
              </a:defRPr>
            </a:pPr>
            <a:r>
              <a:t>Khảo sát thực nghiệm các thuật toán nén không mất mát</a:t>
            </a:r>
          </a:p>
          <a:p>
            <a:pPr>
              <a:spcBef>
                <a:spcPts val="300"/>
              </a:spcBef>
              <a:defRPr sz="2500" b="1">
                <a:solidFill>
                  <a:srgbClr val="3B82F6"/>
                </a:solidFill>
                <a:latin typeface="Segoe UI"/>
              </a:defRPr>
            </a:pPr>
            <a:r>
              <a:t>và tokenizer Byte Pair Encoding của mô hình ngôn ngữ lớn</a:t>
            </a:r>
          </a:p>
          <a:p>
            <a:pPr>
              <a:spcBef>
                <a:spcPts val="800"/>
              </a:spcBef>
              <a:defRPr sz="1150">
                <a:solidFill>
                  <a:srgbClr val="94A3B8"/>
                </a:solidFill>
                <a:latin typeface="Segoe UI"/>
              </a:defRPr>
            </a:pPr>
            <a:r>
              <a:t>Empirical Evaluation of Lossless Compression (RLE, Huffman, LZW) and Byte-level BPE Tokenizer for LLMs</a:t>
            </a:r>
          </a:p>
        </p:txBody>
      </p:sp>
      <p:sp>
        <p:nvSpPr>
          <p:cNvPr id="5" name="Rounded Rectangle 4"/>
          <p:cNvSpPr/>
          <p:nvPr/>
        </p:nvSpPr>
        <p:spPr>
          <a:xfrm>
            <a:off x="822960" y="3291840"/>
            <a:ext cx="10545775" cy="2834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474720"/>
            <a:ext cx="10058400" cy="365760"/>
          </a:xfrm>
          <a:prstGeom prst="rect">
            <a:avLst/>
          </a:prstGeom>
          <a:noFill/>
        </p:spPr>
        <p:txBody>
          <a:bodyPr wrap="none" lIns="0" tIns="0" rIns="0" bIns="0">
            <a:spAutoFit/>
          </a:bodyPr>
          <a:lstStyle/>
          <a:p>
            <a:pPr>
              <a:defRPr sz="1200" b="1">
                <a:solidFill>
                  <a:srgbClr val="0891B2"/>
                </a:solidFill>
                <a:latin typeface="Segoe UI"/>
              </a:defRPr>
            </a:pPr>
            <a:r>
              <a:t>NHÓM 4 — LỚP AI21B · HỌC KỲ FA26 · ĐỀ TÀI 4</a:t>
            </a:r>
          </a:p>
        </p:txBody>
      </p:sp>
      <p:sp>
        <p:nvSpPr>
          <p:cNvPr id="7" name="Rounded Rectangle 6"/>
          <p:cNvSpPr/>
          <p:nvPr/>
        </p:nvSpPr>
        <p:spPr>
          <a:xfrm>
            <a:off x="1097280" y="3931920"/>
            <a:ext cx="4846320" cy="566928"/>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defRPr sz="1000" b="1">
                <a:solidFill>
                  <a:srgbClr val="FFFFFF"/>
                </a:solidFill>
                <a:latin typeface="Segoe UI"/>
              </a:defRPr>
            </a:pPr>
            <a:r>
              <a:t>Trần Châu Hoàng Nam  </a:t>
            </a:r>
            <a:r>
              <a:rPr sz="900" b="0">
                <a:solidFill>
                  <a:srgbClr val="3B82F6"/>
                </a:solidFill>
                <a:latin typeface="Segoe UI"/>
              </a:rPr>
              <a:t>[QE210145]</a:t>
            </a:r>
          </a:p>
          <a:p>
            <a:pPr>
              <a:defRPr sz="800">
                <a:solidFill>
                  <a:srgbClr val="94A3B8"/>
                </a:solidFill>
                <a:latin typeface="Segoe UI"/>
              </a:defRPr>
            </a:pPr>
            <a:r>
              <a:t>Trưởng nhóm · Kiến trúc &amp; Pipeline BPE</a:t>
            </a:r>
          </a:p>
        </p:txBody>
      </p:sp>
      <p:sp>
        <p:nvSpPr>
          <p:cNvPr id="8" name="Rounded Rectangle 7"/>
          <p:cNvSpPr/>
          <p:nvPr/>
        </p:nvSpPr>
        <p:spPr>
          <a:xfrm>
            <a:off x="6217920" y="3931920"/>
            <a:ext cx="4846320" cy="566928"/>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defRPr sz="1000" b="1">
                <a:solidFill>
                  <a:srgbClr val="FFFFFF"/>
                </a:solidFill>
                <a:latin typeface="Segoe UI"/>
              </a:defRPr>
            </a:pPr>
            <a:r>
              <a:t>Nguyễn Trí Viễn  </a:t>
            </a:r>
            <a:r>
              <a:rPr sz="900" b="0">
                <a:solidFill>
                  <a:srgbClr val="3B82F6"/>
                </a:solidFill>
                <a:latin typeface="Segoe UI"/>
              </a:rPr>
              <a:t>[QE210041]</a:t>
            </a:r>
          </a:p>
          <a:p>
            <a:pPr>
              <a:defRPr sz="800">
                <a:solidFill>
                  <a:srgbClr val="94A3B8"/>
                </a:solidFill>
                <a:latin typeface="Segoe UI"/>
              </a:defRPr>
            </a:pPr>
            <a:r>
              <a:t>Nghiên cứu RQ1 &amp; Thực nghiệm Codec</a:t>
            </a:r>
          </a:p>
        </p:txBody>
      </p:sp>
      <p:sp>
        <p:nvSpPr>
          <p:cNvPr id="9" name="Rounded Rectangle 8"/>
          <p:cNvSpPr/>
          <p:nvPr/>
        </p:nvSpPr>
        <p:spPr>
          <a:xfrm>
            <a:off x="1097280" y="4590288"/>
            <a:ext cx="4846320" cy="566928"/>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defRPr sz="1000" b="1">
                <a:solidFill>
                  <a:srgbClr val="FFFFFF"/>
                </a:solidFill>
                <a:latin typeface="Segoe UI"/>
              </a:defRPr>
            </a:pPr>
            <a:r>
              <a:t>Phạm Minh Tiến  </a:t>
            </a:r>
            <a:r>
              <a:rPr sz="900" b="0">
                <a:solidFill>
                  <a:srgbClr val="3B82F6"/>
                </a:solidFill>
                <a:latin typeface="Segoe UI"/>
              </a:rPr>
              <a:t>[QE210079]</a:t>
            </a:r>
          </a:p>
          <a:p>
            <a:pPr>
              <a:defRPr sz="800">
                <a:solidFill>
                  <a:srgbClr val="94A3B8"/>
                </a:solidFill>
                <a:latin typeface="Segoe UI"/>
              </a:defRPr>
            </a:pPr>
            <a:r>
              <a:t>Nghiên cứu RQ2 &amp; Phân tích Hoán vị</a:t>
            </a:r>
          </a:p>
        </p:txBody>
      </p:sp>
      <p:sp>
        <p:nvSpPr>
          <p:cNvPr id="10" name="Rounded Rectangle 9"/>
          <p:cNvSpPr/>
          <p:nvPr/>
        </p:nvSpPr>
        <p:spPr>
          <a:xfrm>
            <a:off x="6217920" y="4590288"/>
            <a:ext cx="4846320" cy="566928"/>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defRPr sz="1000" b="1">
                <a:solidFill>
                  <a:srgbClr val="FFFFFF"/>
                </a:solidFill>
                <a:latin typeface="Segoe UI"/>
              </a:defRPr>
            </a:pPr>
            <a:r>
              <a:t>Hoàng Đức Khánh  </a:t>
            </a:r>
            <a:r>
              <a:rPr sz="900" b="0">
                <a:solidFill>
                  <a:srgbClr val="3B82F6"/>
                </a:solidFill>
                <a:latin typeface="Segoe UI"/>
              </a:rPr>
              <a:t>[SE180114]</a:t>
            </a:r>
          </a:p>
          <a:p>
            <a:pPr>
              <a:defRPr sz="800">
                <a:solidFill>
                  <a:srgbClr val="94A3B8"/>
                </a:solidFill>
                <a:latin typeface="Segoe UI"/>
              </a:defRPr>
            </a:pPr>
            <a:r>
              <a:t>Nghiên cứu RQ3 &amp; Tối ưu thuật toán Heap</a:t>
            </a:r>
          </a:p>
        </p:txBody>
      </p:sp>
      <p:sp>
        <p:nvSpPr>
          <p:cNvPr id="11" name="Rounded Rectangle 10"/>
          <p:cNvSpPr/>
          <p:nvPr/>
        </p:nvSpPr>
        <p:spPr>
          <a:xfrm>
            <a:off x="1097280" y="5248656"/>
            <a:ext cx="4846320" cy="566928"/>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defRPr sz="1000" b="1">
                <a:solidFill>
                  <a:srgbClr val="FFFFFF"/>
                </a:solidFill>
                <a:latin typeface="Segoe UI"/>
              </a:defRPr>
            </a:pPr>
            <a:r>
              <a:t>Trương Đình Tân  </a:t>
            </a:r>
            <a:r>
              <a:rPr sz="900" b="0">
                <a:solidFill>
                  <a:srgbClr val="3B82F6"/>
                </a:solidFill>
                <a:latin typeface="Segoe UI"/>
              </a:rPr>
              <a:t>[QE210065]</a:t>
            </a:r>
          </a:p>
          <a:p>
            <a:pPr>
              <a:defRPr sz="800">
                <a:solidFill>
                  <a:srgbClr val="94A3B8"/>
                </a:solidFill>
                <a:latin typeface="Segoe UI"/>
              </a:defRPr>
            </a:pPr>
            <a:r>
              <a:t>Kiểm thử hệ thống &amp; Hardening Decoder</a:t>
            </a:r>
          </a:p>
        </p:txBody>
      </p:sp>
      <p:sp>
        <p:nvSpPr>
          <p:cNvPr id="12" name="Rounded Rectangle 11"/>
          <p:cNvSpPr/>
          <p:nvPr/>
        </p:nvSpPr>
        <p:spPr>
          <a:xfrm>
            <a:off x="6217920" y="5248656"/>
            <a:ext cx="4846320" cy="566928"/>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defRPr sz="1000" b="1">
                <a:solidFill>
                  <a:srgbClr val="FFFFFF"/>
                </a:solidFill>
                <a:latin typeface="Segoe UI"/>
              </a:defRPr>
            </a:pPr>
            <a:r>
              <a:t>Dương Quốc Thịnh  </a:t>
            </a:r>
            <a:r>
              <a:rPr sz="900" b="0">
                <a:solidFill>
                  <a:srgbClr val="3B82F6"/>
                </a:solidFill>
                <a:latin typeface="Segoe UI"/>
              </a:rPr>
              <a:t>[QE210121]</a:t>
            </a:r>
          </a:p>
          <a:p>
            <a:pPr>
              <a:defRPr sz="800">
                <a:solidFill>
                  <a:srgbClr val="94A3B8"/>
                </a:solidFill>
                <a:latin typeface="Segoe UI"/>
              </a:defRPr>
            </a:pPr>
            <a:r>
              <a:t>Trực quan hóa dữ liệu &amp; Soạn thảo báo cáo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TỔNG QUAN</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Lộ trình báo cáo &amp; 3 Điểm nhấn định lượng cốt lõi</a:t>
            </a:r>
          </a:p>
          <a:p>
            <a:pPr>
              <a:spcBef>
                <a:spcPts val="200"/>
              </a:spcBef>
              <a:defRPr sz="1000">
                <a:solidFill>
                  <a:srgbClr val="64748B"/>
                </a:solidFill>
                <a:latin typeface="Segoe UI"/>
              </a:defRPr>
            </a:pPr>
            <a:r>
              <a:t>Khảo sát thực nghiệm nén dữ liệu &amp; Tokenizer BPE trên văn bản Tiếng Việt - Tiếng Anh</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2 / 17</a:t>
            </a:r>
          </a:p>
        </p:txBody>
      </p:sp>
      <p:sp>
        <p:nvSpPr>
          <p:cNvPr id="8" name="Rounded Rectangle 7"/>
          <p:cNvSpPr/>
          <p:nvPr/>
        </p:nvSpPr>
        <p:spPr>
          <a:xfrm>
            <a:off x="731520" y="1463040"/>
            <a:ext cx="6217920" cy="685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572768"/>
            <a:ext cx="438912" cy="4389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Segoe UI"/>
              </a:defRPr>
            </a:pPr>
            <a:r>
              <a:t>1</a:t>
            </a:r>
          </a:p>
        </p:txBody>
      </p:sp>
      <p:sp>
        <p:nvSpPr>
          <p:cNvPr id="10" name="TextBox 9"/>
          <p:cNvSpPr txBox="1"/>
          <p:nvPr/>
        </p:nvSpPr>
        <p:spPr>
          <a:xfrm>
            <a:off x="1417320" y="1536192"/>
            <a:ext cx="5303520" cy="530352"/>
          </a:xfrm>
          <a:prstGeom prst="rect">
            <a:avLst/>
          </a:prstGeom>
          <a:noFill/>
        </p:spPr>
        <p:txBody>
          <a:bodyPr wrap="square" lIns="0" rIns="0" tIns="0" bIns="0">
            <a:spAutoFit/>
          </a:bodyPr>
          <a:lstStyle/>
          <a:p>
            <a:pPr>
              <a:defRPr sz="1050" b="1">
                <a:solidFill>
                  <a:srgbClr val="0F172A"/>
                </a:solidFill>
                <a:latin typeface="Segoe UI"/>
              </a:defRPr>
            </a:pPr>
            <a:r>
              <a:t>Bối cảnh &amp; 3 Câu hỏi Nghiên cứu</a:t>
            </a:r>
          </a:p>
          <a:p>
            <a:pPr>
              <a:spcBef>
                <a:spcPts val="100"/>
              </a:spcBef>
              <a:defRPr sz="850">
                <a:solidFill>
                  <a:srgbClr val="64748B"/>
                </a:solidFill>
                <a:latin typeface="Segoe UI"/>
              </a:defRPr>
            </a:pPr>
            <a:r>
              <a:t>Tách bạch Codec độc lập vs Tokenizer chia sẻ từ điển</a:t>
            </a:r>
          </a:p>
        </p:txBody>
      </p:sp>
      <p:sp>
        <p:nvSpPr>
          <p:cNvPr id="11" name="Rounded Rectangle 10"/>
          <p:cNvSpPr/>
          <p:nvPr/>
        </p:nvSpPr>
        <p:spPr>
          <a:xfrm>
            <a:off x="731520" y="2240280"/>
            <a:ext cx="6217920" cy="685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2350008"/>
            <a:ext cx="438912" cy="4389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Segoe UI"/>
              </a:defRPr>
            </a:pPr>
            <a:r>
              <a:t>2</a:t>
            </a:r>
          </a:p>
        </p:txBody>
      </p:sp>
      <p:sp>
        <p:nvSpPr>
          <p:cNvPr id="13" name="TextBox 12"/>
          <p:cNvSpPr txBox="1"/>
          <p:nvPr/>
        </p:nvSpPr>
        <p:spPr>
          <a:xfrm>
            <a:off x="1417320" y="2313432"/>
            <a:ext cx="5303520" cy="530352"/>
          </a:xfrm>
          <a:prstGeom prst="rect">
            <a:avLst/>
          </a:prstGeom>
          <a:noFill/>
        </p:spPr>
        <p:txBody>
          <a:bodyPr wrap="square" lIns="0" rIns="0" tIns="0" bIns="0">
            <a:spAutoFit/>
          </a:bodyPr>
          <a:lstStyle/>
          <a:p>
            <a:pPr>
              <a:defRPr sz="1050" b="1">
                <a:solidFill>
                  <a:srgbClr val="0F172A"/>
                </a:solidFill>
                <a:latin typeface="Segoe UI"/>
              </a:defRPr>
            </a:pPr>
            <a:r>
              <a:t>Nguyên lý Thuật toán &amp; Chuẩn hóa Thực nghiệm</a:t>
            </a:r>
          </a:p>
          <a:p>
            <a:pPr>
              <a:spcBef>
                <a:spcPts val="100"/>
              </a:spcBef>
              <a:defRPr sz="850">
                <a:solidFill>
                  <a:srgbClr val="64748B"/>
                </a:solidFill>
                <a:latin typeface="Segoe UI"/>
              </a:defRPr>
            </a:pPr>
            <a:r>
              <a:t>Đặc tả container tự giải mã, cấu trúc dữ liệu &amp; manifest</a:t>
            </a:r>
          </a:p>
        </p:txBody>
      </p:sp>
      <p:sp>
        <p:nvSpPr>
          <p:cNvPr id="14" name="Rounded Rectangle 13"/>
          <p:cNvSpPr/>
          <p:nvPr/>
        </p:nvSpPr>
        <p:spPr>
          <a:xfrm>
            <a:off x="731520" y="3017520"/>
            <a:ext cx="6217920" cy="685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8680" y="3127248"/>
            <a:ext cx="438912" cy="4389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Segoe UI"/>
              </a:defRPr>
            </a:pPr>
            <a:r>
              <a:t>3</a:t>
            </a:r>
          </a:p>
        </p:txBody>
      </p:sp>
      <p:sp>
        <p:nvSpPr>
          <p:cNvPr id="16" name="TextBox 15"/>
          <p:cNvSpPr txBox="1"/>
          <p:nvPr/>
        </p:nvSpPr>
        <p:spPr>
          <a:xfrm>
            <a:off x="1417320" y="3090672"/>
            <a:ext cx="5303520" cy="530352"/>
          </a:xfrm>
          <a:prstGeom prst="rect">
            <a:avLst/>
          </a:prstGeom>
          <a:noFill/>
        </p:spPr>
        <p:txBody>
          <a:bodyPr wrap="square" lIns="0" rIns="0" tIns="0" bIns="0">
            <a:spAutoFit/>
          </a:bodyPr>
          <a:lstStyle/>
          <a:p>
            <a:pPr>
              <a:defRPr sz="1050" b="1">
                <a:solidFill>
                  <a:srgbClr val="0F172A"/>
                </a:solidFill>
                <a:latin typeface="Segoe UI"/>
              </a:defRPr>
            </a:pPr>
            <a:r>
              <a:t>RQ1: Họ dữ liệu &amp; Quy mô nén</a:t>
            </a:r>
          </a:p>
          <a:p>
            <a:pPr>
              <a:spcBef>
                <a:spcPts val="100"/>
              </a:spcBef>
              <a:defRPr sz="850">
                <a:solidFill>
                  <a:srgbClr val="64748B"/>
                </a:solidFill>
                <a:latin typeface="Segoe UI"/>
              </a:defRPr>
            </a:pPr>
            <a:r>
              <a:t>Khảo sát RLE, Huffman, LZW từ 256 KiB đến 4096 KiB</a:t>
            </a:r>
          </a:p>
        </p:txBody>
      </p:sp>
      <p:sp>
        <p:nvSpPr>
          <p:cNvPr id="17" name="Rounded Rectangle 16"/>
          <p:cNvSpPr/>
          <p:nvPr/>
        </p:nvSpPr>
        <p:spPr>
          <a:xfrm>
            <a:off x="731520" y="3794760"/>
            <a:ext cx="6217920" cy="685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3904488"/>
            <a:ext cx="438912" cy="4389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Segoe UI"/>
              </a:defRPr>
            </a:pPr>
            <a:r>
              <a:t>4</a:t>
            </a:r>
          </a:p>
        </p:txBody>
      </p:sp>
      <p:sp>
        <p:nvSpPr>
          <p:cNvPr id="19" name="TextBox 18"/>
          <p:cNvSpPr txBox="1"/>
          <p:nvPr/>
        </p:nvSpPr>
        <p:spPr>
          <a:xfrm>
            <a:off x="1417320" y="3867912"/>
            <a:ext cx="5303520" cy="530352"/>
          </a:xfrm>
          <a:prstGeom prst="rect">
            <a:avLst/>
          </a:prstGeom>
          <a:noFill/>
        </p:spPr>
        <p:txBody>
          <a:bodyPr wrap="square" lIns="0" rIns="0" tIns="0" bIns="0">
            <a:spAutoFit/>
          </a:bodyPr>
          <a:lstStyle/>
          <a:p>
            <a:pPr>
              <a:defRPr sz="1050" b="1">
                <a:solidFill>
                  <a:srgbClr val="0F172A"/>
                </a:solidFill>
                <a:latin typeface="Segoe UI"/>
              </a:defRPr>
            </a:pPr>
            <a:r>
              <a:t>RQ2: Hoán vị byte &amp; Entropy bậc 0</a:t>
            </a:r>
          </a:p>
          <a:p>
            <a:pPr>
              <a:spcBef>
                <a:spcPts val="100"/>
              </a:spcBef>
              <a:defRPr sz="850">
                <a:solidFill>
                  <a:srgbClr val="64748B"/>
                </a:solidFill>
                <a:latin typeface="Segoe UI"/>
              </a:defRPr>
            </a:pPr>
            <a:r>
              <a:t>Hiện tượng bất biến Huffman và nghịch lý đóng băng LZW</a:t>
            </a:r>
          </a:p>
        </p:txBody>
      </p:sp>
      <p:sp>
        <p:nvSpPr>
          <p:cNvPr id="20" name="Rounded Rectangle 19"/>
          <p:cNvSpPr/>
          <p:nvPr/>
        </p:nvSpPr>
        <p:spPr>
          <a:xfrm>
            <a:off x="731520" y="4572000"/>
            <a:ext cx="6217920" cy="685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8680" y="4681728"/>
            <a:ext cx="438912" cy="4389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Segoe UI"/>
              </a:defRPr>
            </a:pPr>
            <a:r>
              <a:t>5</a:t>
            </a:r>
          </a:p>
        </p:txBody>
      </p:sp>
      <p:sp>
        <p:nvSpPr>
          <p:cNvPr id="22" name="TextBox 21"/>
          <p:cNvSpPr txBox="1"/>
          <p:nvPr/>
        </p:nvSpPr>
        <p:spPr>
          <a:xfrm>
            <a:off x="1417320" y="4645152"/>
            <a:ext cx="5303520" cy="530352"/>
          </a:xfrm>
          <a:prstGeom prst="rect">
            <a:avLst/>
          </a:prstGeom>
          <a:noFill/>
        </p:spPr>
        <p:txBody>
          <a:bodyPr wrap="square" lIns="0" rIns="0" tIns="0" bIns="0">
            <a:spAutoFit/>
          </a:bodyPr>
          <a:lstStyle/>
          <a:p>
            <a:pPr>
              <a:defRPr sz="1050" b="1">
                <a:solidFill>
                  <a:srgbClr val="0F172A"/>
                </a:solidFill>
                <a:latin typeface="Segoe UI"/>
              </a:defRPr>
            </a:pPr>
            <a:r>
              <a:t>RQ3: BPE Tokenizer, Đa ngữ &amp; Tối ưu Heap</a:t>
            </a:r>
          </a:p>
          <a:p>
            <a:pPr>
              <a:spcBef>
                <a:spcPts val="100"/>
              </a:spcBef>
              <a:defRPr sz="850">
                <a:solidFill>
                  <a:srgbClr val="64748B"/>
                </a:solidFill>
                <a:latin typeface="Segoe UI"/>
              </a:defRPr>
            </a:pPr>
            <a:r>
              <a:t>Ma trận Việt–Anh 2x2, lạm phát token và tăng tốc 104x</a:t>
            </a:r>
          </a:p>
        </p:txBody>
      </p:sp>
      <p:sp>
        <p:nvSpPr>
          <p:cNvPr id="23" name="Rounded Rectangle 22"/>
          <p:cNvSpPr/>
          <p:nvPr/>
        </p:nvSpPr>
        <p:spPr>
          <a:xfrm>
            <a:off x="731520" y="5349240"/>
            <a:ext cx="6217920" cy="685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68680" y="5458968"/>
            <a:ext cx="438912" cy="4389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Segoe UI"/>
              </a:defRPr>
            </a:pPr>
            <a:r>
              <a:t>6</a:t>
            </a:r>
          </a:p>
        </p:txBody>
      </p:sp>
      <p:sp>
        <p:nvSpPr>
          <p:cNvPr id="25" name="TextBox 24"/>
          <p:cNvSpPr txBox="1"/>
          <p:nvPr/>
        </p:nvSpPr>
        <p:spPr>
          <a:xfrm>
            <a:off x="1417320" y="5422392"/>
            <a:ext cx="5303520" cy="530352"/>
          </a:xfrm>
          <a:prstGeom prst="rect">
            <a:avLst/>
          </a:prstGeom>
          <a:noFill/>
        </p:spPr>
        <p:txBody>
          <a:bodyPr wrap="square" lIns="0" rIns="0" tIns="0" bIns="0">
            <a:spAutoFit/>
          </a:bodyPr>
          <a:lstStyle/>
          <a:p>
            <a:pPr>
              <a:defRPr sz="1050" b="1">
                <a:solidFill>
                  <a:srgbClr val="0F172A"/>
                </a:solidFill>
                <a:latin typeface="Segoe UI"/>
              </a:defRPr>
            </a:pPr>
            <a:r>
              <a:t>Kiểm thử 761 Tests, Giới hạn &amp; Đóng góp</a:t>
            </a:r>
          </a:p>
          <a:p>
            <a:pPr>
              <a:spcBef>
                <a:spcPts val="100"/>
              </a:spcBef>
              <a:defRPr sz="850">
                <a:solidFill>
                  <a:srgbClr val="64748B"/>
                </a:solidFill>
                <a:latin typeface="Segoe UI"/>
              </a:defRPr>
            </a:pPr>
            <a:r>
              <a:t>Hardening decoder, toàn vẹn SHA-256 và tính trung thực</a:t>
            </a:r>
          </a:p>
        </p:txBody>
      </p:sp>
      <p:sp>
        <p:nvSpPr>
          <p:cNvPr id="26" name="Rounded Rectangle 25"/>
          <p:cNvSpPr/>
          <p:nvPr/>
        </p:nvSpPr>
        <p:spPr>
          <a:xfrm>
            <a:off x="7315200" y="1463040"/>
            <a:ext cx="414497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79792" y="1572768"/>
            <a:ext cx="3815791" cy="1197864"/>
          </a:xfrm>
          <a:prstGeom prst="rect">
            <a:avLst/>
          </a:prstGeom>
          <a:noFill/>
        </p:spPr>
        <p:txBody>
          <a:bodyPr wrap="square" lIns="0" tIns="0" rIns="0" bIns="0">
            <a:spAutoFit/>
          </a:bodyPr>
          <a:lstStyle/>
          <a:p>
            <a:pPr>
              <a:defRPr sz="2100" b="1">
                <a:solidFill>
                  <a:srgbClr val="059669"/>
                </a:solidFill>
                <a:latin typeface="Segoe UI"/>
              </a:defRPr>
            </a:pPr>
            <a:r>
              <a:t>32.6% &amp; 13.7%</a:t>
            </a:r>
          </a:p>
          <a:p>
            <a:pPr>
              <a:spcBef>
                <a:spcPts val="200"/>
              </a:spcBef>
              <a:defRPr sz="1000" b="1">
                <a:solidFill>
                  <a:srgbClr val="0F172A"/>
                </a:solidFill>
                <a:latin typeface="Segoe UI"/>
              </a:defRPr>
            </a:pPr>
            <a:r>
              <a:t>BPE Vượt Trội LZW ở K=3840</a:t>
            </a:r>
          </a:p>
          <a:p>
            <a:pPr>
              <a:spcBef>
                <a:spcPts val="200"/>
              </a:spcBef>
              <a:defRPr sz="819">
                <a:solidFill>
                  <a:srgbClr val="64748B"/>
                </a:solidFill>
                <a:latin typeface="Segoe UI"/>
              </a:defRPr>
            </a:pPr>
            <a:r>
              <a:t>Tại ngân sách K cao, BPE huấn luyện cùng ngôn ngữ tạo container nhỏ hơn LZW 32.6% trên Wikipedia Tiếng Việt và 13.7% trên Tiếng Anh (đã tính đủ overhead bảng merge).</a:t>
            </a:r>
          </a:p>
        </p:txBody>
      </p:sp>
      <p:sp>
        <p:nvSpPr>
          <p:cNvPr id="28" name="Rounded Rectangle 27"/>
          <p:cNvSpPr/>
          <p:nvPr/>
        </p:nvSpPr>
        <p:spPr>
          <a:xfrm>
            <a:off x="7315200" y="3063240"/>
            <a:ext cx="414497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172968"/>
            <a:ext cx="3815791" cy="1197864"/>
          </a:xfrm>
          <a:prstGeom prst="rect">
            <a:avLst/>
          </a:prstGeom>
          <a:noFill/>
        </p:spPr>
        <p:txBody>
          <a:bodyPr wrap="square" lIns="0" tIns="0" rIns="0" bIns="0">
            <a:spAutoFit/>
          </a:bodyPr>
          <a:lstStyle/>
          <a:p>
            <a:pPr>
              <a:defRPr sz="2100" b="1">
                <a:solidFill>
                  <a:srgbClr val="E11D48"/>
                </a:solidFill>
                <a:latin typeface="Segoe UI"/>
              </a:defRPr>
            </a:pPr>
            <a:r>
              <a:t>3.54× Lạm Phát Token</a:t>
            </a:r>
          </a:p>
          <a:p>
            <a:pPr>
              <a:spcBef>
                <a:spcPts val="200"/>
              </a:spcBef>
              <a:defRPr sz="1000" b="1">
                <a:solidFill>
                  <a:srgbClr val="0F172A"/>
                </a:solidFill>
                <a:latin typeface="Segoe UI"/>
              </a:defRPr>
            </a:pPr>
            <a:r>
              <a:t>Thách Thức Tokenizer Xuyên Ngữ</a:t>
            </a:r>
          </a:p>
          <a:p>
            <a:pPr>
              <a:spcBef>
                <a:spcPts val="200"/>
              </a:spcBef>
              <a:defRPr sz="819">
                <a:solidFill>
                  <a:srgbClr val="64748B"/>
                </a:solidFill>
                <a:latin typeface="Segoe UI"/>
              </a:defRPr>
            </a:pPr>
            <a:r>
              <a:t>Trên cùng văn bản Tiếng Việt V1, tokenizer học từ Tiếng Anh (E1) sinh ra 795,855 tokens, gấp 3.54 lần tokenizer học từ Tiếng Việt (224,618 tokens) do vỡ vụn ký tự UTF-8.</a:t>
            </a:r>
          </a:p>
        </p:txBody>
      </p:sp>
      <p:sp>
        <p:nvSpPr>
          <p:cNvPr id="30" name="Rounded Rectangle 29"/>
          <p:cNvSpPr/>
          <p:nvPr/>
        </p:nvSpPr>
        <p:spPr>
          <a:xfrm>
            <a:off x="7315200" y="4663440"/>
            <a:ext cx="414497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79792" y="4773168"/>
            <a:ext cx="3815791" cy="1197864"/>
          </a:xfrm>
          <a:prstGeom prst="rect">
            <a:avLst/>
          </a:prstGeom>
          <a:noFill/>
        </p:spPr>
        <p:txBody>
          <a:bodyPr wrap="square" lIns="0" tIns="0" rIns="0" bIns="0">
            <a:spAutoFit/>
          </a:bodyPr>
          <a:lstStyle/>
          <a:p>
            <a:pPr>
              <a:defRPr sz="2100" b="1">
                <a:solidFill>
                  <a:srgbClr val="2563EB"/>
                </a:solidFill>
                <a:latin typeface="Segoe UI"/>
              </a:defRPr>
            </a:pPr>
            <a:r>
              <a:t>104.72× Speedup</a:t>
            </a:r>
          </a:p>
          <a:p>
            <a:pPr>
              <a:spcBef>
                <a:spcPts val="200"/>
              </a:spcBef>
              <a:defRPr sz="1000" b="1">
                <a:solidFill>
                  <a:srgbClr val="0F172A"/>
                </a:solidFill>
                <a:latin typeface="Segoe UI"/>
              </a:defRPr>
            </a:pPr>
            <a:r>
              <a:t>Tối Ưu Huấn Luyện BPE với Heap</a:t>
            </a:r>
          </a:p>
          <a:p>
            <a:pPr>
              <a:spcBef>
                <a:spcPts val="200"/>
              </a:spcBef>
              <a:defRPr sz="819">
                <a:solidFill>
                  <a:srgbClr val="64748B"/>
                </a:solidFill>
                <a:latin typeface="Segoe UI"/>
              </a:defRPr>
            </a:pPr>
            <a:r>
              <a:t>Cấu trúc Incremental Heap kết hợp Lazy Deletion giảm thời gian train BPE trên V1 full 1 MiB từ 78.3 giây (Naive) xuống chỉ còn 0.75 giây (Inc) mà vẫn giữ nguyên 100% thứ tự merge.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BỐI CẢNH &amp; MỤC TIÊU</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Bối cảnh nghiên cứu &amp; 3 Câu hỏi Thực nghiệm (RQ1 - RQ3)</a:t>
            </a:r>
          </a:p>
          <a:p>
            <a:pPr>
              <a:spcBef>
                <a:spcPts val="200"/>
              </a:spcBef>
              <a:defRPr sz="1000">
                <a:solidFill>
                  <a:srgbClr val="64748B"/>
                </a:solidFill>
                <a:latin typeface="Segoe UI"/>
              </a:defRPr>
            </a:pPr>
            <a:r>
              <a:t>Giao thoa giữa Nén dữ liệu truyền thống và Tiền xử lý văn bản cho Mô hình Ngôn ngữ lớn (LLM)</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3 / 17</a:t>
            </a:r>
          </a:p>
        </p:txBody>
      </p:sp>
      <p:sp>
        <p:nvSpPr>
          <p:cNvPr id="8" name="Rounded Rectangle 7"/>
          <p:cNvSpPr/>
          <p:nvPr/>
        </p:nvSpPr>
        <p:spPr>
          <a:xfrm>
            <a:off x="731520" y="1463040"/>
            <a:ext cx="10728655" cy="105156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572768"/>
            <a:ext cx="10241280" cy="822960"/>
          </a:xfrm>
          <a:prstGeom prst="rect">
            <a:avLst/>
          </a:prstGeom>
          <a:noFill/>
        </p:spPr>
        <p:txBody>
          <a:bodyPr wrap="square" lIns="0" rIns="0" tIns="0" bIns="0">
            <a:spAutoFit/>
          </a:bodyPr>
          <a:lstStyle/>
          <a:p>
            <a:pPr>
              <a:defRPr sz="1100" b="1">
                <a:solidFill>
                  <a:srgbClr val="4F46E5"/>
                </a:solidFill>
                <a:latin typeface="Segoe UI"/>
              </a:defRPr>
            </a:pPr>
            <a:r>
              <a:t>Sự chuyển dịch từ Nén Không Mất Mát sang Tokenizer Subword trong LLM:</a:t>
            </a:r>
          </a:p>
          <a:p>
            <a:pPr>
              <a:spcBef>
                <a:spcPts val="300"/>
              </a:spcBef>
              <a:defRPr sz="900">
                <a:solidFill>
                  <a:srgbClr val="334155"/>
                </a:solidFill>
                <a:latin typeface="Segoe UI"/>
              </a:defRPr>
            </a:pPr>
            <a:r>
              <a:t>• Nén không mất mát (RLE, Huffman, LZW) tập trung vào tỷ lệ nén tối đa của một tệp độc lập, mang theo toàn bộ siêu dữ liệu giải mã.</a:t>
            </a:r>
            <a:br/>
            <a:r>
              <a:t>• Tokenizer BPE (GPT-2/3, LLaMA) là codec subword chia sẻ từ điển: bên nén và giải nén thỏa thuận trước bảng merge, tối ưu hóa số lượng token và mở rộng vốn từ vựng mở.</a:t>
            </a:r>
          </a:p>
        </p:txBody>
      </p:sp>
      <p:sp>
        <p:nvSpPr>
          <p:cNvPr id="10" name="Rounded Rectangle 9"/>
          <p:cNvSpPr/>
          <p:nvPr/>
        </p:nvSpPr>
        <p:spPr>
          <a:xfrm>
            <a:off x="731520" y="2697480"/>
            <a:ext cx="3413455"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112" y="2834640"/>
            <a:ext cx="3084271" cy="4389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Segoe UI"/>
              </a:defRPr>
            </a:pPr>
            <a:r>
              <a:t>RQ1: Họ dữ liệu &amp; Quy mô nén</a:t>
            </a:r>
          </a:p>
        </p:txBody>
      </p:sp>
      <p:sp>
        <p:nvSpPr>
          <p:cNvPr id="12" name="TextBox 11"/>
          <p:cNvSpPr txBox="1"/>
          <p:nvPr/>
        </p:nvSpPr>
        <p:spPr>
          <a:xfrm>
            <a:off x="896112" y="3364992"/>
            <a:ext cx="3084271" cy="2788920"/>
          </a:xfrm>
          <a:prstGeom prst="rect">
            <a:avLst/>
          </a:prstGeom>
          <a:noFill/>
        </p:spPr>
        <p:txBody>
          <a:bodyPr wrap="square" lIns="0" rIns="0" tIns="0" bIns="0">
            <a:spAutoFit/>
          </a:bodyPr>
          <a:lstStyle/>
          <a:p>
            <a:pPr>
              <a:spcBef>
                <a:spcPts val="300"/>
              </a:spcBef>
              <a:defRPr sz="850">
                <a:solidFill>
                  <a:srgbClr val="0F172A"/>
                </a:solidFill>
                <a:latin typeface="Segoe UI"/>
              </a:defRPr>
            </a:pPr>
            <a:r>
              <a:t>Khảo sát hiệu quả của RLE, Huffman chính tắc và LZW 12-bit.</a:t>
            </a:r>
          </a:p>
          <a:p>
            <a:pPr>
              <a:spcBef>
                <a:spcPts val="300"/>
              </a:spcBef>
              <a:defRPr sz="850">
                <a:solidFill>
                  <a:srgbClr val="475569"/>
                </a:solidFill>
                <a:latin typeface="Segoe UI"/>
              </a:defRPr>
            </a:pPr>
            <a:r>
              <a:t>Quy mô từ 256 KiB đến 4096 KiB trên 4 họ dữ liệu:</a:t>
            </a:r>
          </a:p>
          <a:p>
            <a:pPr>
              <a:spcBef>
                <a:spcPts val="300"/>
              </a:spcBef>
              <a:defRPr sz="850">
                <a:solidFill>
                  <a:srgbClr val="0F172A"/>
                </a:solidFill>
                <a:latin typeface="Segoe UI"/>
              </a:defRPr>
            </a:pPr>
            <a:r>
              <a:t>— C1: Run dài hình học (geometric runs, mean 32B).</a:t>
            </a:r>
          </a:p>
          <a:p>
            <a:pPr>
              <a:spcBef>
                <a:spcPts val="300"/>
              </a:spcBef>
              <a:defRPr sz="850">
                <a:solidFill>
                  <a:srgbClr val="0F172A"/>
                </a:solidFill>
                <a:latin typeface="Segoe UI"/>
              </a:defRPr>
            </a:pPr>
            <a:r>
              <a:t>— C2: Từ vựng lặp theo phân bố Zipf (s=1, 1000 từ).</a:t>
            </a:r>
          </a:p>
          <a:p>
            <a:pPr>
              <a:spcBef>
                <a:spcPts val="300"/>
              </a:spcBef>
              <a:defRPr sz="850">
                <a:solidFill>
                  <a:srgbClr val="0F172A"/>
                </a:solidFill>
                <a:latin typeface="Segoe UI"/>
              </a:defRPr>
            </a:pPr>
            <a:r>
              <a:t>— C3: Byte ngẫu nhiên phân bố đều (cực đại entropy).</a:t>
            </a:r>
          </a:p>
          <a:p>
            <a:pPr>
              <a:spcBef>
                <a:spcPts val="300"/>
              </a:spcBef>
              <a:defRPr sz="850">
                <a:solidFill>
                  <a:srgbClr val="0F172A"/>
                </a:solidFill>
                <a:latin typeface="Segoe UI"/>
              </a:defRPr>
            </a:pPr>
            <a:r>
              <a:t>— V1: Wikipedia tiếng Việt thực tế.</a:t>
            </a:r>
          </a:p>
          <a:p>
            <a:pPr>
              <a:spcBef>
                <a:spcPts val="300"/>
              </a:spcBef>
              <a:defRPr sz="850">
                <a:solidFill>
                  <a:srgbClr val="475569"/>
                </a:solidFill>
                <a:latin typeface="Segoe UI"/>
              </a:defRPr>
            </a:pPr>
            <a:r>
              <a:t>Đánh giá: Tỷ lệ nén, thông lượng (KiB/s) và đỉnh RAM.</a:t>
            </a:r>
          </a:p>
        </p:txBody>
      </p:sp>
      <p:sp>
        <p:nvSpPr>
          <p:cNvPr id="13" name="Rounded Rectangle 12"/>
          <p:cNvSpPr/>
          <p:nvPr/>
        </p:nvSpPr>
        <p:spPr>
          <a:xfrm>
            <a:off x="4389120" y="2697480"/>
            <a:ext cx="3413455"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53712" y="2834640"/>
            <a:ext cx="3084271" cy="43891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Segoe UI"/>
              </a:defRPr>
            </a:pPr>
            <a:r>
              <a:t>RQ2: Hoán vị byte &amp; Entropy bậc 0</a:t>
            </a:r>
          </a:p>
        </p:txBody>
      </p:sp>
      <p:sp>
        <p:nvSpPr>
          <p:cNvPr id="15" name="TextBox 14"/>
          <p:cNvSpPr txBox="1"/>
          <p:nvPr/>
        </p:nvSpPr>
        <p:spPr>
          <a:xfrm>
            <a:off x="4553712" y="3364992"/>
            <a:ext cx="3084271" cy="2788920"/>
          </a:xfrm>
          <a:prstGeom prst="rect">
            <a:avLst/>
          </a:prstGeom>
          <a:noFill/>
        </p:spPr>
        <p:txBody>
          <a:bodyPr wrap="square" lIns="0" rIns="0" tIns="0" bIns="0">
            <a:spAutoFit/>
          </a:bodyPr>
          <a:lstStyle/>
          <a:p>
            <a:pPr>
              <a:spcBef>
                <a:spcPts val="300"/>
              </a:spcBef>
              <a:defRPr sz="850">
                <a:solidFill>
                  <a:srgbClr val="475569"/>
                </a:solidFill>
                <a:latin typeface="Segoe UI"/>
              </a:defRPr>
            </a:pPr>
            <a:r>
              <a:t>Kiểm chứng tác động của thứ tự byte khi giữ nguyên histogram.</a:t>
            </a:r>
          </a:p>
          <a:p>
            <a:pPr>
              <a:spcBef>
                <a:spcPts val="300"/>
              </a:spcBef>
              <a:defRPr sz="850">
                <a:solidFill>
                  <a:srgbClr val="475569"/>
                </a:solidFill>
                <a:latin typeface="Segoe UI"/>
              </a:defRPr>
            </a:pPr>
            <a:r>
              <a:t>Dữ liệu: Canterbury (alice29, kennedy) &amp; Wiki V1.</a:t>
            </a:r>
          </a:p>
          <a:p>
            <a:pPr>
              <a:spcBef>
                <a:spcPts val="300"/>
              </a:spcBef>
              <a:defRPr sz="850">
                <a:solidFill>
                  <a:srgbClr val="475569"/>
                </a:solidFill>
                <a:latin typeface="Segoe UI"/>
              </a:defRPr>
            </a:pPr>
            <a:r>
              <a:t>3 Trạng thái hoán vị:</a:t>
            </a:r>
          </a:p>
          <a:p>
            <a:pPr>
              <a:spcBef>
                <a:spcPts val="300"/>
              </a:spcBef>
              <a:defRPr sz="850">
                <a:solidFill>
                  <a:srgbClr val="0F172A"/>
                </a:solidFill>
                <a:latin typeface="Segoe UI"/>
              </a:defRPr>
            </a:pPr>
            <a:r>
              <a:t>— Original: Thứ tự văn bản tự nhiên ban đầu.</a:t>
            </a:r>
          </a:p>
          <a:p>
            <a:pPr>
              <a:spcBef>
                <a:spcPts val="300"/>
              </a:spcBef>
              <a:defRPr sz="850">
                <a:solidFill>
                  <a:srgbClr val="0F172A"/>
                </a:solidFill>
                <a:latin typeface="Segoe UI"/>
              </a:defRPr>
            </a:pPr>
            <a:r>
              <a:t>— Runs: Counting sort theo byte để gom run tối đa.</a:t>
            </a:r>
          </a:p>
          <a:p>
            <a:pPr>
              <a:spcBef>
                <a:spcPts val="300"/>
              </a:spcBef>
              <a:defRPr sz="850">
                <a:solidFill>
                  <a:srgbClr val="0F172A"/>
                </a:solidFill>
                <a:latin typeface="Segoe UI"/>
              </a:defRPr>
            </a:pPr>
            <a:r>
              <a:t>— Shuffled: Xáo trộn ngẫu nhiên Fisher–Yates (3 seeds).</a:t>
            </a:r>
          </a:p>
          <a:p>
            <a:pPr>
              <a:spcBef>
                <a:spcPts val="300"/>
              </a:spcBef>
              <a:defRPr sz="850">
                <a:solidFill>
                  <a:srgbClr val="0F172A"/>
                </a:solidFill>
                <a:latin typeface="Segoe UI"/>
              </a:defRPr>
            </a:pPr>
            <a:r>
              <a:t>Khảo sát tính bất biến của Huffman và hiện tượng bão hòa/đóng băng từ điển của LZW.</a:t>
            </a:r>
          </a:p>
        </p:txBody>
      </p:sp>
      <p:sp>
        <p:nvSpPr>
          <p:cNvPr id="16" name="Rounded Rectangle 15"/>
          <p:cNvSpPr/>
          <p:nvPr/>
        </p:nvSpPr>
        <p:spPr>
          <a:xfrm>
            <a:off x="8046720" y="2697480"/>
            <a:ext cx="3413455"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11312" y="2834640"/>
            <a:ext cx="3084271" cy="43891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Segoe UI"/>
              </a:defRPr>
            </a:pPr>
            <a:r>
              <a:t>RQ3: BPE: Codec, Tokenizer &amp; Heap</a:t>
            </a:r>
          </a:p>
        </p:txBody>
      </p:sp>
      <p:sp>
        <p:nvSpPr>
          <p:cNvPr id="18" name="TextBox 17"/>
          <p:cNvSpPr txBox="1"/>
          <p:nvPr/>
        </p:nvSpPr>
        <p:spPr>
          <a:xfrm>
            <a:off x="8211312" y="3364992"/>
            <a:ext cx="3084271" cy="2788920"/>
          </a:xfrm>
          <a:prstGeom prst="rect">
            <a:avLst/>
          </a:prstGeom>
          <a:noFill/>
        </p:spPr>
        <p:txBody>
          <a:bodyPr wrap="square" lIns="0" rIns="0" tIns="0" bIns="0">
            <a:spAutoFit/>
          </a:bodyPr>
          <a:lstStyle/>
          <a:p>
            <a:pPr>
              <a:spcBef>
                <a:spcPts val="300"/>
              </a:spcBef>
              <a:defRPr sz="850">
                <a:solidFill>
                  <a:srgbClr val="475569"/>
                </a:solidFill>
                <a:latin typeface="Segoe UI"/>
              </a:defRPr>
            </a:pPr>
            <a:r>
              <a:t>So sánh BPE với LZW ở cả hai vai trò: Codec tự chứa và Tokenizer chỉ payload.</a:t>
            </a:r>
          </a:p>
          <a:p>
            <a:pPr>
              <a:spcBef>
                <a:spcPts val="300"/>
              </a:spcBef>
              <a:defRPr sz="850">
                <a:solidFill>
                  <a:srgbClr val="475569"/>
                </a:solidFill>
                <a:latin typeface="Segoe UI"/>
              </a:defRPr>
            </a:pPr>
            <a:r>
              <a:t>Thử thách xuyên ngữ (Cross-lingual): Đánh giá ma trận 2x2 Train V1/E1 → Test V1/E1.</a:t>
            </a:r>
          </a:p>
          <a:p>
            <a:pPr>
              <a:spcBef>
                <a:spcPts val="300"/>
              </a:spcBef>
              <a:defRPr sz="850">
                <a:solidFill>
                  <a:srgbClr val="475569"/>
                </a:solidFill>
                <a:latin typeface="Segoe UI"/>
              </a:defRPr>
            </a:pPr>
            <a:r>
              <a:t>Tối ưu thuật toán huấn luyện BPE:</a:t>
            </a:r>
          </a:p>
          <a:p>
            <a:pPr>
              <a:spcBef>
                <a:spcPts val="300"/>
              </a:spcBef>
              <a:defRPr sz="850">
                <a:solidFill>
                  <a:srgbClr val="0F172A"/>
                </a:solidFill>
                <a:latin typeface="Segoe UI"/>
              </a:defRPr>
            </a:pPr>
            <a:r>
              <a:t>— Naive: Quét lại toàn bộ đoạn duy nhất mỗi vòng.</a:t>
            </a:r>
          </a:p>
          <a:p>
            <a:pPr>
              <a:spcBef>
                <a:spcPts val="300"/>
              </a:spcBef>
              <a:defRPr sz="850">
                <a:solidFill>
                  <a:srgbClr val="0F172A"/>
                </a:solidFill>
                <a:latin typeface="Segoe UI"/>
              </a:defRPr>
            </a:pPr>
            <a:r>
              <a:t>— No-heap: Cập nhật cục bộ qua linked-list &amp; inverted index.</a:t>
            </a:r>
          </a:p>
          <a:p>
            <a:pPr>
              <a:spcBef>
                <a:spcPts val="300"/>
              </a:spcBef>
              <a:defRPr sz="850">
                <a:solidFill>
                  <a:srgbClr val="0F172A"/>
                </a:solidFill>
                <a:latin typeface="Segoe UI"/>
              </a:defRPr>
            </a:pPr>
            <a:r>
              <a:t>— Incremental Heap: Lazy deletion, đạt speedup &gt;100x.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CƠ SỞ LÝ THUYẾT</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Nguyên lý 4 Thuật toán &amp; Bản chất Dạng Dư thừa Khai thác</a:t>
            </a:r>
          </a:p>
          <a:p>
            <a:pPr>
              <a:spcBef>
                <a:spcPts val="200"/>
              </a:spcBef>
              <a:defRPr sz="1000">
                <a:solidFill>
                  <a:srgbClr val="64748B"/>
                </a:solidFill>
                <a:latin typeface="Segoe UI"/>
              </a:defRPr>
            </a:pPr>
            <a:r>
              <a:t>So sánh RLE, Huffman Chính tắc, LZW 12-bit và Tokenizer Byte Pair Encoding (BPE)</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4 / 17</a:t>
            </a:r>
          </a:p>
        </p:txBody>
      </p:sp>
      <p:sp>
        <p:nvSpPr>
          <p:cNvPr id="8" name="Rounded Rectangle 7"/>
          <p:cNvSpPr/>
          <p:nvPr/>
        </p:nvSpPr>
        <p:spPr>
          <a:xfrm>
            <a:off x="731520" y="1463040"/>
            <a:ext cx="249905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645920"/>
            <a:ext cx="2224735" cy="65836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RLE</a:t>
            </a:r>
          </a:p>
          <a:p>
            <a:pPr algn="ctr">
              <a:defRPr sz="800">
                <a:solidFill>
                  <a:srgbClr val="FFFFFF"/>
                </a:solidFill>
                <a:latin typeface="Segoe UI"/>
              </a:defRPr>
            </a:pPr>
            <a:r>
              <a:t>Dư thừa lặp liên tiếp</a:t>
            </a:r>
          </a:p>
        </p:txBody>
      </p:sp>
      <p:sp>
        <p:nvSpPr>
          <p:cNvPr id="10" name="TextBox 9"/>
          <p:cNvSpPr txBox="1"/>
          <p:nvPr/>
        </p:nvSpPr>
        <p:spPr>
          <a:xfrm>
            <a:off x="868680" y="2377440"/>
            <a:ext cx="2224735" cy="365760"/>
          </a:xfrm>
          <a:prstGeom prst="rect">
            <a:avLst/>
          </a:prstGeom>
          <a:noFill/>
        </p:spPr>
        <p:txBody>
          <a:bodyPr wrap="square" lIns="0" rIns="0" tIns="0" bIns="0">
            <a:spAutoFit/>
          </a:bodyPr>
          <a:lstStyle/>
          <a:p>
            <a:pPr>
              <a:defRPr sz="900" b="1">
                <a:solidFill>
                  <a:srgbClr val="0F172A"/>
                </a:solidFill>
                <a:latin typeface="Segoe UI"/>
              </a:defRPr>
            </a:pPr>
            <a:r>
              <a:t>Run-Length Encoding</a:t>
            </a:r>
          </a:p>
        </p:txBody>
      </p:sp>
      <p:sp>
        <p:nvSpPr>
          <p:cNvPr id="11" name="TextBox 10"/>
          <p:cNvSpPr txBox="1"/>
          <p:nvPr/>
        </p:nvSpPr>
        <p:spPr>
          <a:xfrm>
            <a:off x="868680" y="2788920"/>
            <a:ext cx="2224735" cy="3337560"/>
          </a:xfrm>
          <a:prstGeom prst="rect">
            <a:avLst/>
          </a:prstGeom>
          <a:noFill/>
        </p:spPr>
        <p:txBody>
          <a:bodyPr wrap="square" lIns="0" rIns="0" tIns="0" bIns="0">
            <a:spAutoFit/>
          </a:bodyPr>
          <a:lstStyle/>
          <a:p>
            <a:pPr>
              <a:spcBef>
                <a:spcPts val="400"/>
              </a:spcBef>
              <a:defRPr sz="819">
                <a:solidFill>
                  <a:srgbClr val="334155"/>
                </a:solidFill>
                <a:latin typeface="Segoe UI"/>
              </a:defRPr>
            </a:pPr>
            <a:r>
              <a:t>Nguyên lý: Gom các byte giống nhau xuất hiện liên tiếp thành cặp (count, byte).</a:t>
            </a:r>
          </a:p>
          <a:p>
            <a:pPr>
              <a:spcBef>
                <a:spcPts val="400"/>
              </a:spcBef>
              <a:defRPr sz="819">
                <a:solidFill>
                  <a:srgbClr val="334155"/>
                </a:solidFill>
                <a:latin typeface="Segoe UI"/>
              </a:defRPr>
            </a:pPr>
            <a:r>
              <a:t>Quy cách cài đặt: count từ 1 đến 255 (1 byte); run dài hơn 255 được chia nhỏ thành nhiều khối.</a:t>
            </a:r>
          </a:p>
          <a:p>
            <a:pPr>
              <a:spcBef>
                <a:spcPts val="400"/>
              </a:spcBef>
              <a:defRPr sz="819">
                <a:solidFill>
                  <a:srgbClr val="334155"/>
                </a:solidFill>
                <a:latin typeface="Segoe UI"/>
              </a:defRPr>
            </a:pPr>
            <a:r>
              <a:t>Ưu điểm: Tốc độ nén/giải nén cực cao (O(N)), không cần bảng mã phụ trợ.</a:t>
            </a:r>
          </a:p>
          <a:p>
            <a:pPr>
              <a:spcBef>
                <a:spcPts val="400"/>
              </a:spcBef>
              <a:defRPr sz="819">
                <a:solidFill>
                  <a:srgbClr val="334155"/>
                </a:solidFill>
                <a:latin typeface="Segoe UI"/>
              </a:defRPr>
            </a:pPr>
            <a:r>
              <a:t>Nhược điểm: Làm phình dữ liệu lên gấp đôi (2x) nếu văn bản không có byte lặp liên tiếp.</a:t>
            </a:r>
          </a:p>
        </p:txBody>
      </p:sp>
      <p:sp>
        <p:nvSpPr>
          <p:cNvPr id="12" name="Rounded Rectangle 11"/>
          <p:cNvSpPr/>
          <p:nvPr/>
        </p:nvSpPr>
        <p:spPr>
          <a:xfrm>
            <a:off x="3474720" y="1463040"/>
            <a:ext cx="249905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11880" y="1645920"/>
            <a:ext cx="2224735" cy="65836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Canonical Huffman</a:t>
            </a:r>
          </a:p>
          <a:p>
            <a:pPr algn="ctr">
              <a:defRPr sz="800">
                <a:solidFill>
                  <a:srgbClr val="FFFFFF"/>
                </a:solidFill>
                <a:latin typeface="Segoe UI"/>
              </a:defRPr>
            </a:pPr>
            <a:r>
              <a:t>Dư thừa tần suất bậc 0</a:t>
            </a:r>
          </a:p>
        </p:txBody>
      </p:sp>
      <p:sp>
        <p:nvSpPr>
          <p:cNvPr id="14" name="TextBox 13"/>
          <p:cNvSpPr txBox="1"/>
          <p:nvPr/>
        </p:nvSpPr>
        <p:spPr>
          <a:xfrm>
            <a:off x="3611880" y="2377440"/>
            <a:ext cx="2224735" cy="365760"/>
          </a:xfrm>
          <a:prstGeom prst="rect">
            <a:avLst/>
          </a:prstGeom>
          <a:noFill/>
        </p:spPr>
        <p:txBody>
          <a:bodyPr wrap="square" lIns="0" rIns="0" tIns="0" bIns="0">
            <a:spAutoFit/>
          </a:bodyPr>
          <a:lstStyle/>
          <a:p>
            <a:pPr>
              <a:defRPr sz="900" b="1">
                <a:solidFill>
                  <a:srgbClr val="0F172A"/>
                </a:solidFill>
                <a:latin typeface="Segoe UI"/>
              </a:defRPr>
            </a:pPr>
            <a:r>
              <a:t>Huffman Chính Tắc (2-pass)</a:t>
            </a:r>
          </a:p>
        </p:txBody>
      </p:sp>
      <p:sp>
        <p:nvSpPr>
          <p:cNvPr id="15" name="TextBox 14"/>
          <p:cNvSpPr txBox="1"/>
          <p:nvPr/>
        </p:nvSpPr>
        <p:spPr>
          <a:xfrm>
            <a:off x="3611880" y="2788920"/>
            <a:ext cx="2224735" cy="3337560"/>
          </a:xfrm>
          <a:prstGeom prst="rect">
            <a:avLst/>
          </a:prstGeom>
          <a:noFill/>
        </p:spPr>
        <p:txBody>
          <a:bodyPr wrap="square" lIns="0" rIns="0" tIns="0" bIns="0">
            <a:spAutoFit/>
          </a:bodyPr>
          <a:lstStyle/>
          <a:p>
            <a:pPr>
              <a:spcBef>
                <a:spcPts val="400"/>
              </a:spcBef>
              <a:defRPr sz="819">
                <a:solidFill>
                  <a:srgbClr val="334155"/>
                </a:solidFill>
                <a:latin typeface="Segoe UI"/>
              </a:defRPr>
            </a:pPr>
            <a:r>
              <a:t>Nguyên lý: Mã hóa tiền tố biến thiên độ dài (VLC) dựa trên tần suất xuất hiện của từng byte.</a:t>
            </a:r>
          </a:p>
          <a:p>
            <a:pPr>
              <a:spcBef>
                <a:spcPts val="400"/>
              </a:spcBef>
              <a:defRPr sz="819">
                <a:solidFill>
                  <a:srgbClr val="334155"/>
                </a:solidFill>
                <a:latin typeface="Segoe UI"/>
              </a:defRPr>
            </a:pPr>
            <a:r>
              <a:t>Hai lượt duyệt (2-pass): Lượt 1 đếm tần suất dựng cây; Lượt 2 ghi bảng độ dài mã và bitstream.</a:t>
            </a:r>
          </a:p>
          <a:p>
            <a:pPr>
              <a:spcBef>
                <a:spcPts val="400"/>
              </a:spcBef>
              <a:defRPr sz="819">
                <a:solidFill>
                  <a:srgbClr val="334155"/>
                </a:solidFill>
                <a:latin typeface="Segoe UI"/>
              </a:defRPr>
            </a:pPr>
            <a:r>
              <a:t>Chính tắc (Canonical): Chỉ lưu 256 độ dài mã (code lengths), tái dựng mã theo thứ tự từ điển.</a:t>
            </a:r>
          </a:p>
          <a:p>
            <a:pPr>
              <a:spcBef>
                <a:spcPts val="400"/>
              </a:spcBef>
              <a:defRPr sz="819">
                <a:solidFill>
                  <a:srgbClr val="334155"/>
                </a:solidFill>
                <a:latin typeface="Segoe UI"/>
              </a:defRPr>
            </a:pPr>
            <a:r>
              <a:t>Giới hạn: Bị chặn dưới bởi entropy bậc 0 H₀; không khai thác được quan hệ giữa các ký tự kế tiếp.</a:t>
            </a:r>
          </a:p>
        </p:txBody>
      </p:sp>
      <p:sp>
        <p:nvSpPr>
          <p:cNvPr id="16" name="Rounded Rectangle 15"/>
          <p:cNvSpPr/>
          <p:nvPr/>
        </p:nvSpPr>
        <p:spPr>
          <a:xfrm>
            <a:off x="6217920" y="1463040"/>
            <a:ext cx="249905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55080" y="1645920"/>
            <a:ext cx="2224735" cy="658368"/>
          </a:xfrm>
          <a:prstGeom prst="round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LZW</a:t>
            </a:r>
          </a:p>
          <a:p>
            <a:pPr algn="ctr">
              <a:defRPr sz="800">
                <a:solidFill>
                  <a:srgbClr val="FFFFFF"/>
                </a:solidFill>
                <a:latin typeface="Segoe UI"/>
              </a:defRPr>
            </a:pPr>
            <a:r>
              <a:t>Dư thừa chuỗi con tuần tự</a:t>
            </a:r>
          </a:p>
        </p:txBody>
      </p:sp>
      <p:sp>
        <p:nvSpPr>
          <p:cNvPr id="18" name="TextBox 17"/>
          <p:cNvSpPr txBox="1"/>
          <p:nvPr/>
        </p:nvSpPr>
        <p:spPr>
          <a:xfrm>
            <a:off x="6355080" y="2377440"/>
            <a:ext cx="2224735" cy="365760"/>
          </a:xfrm>
          <a:prstGeom prst="rect">
            <a:avLst/>
          </a:prstGeom>
          <a:noFill/>
        </p:spPr>
        <p:txBody>
          <a:bodyPr wrap="square" lIns="0" rIns="0" tIns="0" bIns="0">
            <a:spAutoFit/>
          </a:bodyPr>
          <a:lstStyle/>
          <a:p>
            <a:pPr>
              <a:defRPr sz="900" b="1">
                <a:solidFill>
                  <a:srgbClr val="0F172A"/>
                </a:solidFill>
                <a:latin typeface="Segoe UI"/>
              </a:defRPr>
            </a:pPr>
            <a:r>
              <a:t>Lempel-Ziv-Welch 12-bit</a:t>
            </a:r>
          </a:p>
        </p:txBody>
      </p:sp>
      <p:sp>
        <p:nvSpPr>
          <p:cNvPr id="19" name="TextBox 18"/>
          <p:cNvSpPr txBox="1"/>
          <p:nvPr/>
        </p:nvSpPr>
        <p:spPr>
          <a:xfrm>
            <a:off x="6355080" y="2788920"/>
            <a:ext cx="2224735" cy="3337560"/>
          </a:xfrm>
          <a:prstGeom prst="rect">
            <a:avLst/>
          </a:prstGeom>
          <a:noFill/>
        </p:spPr>
        <p:txBody>
          <a:bodyPr wrap="square" lIns="0" rIns="0" tIns="0" bIns="0">
            <a:spAutoFit/>
          </a:bodyPr>
          <a:lstStyle/>
          <a:p>
            <a:pPr>
              <a:spcBef>
                <a:spcPts val="400"/>
              </a:spcBef>
              <a:defRPr sz="819">
                <a:solidFill>
                  <a:srgbClr val="334155"/>
                </a:solidFill>
                <a:latin typeface="Segoe UI"/>
              </a:defRPr>
            </a:pPr>
            <a:r>
              <a:t>Nguyên lý: Học từ điển chuỗi con trong quá trình nén theo luồng một lượt (single-pass).</a:t>
            </a:r>
          </a:p>
          <a:p>
            <a:pPr>
              <a:spcBef>
                <a:spcPts val="400"/>
              </a:spcBef>
              <a:defRPr sz="819">
                <a:solidFill>
                  <a:srgbClr val="334155"/>
                </a:solidFill>
                <a:latin typeface="Segoe UI"/>
              </a:defRPr>
            </a:pPr>
            <a:r>
              <a:t>Quy cách: Từ điển 4096 mã cố định 12-bit (0-255 là byte gốc, 256-4095 cho chuỗi mới).</a:t>
            </a:r>
          </a:p>
          <a:p>
            <a:pPr>
              <a:spcBef>
                <a:spcPts val="400"/>
              </a:spcBef>
              <a:defRPr sz="819">
                <a:solidFill>
                  <a:srgbClr val="334155"/>
                </a:solidFill>
                <a:latin typeface="Segoe UI"/>
              </a:defRPr>
            </a:pPr>
            <a:r>
              <a:t>Đóng băng từ điển: Khi đủ 4096 mã, từ điển ngừng học để duy trì đồng bộ bên giải nén.</a:t>
            </a:r>
          </a:p>
          <a:p>
            <a:pPr>
              <a:spcBef>
                <a:spcPts val="400"/>
              </a:spcBef>
              <a:defRPr sz="819">
                <a:solidFill>
                  <a:srgbClr val="334155"/>
                </a:solidFill>
                <a:latin typeface="Segoe UI"/>
              </a:defRPr>
            </a:pPr>
            <a:r>
              <a:t>Đặc tính: Khai thác ngữ cảnh chuỗi dài; có thể vượt qua mốc entropy H₀/8 của Huffman.</a:t>
            </a:r>
          </a:p>
        </p:txBody>
      </p:sp>
      <p:sp>
        <p:nvSpPr>
          <p:cNvPr id="20" name="Rounded Rectangle 19"/>
          <p:cNvSpPr/>
          <p:nvPr/>
        </p:nvSpPr>
        <p:spPr>
          <a:xfrm>
            <a:off x="8961120" y="1463040"/>
            <a:ext cx="249905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98280" y="1645920"/>
            <a:ext cx="2224735" cy="658368"/>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Byte-level BPE</a:t>
            </a:r>
          </a:p>
          <a:p>
            <a:pPr algn="ctr">
              <a:defRPr sz="800">
                <a:solidFill>
                  <a:srgbClr val="FFFFFF"/>
                </a:solidFill>
                <a:latin typeface="Segoe UI"/>
              </a:defRPr>
            </a:pPr>
            <a:r>
              <a:t>Dư thừa cặp ký hiệu lặp</a:t>
            </a:r>
          </a:p>
        </p:txBody>
      </p:sp>
      <p:sp>
        <p:nvSpPr>
          <p:cNvPr id="22" name="TextBox 21"/>
          <p:cNvSpPr txBox="1"/>
          <p:nvPr/>
        </p:nvSpPr>
        <p:spPr>
          <a:xfrm>
            <a:off x="9098280" y="2377440"/>
            <a:ext cx="2224735" cy="365760"/>
          </a:xfrm>
          <a:prstGeom prst="rect">
            <a:avLst/>
          </a:prstGeom>
          <a:noFill/>
        </p:spPr>
        <p:txBody>
          <a:bodyPr wrap="square" lIns="0" rIns="0" tIns="0" bIns="0">
            <a:spAutoFit/>
          </a:bodyPr>
          <a:lstStyle/>
          <a:p>
            <a:pPr>
              <a:defRPr sz="900" b="1">
                <a:solidFill>
                  <a:srgbClr val="0F172A"/>
                </a:solidFill>
                <a:latin typeface="Segoe UI"/>
              </a:defRPr>
            </a:pPr>
            <a:r>
              <a:t>Byte Pair Encoding</a:t>
            </a:r>
          </a:p>
        </p:txBody>
      </p:sp>
      <p:sp>
        <p:nvSpPr>
          <p:cNvPr id="23" name="TextBox 22"/>
          <p:cNvSpPr txBox="1"/>
          <p:nvPr/>
        </p:nvSpPr>
        <p:spPr>
          <a:xfrm>
            <a:off x="9098280" y="2788920"/>
            <a:ext cx="2224735" cy="3337560"/>
          </a:xfrm>
          <a:prstGeom prst="rect">
            <a:avLst/>
          </a:prstGeom>
          <a:noFill/>
        </p:spPr>
        <p:txBody>
          <a:bodyPr wrap="square" lIns="0" rIns="0" tIns="0" bIns="0">
            <a:spAutoFit/>
          </a:bodyPr>
          <a:lstStyle/>
          <a:p>
            <a:pPr>
              <a:spcBef>
                <a:spcPts val="400"/>
              </a:spcBef>
              <a:defRPr sz="819">
                <a:solidFill>
                  <a:srgbClr val="334155"/>
                </a:solidFill>
                <a:latin typeface="Segoe UI"/>
              </a:defRPr>
            </a:pPr>
            <a:r>
              <a:t>Nguyên lý: Khởi tạo vốn từ 256 byte UTF-8; lặp lại việc tìm và gộp cặp token xuất hiện nhiều nhất.</a:t>
            </a:r>
          </a:p>
          <a:p>
            <a:pPr>
              <a:spcBef>
                <a:spcPts val="400"/>
              </a:spcBef>
              <a:defRPr sz="819">
                <a:solidFill>
                  <a:srgbClr val="334155"/>
                </a:solidFill>
                <a:latin typeface="Segoe UI"/>
              </a:defRPr>
            </a:pPr>
            <a:r>
              <a:t>Ranh giới từ: Phân đoạn bằng regex ` ?[^\s]+|\s+`, không gộp cặp qua ranh giới từ/khoảng trắng.</a:t>
            </a:r>
          </a:p>
          <a:p>
            <a:pPr>
              <a:spcBef>
                <a:spcPts val="400"/>
              </a:spcBef>
              <a:defRPr sz="819">
                <a:solidFill>
                  <a:srgbClr val="334155"/>
                </a:solidFill>
                <a:latin typeface="Segoe UI"/>
              </a:defRPr>
            </a:pPr>
            <a:r>
              <a:t>Hai vai trò: Là codec nén hoàn chỉnh (khi lưu kèm bảng merge) hoặc tokenizer LLM (chia sẻ bảng).</a:t>
            </a:r>
          </a:p>
          <a:p>
            <a:pPr>
              <a:spcBef>
                <a:spcPts val="400"/>
              </a:spcBef>
              <a:defRPr sz="819">
                <a:solidFill>
                  <a:srgbClr val="334155"/>
                </a:solidFill>
                <a:latin typeface="Segoe UI"/>
              </a:defRPr>
            </a:pPr>
            <a:r>
              <a:t>Ứng dụng: Xử lý từ vựng mở (open vocabulary), giải quyết từ hiếm và là cốt lõi của GPT, LLaMA.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PHƯƠNG PHÁP NGHIÊN CỨU</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Quy cách Container Nhị phân Tự giải mã &amp; Pipeline Đo lường</a:t>
            </a:r>
          </a:p>
          <a:p>
            <a:pPr>
              <a:spcBef>
                <a:spcPts val="200"/>
              </a:spcBef>
              <a:defRPr sz="1000">
                <a:solidFill>
                  <a:srgbClr val="64748B"/>
                </a:solidFill>
                <a:latin typeface="Segoe UI"/>
              </a:defRPr>
            </a:pPr>
            <a:r>
              <a:t>Thiết kế chuẩn hóa đảm bảo tính độc lập, an toàn và tái lập 100% kết quả</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5 / 17</a:t>
            </a:r>
          </a:p>
        </p:txBody>
      </p:sp>
      <p:sp>
        <p:nvSpPr>
          <p:cNvPr id="8" name="Rounded Rectangle 7"/>
          <p:cNvSpPr/>
          <p:nvPr/>
        </p:nvSpPr>
        <p:spPr>
          <a:xfrm>
            <a:off x="731520" y="1463040"/>
            <a:ext cx="521208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846320" cy="365760"/>
          </a:xfrm>
          <a:prstGeom prst="rect">
            <a:avLst/>
          </a:prstGeom>
          <a:noFill/>
        </p:spPr>
        <p:txBody>
          <a:bodyPr wrap="none">
            <a:spAutoFit/>
          </a:bodyPr>
          <a:lstStyle/>
          <a:p>
            <a:pPr>
              <a:defRPr sz="1300" b="1">
                <a:solidFill>
                  <a:srgbClr val="0F172A"/>
                </a:solidFill>
                <a:latin typeface="Segoe UI"/>
              </a:defRPr>
            </a:pPr>
            <a:r>
              <a:t>Quy cách Container Nhị phân Tự giải mã</a:t>
            </a:r>
          </a:p>
        </p:txBody>
      </p:sp>
      <p:sp>
        <p:nvSpPr>
          <p:cNvPr id="10" name="TextBox 9"/>
          <p:cNvSpPr txBox="1"/>
          <p:nvPr/>
        </p:nvSpPr>
        <p:spPr>
          <a:xfrm>
            <a:off x="914400" y="2057400"/>
            <a:ext cx="4846320" cy="4023360"/>
          </a:xfrm>
          <a:prstGeom prst="rect">
            <a:avLst/>
          </a:prstGeom>
          <a:noFill/>
        </p:spPr>
        <p:txBody>
          <a:bodyPr wrap="square" lIns="0" rIns="0" tIns="0" bIns="0">
            <a:spAutoFit/>
          </a:bodyPr>
          <a:lstStyle/>
          <a:p>
            <a:pPr>
              <a:spcBef>
                <a:spcPts val="400"/>
              </a:spcBef>
              <a:defRPr sz="950" b="1">
                <a:solidFill>
                  <a:srgbClr val="1D4ED8"/>
                </a:solidFill>
                <a:latin typeface="Segoe UI"/>
              </a:defRPr>
            </a:pPr>
            <a:r>
              <a:t>1. Phần đầu chuẩn hóa (Header)</a:t>
            </a:r>
          </a:p>
          <a:p>
            <a:pPr>
              <a:spcBef>
                <a:spcPts val="100"/>
              </a:spcBef>
              <a:defRPr sz="819">
                <a:solidFill>
                  <a:srgbClr val="475569"/>
                </a:solidFill>
                <a:latin typeface="Segoe UI"/>
              </a:defRPr>
            </a:pPr>
            <a:r>
              <a:t>Mọi container bắt đầu bằng Magic 4 byte ('RLE1', 'HUF1', 'LZW1', 'BPE1') cùng độ dài tệp gốc 8 byte (uint64 big-endian).</a:t>
            </a:r>
          </a:p>
          <a:p>
            <a:pPr>
              <a:spcBef>
                <a:spcPts val="400"/>
              </a:spcBef>
              <a:defRPr sz="950" b="1">
                <a:solidFill>
                  <a:srgbClr val="1D4ED8"/>
                </a:solidFill>
                <a:latin typeface="Segoe UI"/>
              </a:defRPr>
            </a:pPr>
            <a:r>
              <a:t>2. RLE Container</a:t>
            </a:r>
          </a:p>
          <a:p>
            <a:pPr>
              <a:spcBef>
                <a:spcPts val="100"/>
              </a:spcBef>
              <a:defRPr sz="819">
                <a:solidFill>
                  <a:srgbClr val="475569"/>
                </a:solidFill>
                <a:latin typeface="Segoe UI"/>
              </a:defRPr>
            </a:pPr>
            <a:r>
              <a:t>Payload gồm các cặp (count, byte). Count từ 1-255. Tổng dung lượng = 12 + 2 × n_runs byte.</a:t>
            </a:r>
          </a:p>
          <a:p>
            <a:pPr>
              <a:spcBef>
                <a:spcPts val="400"/>
              </a:spcBef>
              <a:defRPr sz="950" b="1">
                <a:solidFill>
                  <a:srgbClr val="1D4ED8"/>
                </a:solidFill>
                <a:latin typeface="Segoe UI"/>
              </a:defRPr>
            </a:pPr>
            <a:r>
              <a:t>3. Canonical Huffman Container</a:t>
            </a:r>
          </a:p>
          <a:p>
            <a:pPr>
              <a:spcBef>
                <a:spcPts val="100"/>
              </a:spcBef>
              <a:defRPr sz="819">
                <a:solidFill>
                  <a:srgbClr val="475569"/>
                </a:solidFill>
                <a:latin typeface="Segoe UI"/>
              </a:defRPr>
            </a:pPr>
            <a:r>
              <a:t>Lưu 256 byte bảng độ dài mã (code lengths). Bitstream đóng gói MSB-first, đệm 0 ở byte cuối cùng. Tổng dung lượng = 12 + 256 + ceil(total_bits / 8).</a:t>
            </a:r>
          </a:p>
          <a:p>
            <a:pPr>
              <a:spcBef>
                <a:spcPts val="400"/>
              </a:spcBef>
              <a:defRPr sz="950" b="1">
                <a:solidFill>
                  <a:srgbClr val="1D4ED8"/>
                </a:solidFill>
                <a:latin typeface="Segoe UI"/>
              </a:defRPr>
            </a:pPr>
            <a:r>
              <a:t>4. LZW 12-bit Container</a:t>
            </a:r>
          </a:p>
          <a:p>
            <a:pPr>
              <a:spcBef>
                <a:spcPts val="100"/>
              </a:spcBef>
              <a:defRPr sz="819">
                <a:solidFill>
                  <a:srgbClr val="475569"/>
                </a:solidFill>
                <a:latin typeface="Segoe UI"/>
              </a:defRPr>
            </a:pPr>
            <a:r>
              <a:t>Từ điển 4096 mục. Chuỗi mã 12-bit đóng gói 3 byte cho mỗi 2 mã (MSB-first). Đệm 0 ở nibble cuối. Dung lượng = 12 + ceil(12 × n_codes / 8).</a:t>
            </a:r>
          </a:p>
          <a:p>
            <a:pPr>
              <a:spcBef>
                <a:spcPts val="400"/>
              </a:spcBef>
              <a:defRPr sz="950" b="1">
                <a:solidFill>
                  <a:srgbClr val="1D4ED8"/>
                </a:solidFill>
                <a:latin typeface="Segoe UI"/>
              </a:defRPr>
            </a:pPr>
            <a:r>
              <a:t>5. BPE Container Độc Lập</a:t>
            </a:r>
          </a:p>
          <a:p>
            <a:pPr>
              <a:spcBef>
                <a:spcPts val="100"/>
              </a:spcBef>
              <a:defRPr sz="819">
                <a:solidFill>
                  <a:srgbClr val="475569"/>
                </a:solidFill>
                <a:latin typeface="Segoe UI"/>
              </a:defRPr>
            </a:pPr>
            <a:r>
              <a:t>Magic 'BPE1' (4B) + orig_len (8B) + n_merges m (2B) + m mục merge (3m B: 2B first + 1B second) + n_tokens T (8B) + payload mã 12-bit (ceil(12T/8) B). Tổng = 22 + 3m + ceil(12T/8) byte.</a:t>
            </a:r>
          </a:p>
        </p:txBody>
      </p:sp>
      <p:sp>
        <p:nvSpPr>
          <p:cNvPr id="11" name="Rounded Rectangle 10"/>
          <p:cNvSpPr/>
          <p:nvPr/>
        </p:nvSpPr>
        <p:spPr>
          <a:xfrm>
            <a:off x="6217920" y="1463040"/>
            <a:ext cx="524225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645920"/>
            <a:ext cx="4876495" cy="365760"/>
          </a:xfrm>
          <a:prstGeom prst="rect">
            <a:avLst/>
          </a:prstGeom>
          <a:noFill/>
        </p:spPr>
        <p:txBody>
          <a:bodyPr wrap="none">
            <a:spAutoFit/>
          </a:bodyPr>
          <a:lstStyle/>
          <a:p>
            <a:pPr>
              <a:defRPr sz="1300" b="1">
                <a:solidFill>
                  <a:srgbClr val="0F172A"/>
                </a:solidFill>
                <a:latin typeface="Segoe UI"/>
              </a:defRPr>
            </a:pPr>
            <a:r>
              <a:t>Thiết kế Thực nghiệm &amp; Quy trình Đo lường</a:t>
            </a:r>
          </a:p>
        </p:txBody>
      </p:sp>
      <p:sp>
        <p:nvSpPr>
          <p:cNvPr id="13" name="TextBox 12"/>
          <p:cNvSpPr txBox="1"/>
          <p:nvPr/>
        </p:nvSpPr>
        <p:spPr>
          <a:xfrm>
            <a:off x="6400800" y="2057400"/>
            <a:ext cx="4876495" cy="4023360"/>
          </a:xfrm>
          <a:prstGeom prst="rect">
            <a:avLst/>
          </a:prstGeom>
          <a:noFill/>
        </p:spPr>
        <p:txBody>
          <a:bodyPr wrap="square" lIns="0" rIns="0" tIns="0" bIns="0">
            <a:spAutoFit/>
          </a:bodyPr>
          <a:lstStyle/>
          <a:p>
            <a:pPr>
              <a:spcBef>
                <a:spcPts val="400"/>
              </a:spcBef>
              <a:defRPr sz="950" b="1">
                <a:solidFill>
                  <a:srgbClr val="047857"/>
                </a:solidFill>
                <a:latin typeface="Segoe UI"/>
              </a:defRPr>
            </a:pPr>
            <a:r>
              <a:t>1. Bộ Ngữ liệu Thí nghiệm</a:t>
            </a:r>
          </a:p>
          <a:p>
            <a:pPr>
              <a:spcBef>
                <a:spcPts val="100"/>
              </a:spcBef>
              <a:defRPr sz="819">
                <a:solidFill>
                  <a:srgbClr val="475569"/>
                </a:solidFill>
                <a:latin typeface="Segoe UI"/>
              </a:defRPr>
            </a:pPr>
            <a:r>
              <a:t>• Tổng hợp: C1 (Run lặp ~32B), C2 (Zipf 1000 từ), C3 (Uniform random). 3 seeds ở 256, 512, 1024, 2048, 4096 KiB.</a:t>
            </a:r>
            <a:br/>
            <a:r>
              <a:t>• Thực tế: Canterbury (alice29, kennedy) và Wikipedia Việt–Anh (V1, E1) chuẩn hóa NFC, UTF-8. Train 1 MiB, Test 1 MiB.</a:t>
            </a:r>
          </a:p>
          <a:p>
            <a:pPr>
              <a:spcBef>
                <a:spcPts val="400"/>
              </a:spcBef>
              <a:defRPr sz="950" b="1">
                <a:solidFill>
                  <a:srgbClr val="047857"/>
                </a:solidFill>
                <a:latin typeface="Segoe UI"/>
              </a:defRPr>
            </a:pPr>
            <a:r>
              <a:t>2. Chỉ số Đánh giá (Metrics)</a:t>
            </a:r>
          </a:p>
          <a:p>
            <a:pPr>
              <a:spcBef>
                <a:spcPts val="100"/>
              </a:spcBef>
              <a:defRPr sz="819">
                <a:solidFill>
                  <a:srgbClr val="475569"/>
                </a:solidFill>
                <a:latin typeface="Segoe UI"/>
              </a:defRPr>
            </a:pPr>
            <a:r>
              <a:t>• Tỷ lệ nén Codec: comp_bytes / orig_bytes (càng nhỏ càng tốt).</a:t>
            </a:r>
            <a:br/>
            <a:r>
              <a:t>• Tỷ lệ BPE Token-only: ceil(12T/8) / orig_bytes.</a:t>
            </a:r>
            <a:br/>
            <a:r>
              <a:t>• Mật độ Token: byte/token = orig_bytes / T.</a:t>
            </a:r>
            <a:br/>
            <a:r>
              <a:t>• Thông lượng: (orig_bytes / 1024) / time_sec (KiB/s).</a:t>
            </a:r>
          </a:p>
          <a:p>
            <a:pPr>
              <a:spcBef>
                <a:spcPts val="400"/>
              </a:spcBef>
              <a:defRPr sz="950" b="1">
                <a:solidFill>
                  <a:srgbClr val="047857"/>
                </a:solidFill>
                <a:latin typeface="Segoe UI"/>
              </a:defRPr>
            </a:pPr>
            <a:r>
              <a:t>3. Quy trình Đo lường Nghiêm ngặt</a:t>
            </a:r>
          </a:p>
          <a:p>
            <a:pPr>
              <a:spcBef>
                <a:spcPts val="100"/>
              </a:spcBef>
              <a:defRPr sz="819">
                <a:solidFill>
                  <a:srgbClr val="475569"/>
                </a:solidFill>
                <a:latin typeface="Segoe UI"/>
              </a:defRPr>
            </a:pPr>
            <a:r>
              <a:t>• Thời gian nén/giải nén: Lấy trung vị 3 lượt đo `time.perf_counter`.</a:t>
            </a:r>
            <a:br/>
            <a:r>
              <a:t>• Bộ nhớ: Đo trong tiến trình riêng qua `tracemalloc`, theo dõi đỉnh cấp phát heap Python (Peak Memory KiB).</a:t>
            </a:r>
            <a:br/>
            <a:r>
              <a:t>• Đối chiếu Toàn vẹn: 100% đối chiếu SHA-256 sau khi giải nén.</a:t>
            </a:r>
          </a:p>
          <a:p>
            <a:pPr>
              <a:spcBef>
                <a:spcPts val="400"/>
              </a:spcBef>
              <a:defRPr sz="950" b="1">
                <a:solidFill>
                  <a:srgbClr val="047857"/>
                </a:solidFill>
                <a:latin typeface="Segoe UI"/>
              </a:defRPr>
            </a:pPr>
            <a:r>
              <a:t>4. Môi trường Phần cứng</a:t>
            </a:r>
          </a:p>
          <a:p>
            <a:pPr>
              <a:spcBef>
                <a:spcPts val="100"/>
              </a:spcBef>
              <a:defRPr sz="819">
                <a:solidFill>
                  <a:srgbClr val="475569"/>
                </a:solidFill>
                <a:latin typeface="Segoe UI"/>
              </a:defRPr>
            </a:pPr>
            <a:r>
              <a:t>Intel Core i7-13650HX, 24 GB RAM, Windows 11, Python 3.13.2. Toàn bộ mã nguồn và dữ liệu kiểm chứng độc lập.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KẾT QUẢ RQ1</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Ảnh hưởng của Họ Dữ liệu &amp; Quy mô lên Tỷ lệ Nén</a:t>
            </a:r>
          </a:p>
          <a:p>
            <a:pPr>
              <a:spcBef>
                <a:spcPts val="200"/>
              </a:spcBef>
              <a:defRPr sz="1000">
                <a:solidFill>
                  <a:srgbClr val="64748B"/>
                </a:solidFill>
                <a:latin typeface="Segoe UI"/>
              </a:defRPr>
            </a:pPr>
            <a:r>
              <a:t>Khảo sát RLE, Canonical Huffman và LZW trên 4 họ dữ liệu ở quy mô 256 KiB đến 4096 KiB</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6 / 17</a:t>
            </a:r>
          </a:p>
        </p:txBody>
      </p:sp>
      <p:sp>
        <p:nvSpPr>
          <p:cNvPr id="8" name="Rounded Rectangle 7"/>
          <p:cNvSpPr/>
          <p:nvPr/>
        </p:nvSpPr>
        <p:spPr>
          <a:xfrm>
            <a:off x="731520" y="1463040"/>
            <a:ext cx="548640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5120640" cy="320040"/>
          </a:xfrm>
          <a:prstGeom prst="rect">
            <a:avLst/>
          </a:prstGeom>
          <a:noFill/>
        </p:spPr>
        <p:txBody>
          <a:bodyPr wrap="none">
            <a:spAutoFit/>
          </a:bodyPr>
          <a:lstStyle/>
          <a:p>
            <a:pPr>
              <a:defRPr sz="1150" b="1">
                <a:solidFill>
                  <a:srgbClr val="0F172A"/>
                </a:solidFill>
                <a:latin typeface="Segoe UI"/>
              </a:defRPr>
            </a:pPr>
            <a:r>
              <a:t>Bảng I: Tỷ lệ nén tại 4096 KiB danh nghĩa</a:t>
            </a:r>
          </a:p>
        </p:txBody>
      </p:sp>
      <p:graphicFrame>
        <p:nvGraphicFramePr>
          <p:cNvPr id="10" name="Table 9"/>
          <p:cNvGraphicFramePr>
            <a:graphicFrameLocks noGrp="1"/>
          </p:cNvGraphicFramePr>
          <p:nvPr/>
        </p:nvGraphicFramePr>
        <p:xfrm>
          <a:off x="914400" y="1965960"/>
          <a:ext cx="5303520" cy="1371600"/>
        </p:xfrm>
        <a:graphic>
          <a:graphicData uri="http://schemas.openxmlformats.org/drawingml/2006/table">
            <a:tbl>
              <a:tblPr firstRow="1" bandRow="1">
                <a:tableStyleId>{5C22544A-7EE6-4342-B048-85BDC9FD1C3A}</a:tableStyleId>
              </a:tblPr>
              <a:tblGrid>
                <a:gridCol w="914400"/>
                <a:gridCol w="1645920"/>
                <a:gridCol w="914400"/>
                <a:gridCol w="914400"/>
                <a:gridCol w="914400"/>
              </a:tblGrid>
              <a:tr h="274320">
                <a:tc>
                  <a:txBody>
                    <a:bodyPr/>
                    <a:lstStyle/>
                    <a:p>
                      <a:pPr algn="l">
                        <a:defRPr sz="850" b="1">
                          <a:solidFill>
                            <a:srgbClr val="FFFFFF"/>
                          </a:solidFill>
                          <a:latin typeface="Segoe UI"/>
                        </a:defRPr>
                      </a:pPr>
                      <a:r>
                        <a:t>Họ dữ liệu</a:t>
                      </a:r>
                    </a:p>
                  </a:txBody>
                  <a:tcPr anchor="ctr" marL="73152" marR="73152" marT="36576" marB="36576">
                    <a:solidFill>
                      <a:srgbClr val="1E293B"/>
                    </a:solidFill>
                  </a:tcPr>
                </a:tc>
                <a:tc>
                  <a:txBody>
                    <a:bodyPr/>
                    <a:lstStyle/>
                    <a:p>
                      <a:pPr algn="ctr">
                        <a:defRPr sz="850" b="1">
                          <a:solidFill>
                            <a:srgbClr val="FFFFFF"/>
                          </a:solidFill>
                          <a:latin typeface="Segoe UI"/>
                        </a:defRPr>
                      </a:pPr>
                      <a:r>
                        <a:t>Đặc tính</a:t>
                      </a:r>
                    </a:p>
                  </a:txBody>
                  <a:tcPr anchor="ctr" marL="73152" marR="73152" marT="36576" marB="36576">
                    <a:solidFill>
                      <a:srgbClr val="1E293B"/>
                    </a:solidFill>
                  </a:tcPr>
                </a:tc>
                <a:tc>
                  <a:txBody>
                    <a:bodyPr/>
                    <a:lstStyle/>
                    <a:p>
                      <a:pPr algn="ctr">
                        <a:defRPr sz="850" b="1">
                          <a:solidFill>
                            <a:srgbClr val="FFFFFF"/>
                          </a:solidFill>
                          <a:latin typeface="Segoe UI"/>
                        </a:defRPr>
                      </a:pPr>
                      <a:r>
                        <a:t>RLE</a:t>
                      </a:r>
                    </a:p>
                  </a:txBody>
                  <a:tcPr anchor="ctr" marL="73152" marR="73152" marT="36576" marB="36576">
                    <a:solidFill>
                      <a:srgbClr val="1E293B"/>
                    </a:solidFill>
                  </a:tcPr>
                </a:tc>
                <a:tc>
                  <a:txBody>
                    <a:bodyPr/>
                    <a:lstStyle/>
                    <a:p>
                      <a:pPr algn="ctr">
                        <a:defRPr sz="850" b="1">
                          <a:solidFill>
                            <a:srgbClr val="FFFFFF"/>
                          </a:solidFill>
                          <a:latin typeface="Segoe UI"/>
                        </a:defRPr>
                      </a:pPr>
                      <a:r>
                        <a:t>Huffman</a:t>
                      </a:r>
                    </a:p>
                  </a:txBody>
                  <a:tcPr anchor="ctr" marL="73152" marR="73152" marT="36576" marB="36576">
                    <a:solidFill>
                      <a:srgbClr val="1E293B"/>
                    </a:solidFill>
                  </a:tcPr>
                </a:tc>
                <a:tc>
                  <a:txBody>
                    <a:bodyPr/>
                    <a:lstStyle/>
                    <a:p>
                      <a:pPr algn="ctr">
                        <a:defRPr sz="850" b="1">
                          <a:solidFill>
                            <a:srgbClr val="FFFFFF"/>
                          </a:solidFill>
                          <a:latin typeface="Segoe UI"/>
                        </a:defRPr>
                      </a:pPr>
                      <a:r>
                        <a:t>LZW</a:t>
                      </a:r>
                    </a:p>
                  </a:txBody>
                  <a:tcPr anchor="ctr" marL="73152" marR="73152" marT="36576" marB="36576">
                    <a:solidFill>
                      <a:srgbClr val="1E293B"/>
                    </a:solidFill>
                  </a:tcPr>
                </a:tc>
              </a:tr>
              <a:tr h="274320">
                <a:tc>
                  <a:txBody>
                    <a:bodyPr/>
                    <a:lstStyle/>
                    <a:p>
                      <a:pPr algn="l">
                        <a:defRPr sz="819" b="1">
                          <a:solidFill>
                            <a:srgbClr val="0F172A"/>
                          </a:solidFill>
                          <a:latin typeface="Segoe UI"/>
                        </a:defRPr>
                      </a:pPr>
                      <a:r>
                        <a:t>C1</a:t>
                      </a:r>
                    </a:p>
                  </a:txBody>
                  <a:tcPr anchor="ctr" marL="73152" marR="73152" marT="27432" marB="27432">
                    <a:solidFill>
                      <a:srgbClr val="FFFFFF"/>
                    </a:solidFill>
                  </a:tcPr>
                </a:tc>
                <a:tc>
                  <a:txBody>
                    <a:bodyPr/>
                    <a:lstStyle/>
                    <a:p>
                      <a:pPr algn="r">
                        <a:defRPr sz="819" b="0">
                          <a:solidFill>
                            <a:srgbClr val="0F172A"/>
                          </a:solidFill>
                          <a:latin typeface="Segoe UI"/>
                        </a:defRPr>
                      </a:pPr>
                      <a:r>
                        <a:t>Run lặp hình học (~32B)</a:t>
                      </a:r>
                    </a:p>
                  </a:txBody>
                  <a:tcPr anchor="ctr" marL="73152" marR="73152" marT="27432" marB="27432">
                    <a:solidFill>
                      <a:srgbClr val="FFFFFF"/>
                    </a:solidFill>
                  </a:tcPr>
                </a:tc>
                <a:tc>
                  <a:txBody>
                    <a:bodyPr/>
                    <a:lstStyle/>
                    <a:p>
                      <a:pPr algn="r">
                        <a:defRPr sz="819" b="0">
                          <a:solidFill>
                            <a:srgbClr val="0F172A"/>
                          </a:solidFill>
                          <a:latin typeface="Segoe UI"/>
                        </a:defRPr>
                      </a:pPr>
                      <a:r>
                        <a:t>0.062526</a:t>
                      </a:r>
                    </a:p>
                  </a:txBody>
                  <a:tcPr anchor="ctr" marL="73152" marR="73152" marT="27432" marB="27432">
                    <a:solidFill>
                      <a:srgbClr val="FFFFFF"/>
                    </a:solidFill>
                  </a:tcPr>
                </a:tc>
                <a:tc>
                  <a:txBody>
                    <a:bodyPr/>
                    <a:lstStyle/>
                    <a:p>
                      <a:pPr algn="r">
                        <a:defRPr sz="819" b="0">
                          <a:solidFill>
                            <a:srgbClr val="0F172A"/>
                          </a:solidFill>
                          <a:latin typeface="Segoe UI"/>
                        </a:defRPr>
                      </a:pPr>
                      <a:r>
                        <a:t>1.000064</a:t>
                      </a:r>
                    </a:p>
                  </a:txBody>
                  <a:tcPr anchor="ctr" marL="73152" marR="73152" marT="27432" marB="27432">
                    <a:solidFill>
                      <a:srgbClr val="FFFFFF"/>
                    </a:solidFill>
                  </a:tcPr>
                </a:tc>
                <a:tc>
                  <a:txBody>
                    <a:bodyPr/>
                    <a:lstStyle/>
                    <a:p>
                      <a:pPr algn="r">
                        <a:defRPr sz="819" b="0">
                          <a:solidFill>
                            <a:srgbClr val="0F172A"/>
                          </a:solidFill>
                          <a:latin typeface="Segoe UI"/>
                        </a:defRPr>
                      </a:pPr>
                      <a:r>
                        <a:t>0.216611</a:t>
                      </a:r>
                    </a:p>
                  </a:txBody>
                  <a:tcPr anchor="ctr" marL="73152" marR="73152" marT="27432" marB="27432">
                    <a:solidFill>
                      <a:srgbClr val="FFFFFF"/>
                    </a:solidFill>
                  </a:tcPr>
                </a:tc>
              </a:tr>
              <a:tr h="274320">
                <a:tc>
                  <a:txBody>
                    <a:bodyPr/>
                    <a:lstStyle/>
                    <a:p>
                      <a:pPr algn="l">
                        <a:defRPr sz="819" b="1">
                          <a:solidFill>
                            <a:srgbClr val="0F172A"/>
                          </a:solidFill>
                          <a:latin typeface="Segoe UI"/>
                        </a:defRPr>
                      </a:pPr>
                      <a:r>
                        <a:t>C2</a:t>
                      </a:r>
                    </a:p>
                  </a:txBody>
                  <a:tcPr anchor="ctr" marL="73152" marR="73152" marT="27432" marB="27432">
                    <a:solidFill>
                      <a:srgbClr val="F1F5F9"/>
                    </a:solidFill>
                  </a:tcPr>
                </a:tc>
                <a:tc>
                  <a:txBody>
                    <a:bodyPr/>
                    <a:lstStyle/>
                    <a:p>
                      <a:pPr algn="r">
                        <a:defRPr sz="819" b="0">
                          <a:solidFill>
                            <a:srgbClr val="0F172A"/>
                          </a:solidFill>
                          <a:latin typeface="Segoe UI"/>
                        </a:defRPr>
                      </a:pPr>
                      <a:r>
                        <a:t>Zipfian 1000 từ (s=1)</a:t>
                      </a:r>
                    </a:p>
                  </a:txBody>
                  <a:tcPr anchor="ctr" marL="73152" marR="73152" marT="27432" marB="27432">
                    <a:solidFill>
                      <a:srgbClr val="F1F5F9"/>
                    </a:solidFill>
                  </a:tcPr>
                </a:tc>
                <a:tc>
                  <a:txBody>
                    <a:bodyPr/>
                    <a:lstStyle/>
                    <a:p>
                      <a:pPr algn="r">
                        <a:defRPr sz="819" b="0">
                          <a:solidFill>
                            <a:srgbClr val="0F172A"/>
                          </a:solidFill>
                          <a:latin typeface="Segoe UI"/>
                        </a:defRPr>
                      </a:pPr>
                      <a:r>
                        <a:t>1.960098</a:t>
                      </a:r>
                    </a:p>
                  </a:txBody>
                  <a:tcPr anchor="ctr" marL="73152" marR="73152" marT="27432" marB="27432">
                    <a:solidFill>
                      <a:srgbClr val="F1F5F9"/>
                    </a:solidFill>
                  </a:tcPr>
                </a:tc>
                <a:tc>
                  <a:txBody>
                    <a:bodyPr/>
                    <a:lstStyle/>
                    <a:p>
                      <a:pPr algn="r">
                        <a:defRPr sz="819" b="0">
                          <a:solidFill>
                            <a:srgbClr val="0F172A"/>
                          </a:solidFill>
                          <a:latin typeface="Segoe UI"/>
                        </a:defRPr>
                      </a:pPr>
                      <a:r>
                        <a:t>0.569210</a:t>
                      </a:r>
                    </a:p>
                  </a:txBody>
                  <a:tcPr anchor="ctr" marL="73152" marR="73152" marT="27432" marB="27432">
                    <a:solidFill>
                      <a:srgbClr val="F1F5F9"/>
                    </a:solidFill>
                  </a:tcPr>
                </a:tc>
                <a:tc>
                  <a:txBody>
                    <a:bodyPr/>
                    <a:lstStyle/>
                    <a:p>
                      <a:pPr algn="r">
                        <a:defRPr sz="819" b="0">
                          <a:solidFill>
                            <a:srgbClr val="0F172A"/>
                          </a:solidFill>
                          <a:latin typeface="Segoe UI"/>
                        </a:defRPr>
                      </a:pPr>
                      <a:r>
                        <a:t>0.379549</a:t>
                      </a:r>
                    </a:p>
                  </a:txBody>
                  <a:tcPr anchor="ctr" marL="73152" marR="73152" marT="27432" marB="27432">
                    <a:solidFill>
                      <a:srgbClr val="F1F5F9"/>
                    </a:solidFill>
                  </a:tcPr>
                </a:tc>
              </a:tr>
              <a:tr h="274320">
                <a:tc>
                  <a:txBody>
                    <a:bodyPr/>
                    <a:lstStyle/>
                    <a:p>
                      <a:pPr algn="l">
                        <a:defRPr sz="819" b="1">
                          <a:solidFill>
                            <a:srgbClr val="0F172A"/>
                          </a:solidFill>
                          <a:latin typeface="Segoe UI"/>
                        </a:defRPr>
                      </a:pPr>
                      <a:r>
                        <a:t>C3</a:t>
                      </a:r>
                    </a:p>
                  </a:txBody>
                  <a:tcPr anchor="ctr" marL="73152" marR="73152" marT="27432" marB="27432">
                    <a:solidFill>
                      <a:srgbClr val="FFFFFF"/>
                    </a:solidFill>
                  </a:tcPr>
                </a:tc>
                <a:tc>
                  <a:txBody>
                    <a:bodyPr/>
                    <a:lstStyle/>
                    <a:p>
                      <a:pPr algn="l">
                        <a:defRPr sz="819" b="0">
                          <a:solidFill>
                            <a:srgbClr val="0F172A"/>
                          </a:solidFill>
                          <a:latin typeface="Segoe UI"/>
                        </a:defRPr>
                      </a:pPr>
                      <a:r>
                        <a:t>Uniform random byte</a:t>
                      </a:r>
                    </a:p>
                  </a:txBody>
                  <a:tcPr anchor="ctr" marL="73152" marR="73152" marT="27432" marB="27432">
                    <a:solidFill>
                      <a:srgbClr val="FFFFFF"/>
                    </a:solidFill>
                  </a:tcPr>
                </a:tc>
                <a:tc>
                  <a:txBody>
                    <a:bodyPr/>
                    <a:lstStyle/>
                    <a:p>
                      <a:pPr algn="r">
                        <a:defRPr sz="819" b="0">
                          <a:solidFill>
                            <a:srgbClr val="0F172A"/>
                          </a:solidFill>
                          <a:latin typeface="Segoe UI"/>
                        </a:defRPr>
                      </a:pPr>
                      <a:r>
                        <a:t>1.992249</a:t>
                      </a:r>
                    </a:p>
                  </a:txBody>
                  <a:tcPr anchor="ctr" marL="73152" marR="73152" marT="27432" marB="27432">
                    <a:solidFill>
                      <a:srgbClr val="FFFFFF"/>
                    </a:solidFill>
                  </a:tcPr>
                </a:tc>
                <a:tc>
                  <a:txBody>
                    <a:bodyPr/>
                    <a:lstStyle/>
                    <a:p>
                      <a:pPr algn="r">
                        <a:defRPr sz="819" b="0">
                          <a:solidFill>
                            <a:srgbClr val="0F172A"/>
                          </a:solidFill>
                          <a:latin typeface="Segoe UI"/>
                        </a:defRPr>
                      </a:pPr>
                      <a:r>
                        <a:t>1.000064</a:t>
                      </a:r>
                    </a:p>
                  </a:txBody>
                  <a:tcPr anchor="ctr" marL="73152" marR="73152" marT="27432" marB="27432">
                    <a:solidFill>
                      <a:srgbClr val="FFFFFF"/>
                    </a:solidFill>
                  </a:tcPr>
                </a:tc>
                <a:tc>
                  <a:txBody>
                    <a:bodyPr/>
                    <a:lstStyle/>
                    <a:p>
                      <a:pPr algn="r">
                        <a:defRPr sz="819" b="0">
                          <a:solidFill>
                            <a:srgbClr val="0F172A"/>
                          </a:solidFill>
                          <a:latin typeface="Segoe UI"/>
                        </a:defRPr>
                      </a:pPr>
                      <a:r>
                        <a:t>1.419488</a:t>
                      </a:r>
                    </a:p>
                  </a:txBody>
                  <a:tcPr anchor="ctr" marL="73152" marR="73152" marT="27432" marB="27432">
                    <a:solidFill>
                      <a:srgbClr val="FFFFFF"/>
                    </a:solidFill>
                  </a:tcPr>
                </a:tc>
              </a:tr>
              <a:tr h="274320">
                <a:tc>
                  <a:txBody>
                    <a:bodyPr/>
                    <a:lstStyle/>
                    <a:p>
                      <a:pPr algn="l">
                        <a:defRPr sz="819" b="1">
                          <a:solidFill>
                            <a:srgbClr val="1D4ED8"/>
                          </a:solidFill>
                          <a:latin typeface="Segoe UI"/>
                        </a:defRPr>
                      </a:pPr>
                      <a:r>
                        <a:t>V1</a:t>
                      </a:r>
                    </a:p>
                  </a:txBody>
                  <a:tcPr anchor="ctr" marL="73152" marR="73152" marT="27432" marB="27432">
                    <a:solidFill>
                      <a:srgbClr val="EFF6FF"/>
                    </a:solidFill>
                  </a:tcPr>
                </a:tc>
                <a:tc>
                  <a:txBody>
                    <a:bodyPr/>
                    <a:lstStyle/>
                    <a:p>
                      <a:pPr algn="l">
                        <a:defRPr sz="819" b="1">
                          <a:solidFill>
                            <a:srgbClr val="1D4ED8"/>
                          </a:solidFill>
                          <a:latin typeface="Segoe UI"/>
                        </a:defRPr>
                      </a:pPr>
                      <a:r>
                        <a:t>Wikipedia tiếng Việt</a:t>
                      </a:r>
                    </a:p>
                  </a:txBody>
                  <a:tcPr anchor="ctr" marL="73152" marR="73152" marT="27432" marB="27432">
                    <a:solidFill>
                      <a:srgbClr val="EFF6FF"/>
                    </a:solidFill>
                  </a:tcPr>
                </a:tc>
                <a:tc>
                  <a:txBody>
                    <a:bodyPr/>
                    <a:lstStyle/>
                    <a:p>
                      <a:pPr algn="r">
                        <a:defRPr sz="819" b="1">
                          <a:solidFill>
                            <a:srgbClr val="1D4ED8"/>
                          </a:solidFill>
                          <a:latin typeface="Segoe UI"/>
                        </a:defRPr>
                      </a:pPr>
                      <a:r>
                        <a:t>1.988627</a:t>
                      </a:r>
                    </a:p>
                  </a:txBody>
                  <a:tcPr anchor="ctr" marL="73152" marR="73152" marT="27432" marB="27432">
                    <a:solidFill>
                      <a:srgbClr val="EFF6FF"/>
                    </a:solidFill>
                  </a:tcPr>
                </a:tc>
                <a:tc>
                  <a:txBody>
                    <a:bodyPr/>
                    <a:lstStyle/>
                    <a:p>
                      <a:pPr algn="r">
                        <a:defRPr sz="819" b="1">
                          <a:solidFill>
                            <a:srgbClr val="1D4ED8"/>
                          </a:solidFill>
                          <a:latin typeface="Segoe UI"/>
                        </a:defRPr>
                      </a:pPr>
                      <a:r>
                        <a:t>0.669362</a:t>
                      </a:r>
                    </a:p>
                  </a:txBody>
                  <a:tcPr anchor="ctr" marL="73152" marR="73152" marT="27432" marB="27432">
                    <a:solidFill>
                      <a:srgbClr val="EFF6FF"/>
                    </a:solidFill>
                  </a:tcPr>
                </a:tc>
                <a:tc>
                  <a:txBody>
                    <a:bodyPr/>
                    <a:lstStyle/>
                    <a:p>
                      <a:pPr algn="r">
                        <a:defRPr sz="819" b="1">
                          <a:solidFill>
                            <a:srgbClr val="1D4ED8"/>
                          </a:solidFill>
                          <a:latin typeface="Segoe UI"/>
                        </a:defRPr>
                      </a:pPr>
                      <a:r>
                        <a:t>0.500129</a:t>
                      </a:r>
                    </a:p>
                  </a:txBody>
                  <a:tcPr anchor="ctr" marL="73152" marR="73152" marT="27432" marB="27432">
                    <a:solidFill>
                      <a:srgbClr val="EFF6FF"/>
                    </a:solidFill>
                  </a:tcPr>
                </a:tc>
              </a:tr>
            </a:tbl>
          </a:graphicData>
        </a:graphic>
      </p:graphicFrame>
      <p:sp>
        <p:nvSpPr>
          <p:cNvPr id="11" name="TextBox 10"/>
          <p:cNvSpPr txBox="1"/>
          <p:nvPr/>
        </p:nvSpPr>
        <p:spPr>
          <a:xfrm>
            <a:off x="914400" y="3566160"/>
            <a:ext cx="5120640" cy="2560320"/>
          </a:xfrm>
          <a:prstGeom prst="rect">
            <a:avLst/>
          </a:prstGeom>
          <a:noFill/>
        </p:spPr>
        <p:txBody>
          <a:bodyPr wrap="square" lIns="0" rIns="0" tIns="0" bIns="0">
            <a:spAutoFit/>
          </a:bodyPr>
          <a:lstStyle/>
          <a:p>
            <a:pPr>
              <a:spcBef>
                <a:spcPts val="300"/>
              </a:spcBef>
              <a:defRPr sz="880" b="1">
                <a:solidFill>
                  <a:srgbClr val="1D4ED8"/>
                </a:solidFill>
                <a:latin typeface="Segoe UI"/>
              </a:defRPr>
            </a:pPr>
            <a:r>
              <a:t>• C1 (Run dài): RLE vô địch tuyệt đối (0.0625):</a:t>
            </a:r>
          </a:p>
          <a:p>
            <a:pPr>
              <a:defRPr sz="800">
                <a:solidFill>
                  <a:srgbClr val="475569"/>
                </a:solidFill>
                <a:latin typeface="Segoe UI"/>
              </a:defRPr>
            </a:pPr>
            <a:r>
              <a:t>  Nén giảm dung lượng tới 93.7% nhờ khai thác trực tiếp byte lặp liên tiếp. Huffman thất bại hoàn toàn (~1.000) do phân bố histogram byte gần đều.</a:t>
            </a:r>
          </a:p>
          <a:p>
            <a:pPr>
              <a:spcBef>
                <a:spcPts val="300"/>
              </a:spcBef>
              <a:defRPr sz="880" b="1">
                <a:solidFill>
                  <a:srgbClr val="1D4ED8"/>
                </a:solidFill>
                <a:latin typeface="Segoe UI"/>
              </a:defRPr>
            </a:pPr>
            <a:r>
              <a:t>• C2 (Zipfian): LZW đạt hiệu quả cao nhất (0.3795):</a:t>
            </a:r>
          </a:p>
          <a:p>
            <a:pPr>
              <a:defRPr sz="800">
                <a:solidFill>
                  <a:srgbClr val="475569"/>
                </a:solidFill>
                <a:latin typeface="Segoe UI"/>
              </a:defRPr>
            </a:pPr>
            <a:r>
              <a:t>  Sự lặp lại của các từ vựng giúp LZW nhanh chóng xây dựng chuỗi từ điển phong phú. Huffman đạt 0.5692. RLE làm phình file lên gần gấp đôi (1.96x).</a:t>
            </a:r>
          </a:p>
          <a:p>
            <a:pPr>
              <a:spcBef>
                <a:spcPts val="300"/>
              </a:spcBef>
              <a:defRPr sz="880" b="1">
                <a:solidFill>
                  <a:srgbClr val="1D4ED8"/>
                </a:solidFill>
                <a:latin typeface="Segoe UI"/>
              </a:defRPr>
            </a:pPr>
            <a:r>
              <a:t>• C3 (Ngẫu nhiên đều): Minh chứng 'No Free Lunch':</a:t>
            </a:r>
          </a:p>
          <a:p>
            <a:pPr>
              <a:defRPr sz="800">
                <a:solidFill>
                  <a:srgbClr val="475569"/>
                </a:solidFill>
                <a:latin typeface="Segoe UI"/>
              </a:defRPr>
            </a:pPr>
            <a:r>
              <a:t>  Cực đại entropy khiến không codec nào nén được; overhead header và bit padding làm kích thước file phình to (LZW phình 41.9%, RLE phình 99.2%).</a:t>
            </a:r>
          </a:p>
          <a:p>
            <a:pPr>
              <a:spcBef>
                <a:spcPts val="300"/>
              </a:spcBef>
              <a:defRPr sz="880" b="1">
                <a:solidFill>
                  <a:srgbClr val="1D4ED8"/>
                </a:solidFill>
                <a:latin typeface="Segoe UI"/>
              </a:defRPr>
            </a:pPr>
            <a:r>
              <a:t>• V1 (Văn bản Tiếng Việt): LZW vượt trội Huffman:</a:t>
            </a:r>
          </a:p>
          <a:p>
            <a:pPr>
              <a:defRPr sz="800">
                <a:solidFill>
                  <a:srgbClr val="475569"/>
                </a:solidFill>
                <a:latin typeface="Segoe UI"/>
              </a:defRPr>
            </a:pPr>
            <a:r>
              <a:t>  LZW đạt tỷ lệ 0.5001 so với Huffman 0.6694, khẳng định ưu thế của việc khai thác cụm từ con (higher-order context) so với tần suất ký tự đơn lẻ.</a:t>
            </a:r>
          </a:p>
        </p:txBody>
      </p:sp>
      <p:sp>
        <p:nvSpPr>
          <p:cNvPr id="12" name="Rounded Rectangle 11"/>
          <p:cNvSpPr/>
          <p:nvPr/>
        </p:nvSpPr>
        <p:spPr>
          <a:xfrm>
            <a:off x="6492240" y="1463040"/>
            <a:ext cx="496793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q1_ratio.png"/>
          <p:cNvPicPr>
            <a:picLocks noChangeAspect="1"/>
          </p:cNvPicPr>
          <p:nvPr/>
        </p:nvPicPr>
        <p:blipFill>
          <a:blip r:embed="rId2"/>
          <a:stretch>
            <a:fillRect/>
          </a:stretch>
        </p:blipFill>
        <p:spPr>
          <a:xfrm>
            <a:off x="6629400" y="1600200"/>
            <a:ext cx="4693615" cy="3249426"/>
          </a:xfrm>
          <a:prstGeom prst="rect">
            <a:avLst/>
          </a:prstGeom>
        </p:spPr>
      </p:pic>
      <p:sp>
        <p:nvSpPr>
          <p:cNvPr id="14" name="TextBox 13"/>
          <p:cNvSpPr txBox="1"/>
          <p:nvPr/>
        </p:nvSpPr>
        <p:spPr>
          <a:xfrm>
            <a:off x="6629400" y="5760720"/>
            <a:ext cx="4693615" cy="411480"/>
          </a:xfrm>
          <a:prstGeom prst="rect">
            <a:avLst/>
          </a:prstGeom>
          <a:noFill/>
        </p:spPr>
        <p:txBody>
          <a:bodyPr wrap="square" lIns="0" rIns="0" tIns="0" bIns="0">
            <a:spAutoFit/>
          </a:bodyPr>
          <a:lstStyle/>
          <a:p>
            <a:pPr algn="ctr">
              <a:defRPr sz="800">
                <a:solidFill>
                  <a:srgbClr val="64748B"/>
                </a:solidFill>
                <a:latin typeface="Segoe UI"/>
              </a:defRPr>
            </a:pPr>
            <a:r>
              <a:t>Hình 1: Tỷ lệ nén qua 5 kích thước (256 - 4096 KiB). Tăng kích thước giảm tỷ trọng header nhưng không tự tạo cấu trúc dễ nén.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KẾT QUẢ RQ1</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Đánh giá Thông lượng (KiB/s) &amp; Chi phí Bộ nhớ Đỉnh</a:t>
            </a:r>
          </a:p>
          <a:p>
            <a:pPr>
              <a:spcBef>
                <a:spcPts val="200"/>
              </a:spcBef>
              <a:defRPr sz="1000">
                <a:solidFill>
                  <a:srgbClr val="64748B"/>
                </a:solidFill>
                <a:latin typeface="Segoe UI"/>
              </a:defRPr>
            </a:pPr>
            <a:r>
              <a:t>Phân tích tốc độ xử lý và nguyên nhân gây đột biến bộ nhớ trong quá trình thực thi</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7 / 17</a:t>
            </a:r>
          </a:p>
        </p:txBody>
      </p:sp>
      <p:sp>
        <p:nvSpPr>
          <p:cNvPr id="8" name="Rounded Rectangle 7"/>
          <p:cNvSpPr/>
          <p:nvPr/>
        </p:nvSpPr>
        <p:spPr>
          <a:xfrm>
            <a:off x="731520" y="1463040"/>
            <a:ext cx="585216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5486400" cy="320040"/>
          </a:xfrm>
          <a:prstGeom prst="rect">
            <a:avLst/>
          </a:prstGeom>
          <a:noFill/>
        </p:spPr>
        <p:txBody>
          <a:bodyPr wrap="none">
            <a:spAutoFit/>
          </a:bodyPr>
          <a:lstStyle/>
          <a:p>
            <a:pPr>
              <a:defRPr sz="1100" b="1">
                <a:solidFill>
                  <a:srgbClr val="0F172A"/>
                </a:solidFill>
                <a:latin typeface="Segoe UI"/>
              </a:defRPr>
            </a:pPr>
            <a:r>
              <a:t>Bảng II: Thông lượng &amp; Bộ nhớ đỉnh tại 4096 KiB (Trung vị seed)</a:t>
            </a:r>
          </a:p>
        </p:txBody>
      </p:sp>
      <p:graphicFrame>
        <p:nvGraphicFramePr>
          <p:cNvPr id="10" name="Table 9"/>
          <p:cNvGraphicFramePr>
            <a:graphicFrameLocks noGrp="1"/>
          </p:cNvGraphicFramePr>
          <p:nvPr/>
        </p:nvGraphicFramePr>
        <p:xfrm>
          <a:off x="914400" y="1938528"/>
          <a:ext cx="5486400" cy="2103120"/>
        </p:xfrm>
        <a:graphic>
          <a:graphicData uri="http://schemas.openxmlformats.org/drawingml/2006/table">
            <a:tbl>
              <a:tblPr firstRow="1" bandRow="1">
                <a:tableStyleId>{5C22544A-7EE6-4342-B048-85BDC9FD1C3A}</a:tableStyleId>
              </a:tblPr>
              <a:tblGrid>
                <a:gridCol w="548640"/>
                <a:gridCol w="1097280"/>
                <a:gridCol w="1280160"/>
                <a:gridCol w="1371600"/>
                <a:gridCol w="1188720"/>
              </a:tblGrid>
              <a:tr h="210312">
                <a:tc>
                  <a:txBody>
                    <a:bodyPr/>
                    <a:lstStyle/>
                    <a:p>
                      <a:pPr algn="l">
                        <a:defRPr sz="850" b="1">
                          <a:solidFill>
                            <a:srgbClr val="FFFFFF"/>
                          </a:solidFill>
                          <a:latin typeface="Segoe UI"/>
                        </a:defRPr>
                      </a:pPr>
                      <a:r>
                        <a:t>Họ</a:t>
                      </a:r>
                    </a:p>
                  </a:txBody>
                  <a:tcPr anchor="ctr" marL="73152" marR="73152" marT="36576" marB="36576">
                    <a:solidFill>
                      <a:srgbClr val="1E293B"/>
                    </a:solidFill>
                  </a:tcPr>
                </a:tc>
                <a:tc>
                  <a:txBody>
                    <a:bodyPr/>
                    <a:lstStyle/>
                    <a:p>
                      <a:pPr algn="ctr">
                        <a:defRPr sz="850" b="1">
                          <a:solidFill>
                            <a:srgbClr val="FFFFFF"/>
                          </a:solidFill>
                          <a:latin typeface="Segoe UI"/>
                        </a:defRPr>
                      </a:pPr>
                      <a:r>
                        <a:t>Codec</a:t>
                      </a:r>
                    </a:p>
                  </a:txBody>
                  <a:tcPr anchor="ctr" marL="73152" marR="73152" marT="36576" marB="36576">
                    <a:solidFill>
                      <a:srgbClr val="1E293B"/>
                    </a:solidFill>
                  </a:tcPr>
                </a:tc>
                <a:tc>
                  <a:txBody>
                    <a:bodyPr/>
                    <a:lstStyle/>
                    <a:p>
                      <a:pPr algn="ctr">
                        <a:defRPr sz="850" b="1">
                          <a:solidFill>
                            <a:srgbClr val="FFFFFF"/>
                          </a:solidFill>
                          <a:latin typeface="Segoe UI"/>
                        </a:defRPr>
                      </a:pPr>
                      <a:r>
                        <a:t>Nén (KiB/s)</a:t>
                      </a:r>
                    </a:p>
                  </a:txBody>
                  <a:tcPr anchor="ctr" marL="73152" marR="73152" marT="36576" marB="36576">
                    <a:solidFill>
                      <a:srgbClr val="1E293B"/>
                    </a:solidFill>
                  </a:tcPr>
                </a:tc>
                <a:tc>
                  <a:txBody>
                    <a:bodyPr/>
                    <a:lstStyle/>
                    <a:p>
                      <a:pPr algn="ctr">
                        <a:defRPr sz="850" b="1">
                          <a:solidFill>
                            <a:srgbClr val="FFFFFF"/>
                          </a:solidFill>
                          <a:latin typeface="Segoe UI"/>
                        </a:defRPr>
                      </a:pPr>
                      <a:r>
                        <a:t>Giải nén (KiB/s)</a:t>
                      </a:r>
                    </a:p>
                  </a:txBody>
                  <a:tcPr anchor="ctr" marL="73152" marR="73152" marT="36576" marB="36576">
                    <a:solidFill>
                      <a:srgbClr val="1E293B"/>
                    </a:solidFill>
                  </a:tcPr>
                </a:tc>
                <a:tc>
                  <a:txBody>
                    <a:bodyPr/>
                    <a:lstStyle/>
                    <a:p>
                      <a:pPr algn="ctr">
                        <a:defRPr sz="850" b="1">
                          <a:solidFill>
                            <a:srgbClr val="FFFFFF"/>
                          </a:solidFill>
                          <a:latin typeface="Segoe UI"/>
                        </a:defRPr>
                      </a:pPr>
                      <a:r>
                        <a:t>Đỉnh RAM (KiB)</a:t>
                      </a:r>
                    </a:p>
                  </a:txBody>
                  <a:tcPr anchor="ctr" marL="73152" marR="73152" marT="36576" marB="36576">
                    <a:solidFill>
                      <a:srgbClr val="1E293B"/>
                    </a:solidFill>
                  </a:tcPr>
                </a:tc>
              </a:tr>
              <a:tr h="210312">
                <a:tc>
                  <a:txBody>
                    <a:bodyPr/>
                    <a:lstStyle/>
                    <a:p>
                      <a:pPr algn="l">
                        <a:defRPr sz="819" b="1">
                          <a:solidFill>
                            <a:srgbClr val="0F172A"/>
                          </a:solidFill>
                          <a:latin typeface="Segoe UI"/>
                        </a:defRPr>
                      </a:pPr>
                      <a:r>
                        <a:t>C1</a:t>
                      </a:r>
                    </a:p>
                  </a:txBody>
                  <a:tcPr anchor="ctr" marL="73152" marR="73152" marT="27432" marB="27432">
                    <a:solidFill>
                      <a:srgbClr val="FFFFFF"/>
                    </a:solidFill>
                  </a:tcPr>
                </a:tc>
                <a:tc>
                  <a:txBody>
                    <a:bodyPr/>
                    <a:lstStyle/>
                    <a:p>
                      <a:pPr algn="l">
                        <a:defRPr sz="819" b="0">
                          <a:solidFill>
                            <a:srgbClr val="0F172A"/>
                          </a:solidFill>
                          <a:latin typeface="Segoe UI"/>
                        </a:defRPr>
                      </a:pPr>
                      <a:r>
                        <a:t>rle</a:t>
                      </a:r>
                    </a:p>
                  </a:txBody>
                  <a:tcPr anchor="ctr" marL="73152" marR="73152" marT="27432" marB="27432">
                    <a:solidFill>
                      <a:srgbClr val="FFFFFF"/>
                    </a:solidFill>
                  </a:tcPr>
                </a:tc>
                <a:tc>
                  <a:txBody>
                    <a:bodyPr/>
                    <a:lstStyle/>
                    <a:p>
                      <a:pPr algn="r">
                        <a:defRPr sz="819" b="0">
                          <a:solidFill>
                            <a:srgbClr val="0F172A"/>
                          </a:solidFill>
                          <a:latin typeface="Segoe UI"/>
                        </a:defRPr>
                      </a:pPr>
                      <a:r>
                        <a:t>29,495.6</a:t>
                      </a:r>
                    </a:p>
                  </a:txBody>
                  <a:tcPr anchor="ctr" marL="73152" marR="73152" marT="27432" marB="27432">
                    <a:solidFill>
                      <a:srgbClr val="FFFFFF"/>
                    </a:solidFill>
                  </a:tcPr>
                </a:tc>
                <a:tc>
                  <a:txBody>
                    <a:bodyPr/>
                    <a:lstStyle/>
                    <a:p>
                      <a:pPr algn="r">
                        <a:defRPr sz="819" b="0">
                          <a:solidFill>
                            <a:srgbClr val="0F172A"/>
                          </a:solidFill>
                          <a:latin typeface="Segoe UI"/>
                        </a:defRPr>
                      </a:pPr>
                      <a:r>
                        <a:t>140,597.5</a:t>
                      </a:r>
                    </a:p>
                  </a:txBody>
                  <a:tcPr anchor="ctr" marL="73152" marR="73152" marT="27432" marB="27432">
                    <a:solidFill>
                      <a:srgbClr val="FFFFFF"/>
                    </a:solidFill>
                  </a:tcPr>
                </a:tc>
                <a:tc>
                  <a:txBody>
                    <a:bodyPr/>
                    <a:lstStyle/>
                    <a:p>
                      <a:pPr algn="r">
                        <a:defRPr sz="819" b="0">
                          <a:solidFill>
                            <a:srgbClr val="0F172A"/>
                          </a:solidFill>
                          <a:latin typeface="Segoe UI"/>
                        </a:defRPr>
                      </a:pPr>
                      <a:r>
                        <a:t>8,629.3</a:t>
                      </a:r>
                    </a:p>
                  </a:txBody>
                  <a:tcPr anchor="ctr" marL="73152" marR="73152" marT="27432" marB="27432">
                    <a:solidFill>
                      <a:srgbClr val="FFFFFF"/>
                    </a:solidFill>
                  </a:tcPr>
                </a:tc>
              </a:tr>
              <a:tr h="210312">
                <a:tc>
                  <a:txBody>
                    <a:bodyPr/>
                    <a:lstStyle/>
                    <a:p>
                      <a:pPr algn="l">
                        <a:defRPr sz="819" b="1">
                          <a:solidFill>
                            <a:srgbClr val="0F172A"/>
                          </a:solidFill>
                          <a:latin typeface="Segoe UI"/>
                        </a:defRPr>
                      </a:pPr>
                      <a:r>
                        <a:t>C1</a:t>
                      </a:r>
                    </a:p>
                  </a:txBody>
                  <a:tcPr anchor="ctr" marL="73152" marR="73152" marT="27432" marB="27432">
                    <a:solidFill>
                      <a:srgbClr val="F1F5F9"/>
                    </a:solidFill>
                  </a:tcPr>
                </a:tc>
                <a:tc>
                  <a:txBody>
                    <a:bodyPr/>
                    <a:lstStyle/>
                    <a:p>
                      <a:pPr algn="l">
                        <a:defRPr sz="819" b="0">
                          <a:solidFill>
                            <a:srgbClr val="0F172A"/>
                          </a:solidFill>
                          <a:latin typeface="Segoe UI"/>
                        </a:defRPr>
                      </a:pPr>
                      <a:r>
                        <a:t>huffman</a:t>
                      </a:r>
                    </a:p>
                  </a:txBody>
                  <a:tcPr anchor="ctr" marL="73152" marR="73152" marT="27432" marB="27432">
                    <a:solidFill>
                      <a:srgbClr val="F1F5F9"/>
                    </a:solidFill>
                  </a:tcPr>
                </a:tc>
                <a:tc>
                  <a:txBody>
                    <a:bodyPr/>
                    <a:lstStyle/>
                    <a:p>
                      <a:pPr algn="r">
                        <a:defRPr sz="819" b="0">
                          <a:solidFill>
                            <a:srgbClr val="0F172A"/>
                          </a:solidFill>
                          <a:latin typeface="Segoe UI"/>
                        </a:defRPr>
                      </a:pPr>
                      <a:r>
                        <a:t>5,724.7</a:t>
                      </a:r>
                    </a:p>
                  </a:txBody>
                  <a:tcPr anchor="ctr" marL="73152" marR="73152" marT="27432" marB="27432">
                    <a:solidFill>
                      <a:srgbClr val="F1F5F9"/>
                    </a:solidFill>
                  </a:tcPr>
                </a:tc>
                <a:tc>
                  <a:txBody>
                    <a:bodyPr/>
                    <a:lstStyle/>
                    <a:p>
                      <a:pPr algn="r">
                        <a:defRPr sz="819" b="0">
                          <a:solidFill>
                            <a:srgbClr val="0F172A"/>
                          </a:solidFill>
                          <a:latin typeface="Segoe UI"/>
                        </a:defRPr>
                      </a:pPr>
                      <a:r>
                        <a:t>1,811.2</a:t>
                      </a:r>
                    </a:p>
                  </a:txBody>
                  <a:tcPr anchor="ctr" marL="73152" marR="73152" marT="27432" marB="27432">
                    <a:solidFill>
                      <a:srgbClr val="F1F5F9"/>
                    </a:solidFill>
                  </a:tcPr>
                </a:tc>
                <a:tc>
                  <a:txBody>
                    <a:bodyPr/>
                    <a:lstStyle/>
                    <a:p>
                      <a:pPr algn="r">
                        <a:defRPr sz="819" b="0">
                          <a:solidFill>
                            <a:srgbClr val="0F172A"/>
                          </a:solidFill>
                          <a:latin typeface="Segoe UI"/>
                        </a:defRPr>
                      </a:pPr>
                      <a:r>
                        <a:t>275,579.5</a:t>
                      </a:r>
                    </a:p>
                  </a:txBody>
                  <a:tcPr anchor="ctr" marL="73152" marR="73152" marT="27432" marB="27432">
                    <a:solidFill>
                      <a:srgbClr val="F1F5F9"/>
                    </a:solidFill>
                  </a:tcPr>
                </a:tc>
              </a:tr>
              <a:tr h="210312">
                <a:tc>
                  <a:txBody>
                    <a:bodyPr/>
                    <a:lstStyle/>
                    <a:p>
                      <a:pPr algn="l">
                        <a:defRPr sz="819" b="1">
                          <a:solidFill>
                            <a:srgbClr val="0F172A"/>
                          </a:solidFill>
                          <a:latin typeface="Segoe UI"/>
                        </a:defRPr>
                      </a:pPr>
                      <a:r>
                        <a:t>C1</a:t>
                      </a:r>
                    </a:p>
                  </a:txBody>
                  <a:tcPr anchor="ctr" marL="73152" marR="73152" marT="27432" marB="27432">
                    <a:solidFill>
                      <a:srgbClr val="FFFFFF"/>
                    </a:solidFill>
                  </a:tcPr>
                </a:tc>
                <a:tc>
                  <a:txBody>
                    <a:bodyPr/>
                    <a:lstStyle/>
                    <a:p>
                      <a:pPr algn="l">
                        <a:defRPr sz="819" b="0">
                          <a:solidFill>
                            <a:srgbClr val="0F172A"/>
                          </a:solidFill>
                          <a:latin typeface="Segoe UI"/>
                        </a:defRPr>
                      </a:pPr>
                      <a:r>
                        <a:t>lzw</a:t>
                      </a:r>
                    </a:p>
                  </a:txBody>
                  <a:tcPr anchor="ctr" marL="73152" marR="73152" marT="27432" marB="27432">
                    <a:solidFill>
                      <a:srgbClr val="FFFFFF"/>
                    </a:solidFill>
                  </a:tcPr>
                </a:tc>
                <a:tc>
                  <a:txBody>
                    <a:bodyPr/>
                    <a:lstStyle/>
                    <a:p>
                      <a:pPr algn="r">
                        <a:defRPr sz="819" b="0">
                          <a:solidFill>
                            <a:srgbClr val="0F172A"/>
                          </a:solidFill>
                          <a:latin typeface="Segoe UI"/>
                        </a:defRPr>
                      </a:pPr>
                      <a:r>
                        <a:t>12,541.4</a:t>
                      </a:r>
                    </a:p>
                  </a:txBody>
                  <a:tcPr anchor="ctr" marL="73152" marR="73152" marT="27432" marB="27432">
                    <a:solidFill>
                      <a:srgbClr val="FFFFFF"/>
                    </a:solidFill>
                  </a:tcPr>
                </a:tc>
                <a:tc>
                  <a:txBody>
                    <a:bodyPr/>
                    <a:lstStyle/>
                    <a:p>
                      <a:pPr algn="r">
                        <a:defRPr sz="819" b="0">
                          <a:solidFill>
                            <a:srgbClr val="0F172A"/>
                          </a:solidFill>
                          <a:latin typeface="Segoe UI"/>
                        </a:defRPr>
                      </a:pPr>
                      <a:r>
                        <a:t>34,385.2</a:t>
                      </a:r>
                    </a:p>
                  </a:txBody>
                  <a:tcPr anchor="ctr" marL="73152" marR="73152" marT="27432" marB="27432">
                    <a:solidFill>
                      <a:srgbClr val="FFFFFF"/>
                    </a:solidFill>
                  </a:tcPr>
                </a:tc>
                <a:tc>
                  <a:txBody>
                    <a:bodyPr/>
                    <a:lstStyle/>
                    <a:p>
                      <a:pPr algn="r">
                        <a:defRPr sz="819" b="0">
                          <a:solidFill>
                            <a:srgbClr val="0F172A"/>
                          </a:solidFill>
                          <a:latin typeface="Segoe UI"/>
                        </a:defRPr>
                      </a:pPr>
                      <a:r>
                        <a:t>9,570.1</a:t>
                      </a:r>
                    </a:p>
                  </a:txBody>
                  <a:tcPr anchor="ctr" marL="73152" marR="73152" marT="27432" marB="27432">
                    <a:solidFill>
                      <a:srgbClr val="FFFFFF"/>
                    </a:solidFill>
                  </a:tcPr>
                </a:tc>
              </a:tr>
              <a:tr h="210312">
                <a:tc>
                  <a:txBody>
                    <a:bodyPr/>
                    <a:lstStyle/>
                    <a:p>
                      <a:pPr algn="l">
                        <a:defRPr sz="819" b="1">
                          <a:solidFill>
                            <a:srgbClr val="0F172A"/>
                          </a:solidFill>
                          <a:latin typeface="Segoe UI"/>
                        </a:defRPr>
                      </a:pPr>
                      <a:r>
                        <a:t>C2</a:t>
                      </a:r>
                    </a:p>
                  </a:txBody>
                  <a:tcPr anchor="ctr" marL="73152" marR="73152" marT="27432" marB="27432">
                    <a:solidFill>
                      <a:srgbClr val="F1F5F9"/>
                    </a:solidFill>
                  </a:tcPr>
                </a:tc>
                <a:tc>
                  <a:txBody>
                    <a:bodyPr/>
                    <a:lstStyle/>
                    <a:p>
                      <a:pPr algn="l">
                        <a:defRPr sz="819" b="0">
                          <a:solidFill>
                            <a:srgbClr val="0F172A"/>
                          </a:solidFill>
                          <a:latin typeface="Segoe UI"/>
                        </a:defRPr>
                      </a:pPr>
                      <a:r>
                        <a:t>rle</a:t>
                      </a:r>
                    </a:p>
                  </a:txBody>
                  <a:tcPr anchor="ctr" marL="73152" marR="73152" marT="27432" marB="27432">
                    <a:solidFill>
                      <a:srgbClr val="F1F5F9"/>
                    </a:solidFill>
                  </a:tcPr>
                </a:tc>
                <a:tc>
                  <a:txBody>
                    <a:bodyPr/>
                    <a:lstStyle/>
                    <a:p>
                      <a:pPr algn="r">
                        <a:defRPr sz="819" b="0">
                          <a:solidFill>
                            <a:srgbClr val="0F172A"/>
                          </a:solidFill>
                          <a:latin typeface="Segoe UI"/>
                        </a:defRPr>
                      </a:pPr>
                      <a:r>
                        <a:t>8,602.6</a:t>
                      </a:r>
                    </a:p>
                  </a:txBody>
                  <a:tcPr anchor="ctr" marL="73152" marR="73152" marT="27432" marB="27432">
                    <a:solidFill>
                      <a:srgbClr val="F1F5F9"/>
                    </a:solidFill>
                  </a:tcPr>
                </a:tc>
                <a:tc>
                  <a:txBody>
                    <a:bodyPr/>
                    <a:lstStyle/>
                    <a:p>
                      <a:pPr algn="r">
                        <a:defRPr sz="819" b="0">
                          <a:solidFill>
                            <a:srgbClr val="0F172A"/>
                          </a:solidFill>
                          <a:latin typeface="Segoe UI"/>
                        </a:defRPr>
                      </a:pPr>
                      <a:r>
                        <a:t>7,093.1</a:t>
                      </a:r>
                    </a:p>
                  </a:txBody>
                  <a:tcPr anchor="ctr" marL="73152" marR="73152" marT="27432" marB="27432">
                    <a:solidFill>
                      <a:srgbClr val="F1F5F9"/>
                    </a:solidFill>
                  </a:tcPr>
                </a:tc>
                <a:tc>
                  <a:txBody>
                    <a:bodyPr/>
                    <a:lstStyle/>
                    <a:p>
                      <a:pPr algn="r">
                        <a:defRPr sz="819" b="0">
                          <a:solidFill>
                            <a:srgbClr val="0F172A"/>
                          </a:solidFill>
                          <a:latin typeface="Segoe UI"/>
                        </a:defRPr>
                      </a:pPr>
                      <a:r>
                        <a:t>16,628.0</a:t>
                      </a:r>
                    </a:p>
                  </a:txBody>
                  <a:tcPr anchor="ctr" marL="73152" marR="73152" marT="27432" marB="27432">
                    <a:solidFill>
                      <a:srgbClr val="F1F5F9"/>
                    </a:solidFill>
                  </a:tcPr>
                </a:tc>
              </a:tr>
              <a:tr h="210312">
                <a:tc>
                  <a:txBody>
                    <a:bodyPr/>
                    <a:lstStyle/>
                    <a:p>
                      <a:pPr algn="l">
                        <a:defRPr sz="819" b="1">
                          <a:solidFill>
                            <a:srgbClr val="0F172A"/>
                          </a:solidFill>
                          <a:latin typeface="Segoe UI"/>
                        </a:defRPr>
                      </a:pPr>
                      <a:r>
                        <a:t>C2</a:t>
                      </a:r>
                    </a:p>
                  </a:txBody>
                  <a:tcPr anchor="ctr" marL="73152" marR="73152" marT="27432" marB="27432">
                    <a:solidFill>
                      <a:srgbClr val="FFFFFF"/>
                    </a:solidFill>
                  </a:tcPr>
                </a:tc>
                <a:tc>
                  <a:txBody>
                    <a:bodyPr/>
                    <a:lstStyle/>
                    <a:p>
                      <a:pPr algn="l">
                        <a:defRPr sz="819" b="0">
                          <a:solidFill>
                            <a:srgbClr val="0F172A"/>
                          </a:solidFill>
                          <a:latin typeface="Segoe UI"/>
                        </a:defRPr>
                      </a:pPr>
                      <a:r>
                        <a:t>huffman</a:t>
                      </a:r>
                    </a:p>
                  </a:txBody>
                  <a:tcPr anchor="ctr" marL="73152" marR="73152" marT="27432" marB="27432">
                    <a:solidFill>
                      <a:srgbClr val="FFFFFF"/>
                    </a:solidFill>
                  </a:tcPr>
                </a:tc>
                <a:tc>
                  <a:txBody>
                    <a:bodyPr/>
                    <a:lstStyle/>
                    <a:p>
                      <a:pPr algn="r">
                        <a:defRPr sz="819" b="0">
                          <a:solidFill>
                            <a:srgbClr val="0F172A"/>
                          </a:solidFill>
                          <a:latin typeface="Segoe UI"/>
                        </a:defRPr>
                      </a:pPr>
                      <a:r>
                        <a:t>7,521.5</a:t>
                      </a:r>
                    </a:p>
                  </a:txBody>
                  <a:tcPr anchor="ctr" marL="73152" marR="73152" marT="27432" marB="27432">
                    <a:solidFill>
                      <a:srgbClr val="FFFFFF"/>
                    </a:solidFill>
                  </a:tcPr>
                </a:tc>
                <a:tc>
                  <a:txBody>
                    <a:bodyPr/>
                    <a:lstStyle/>
                    <a:p>
                      <a:pPr algn="r">
                        <a:defRPr sz="819" b="0">
                          <a:solidFill>
                            <a:srgbClr val="0F172A"/>
                          </a:solidFill>
                          <a:latin typeface="Segoe UI"/>
                        </a:defRPr>
                      </a:pPr>
                      <a:r>
                        <a:t>2,783.3</a:t>
                      </a:r>
                    </a:p>
                  </a:txBody>
                  <a:tcPr anchor="ctr" marL="73152" marR="73152" marT="27432" marB="27432">
                    <a:solidFill>
                      <a:srgbClr val="FFFFFF"/>
                    </a:solidFill>
                  </a:tcPr>
                </a:tc>
                <a:tc>
                  <a:txBody>
                    <a:bodyPr/>
                    <a:lstStyle/>
                    <a:p>
                      <a:pPr algn="r">
                        <a:defRPr sz="819" b="0">
                          <a:solidFill>
                            <a:srgbClr val="0F172A"/>
                          </a:solidFill>
                          <a:latin typeface="Segoe UI"/>
                        </a:defRPr>
                      </a:pPr>
                      <a:r>
                        <a:t>156,365.0</a:t>
                      </a:r>
                    </a:p>
                  </a:txBody>
                  <a:tcPr anchor="ctr" marL="73152" marR="73152" marT="27432" marB="27432">
                    <a:solidFill>
                      <a:srgbClr val="FFFFFF"/>
                    </a:solidFill>
                  </a:tcPr>
                </a:tc>
              </a:tr>
              <a:tr h="210312">
                <a:tc>
                  <a:txBody>
                    <a:bodyPr/>
                    <a:lstStyle/>
                    <a:p>
                      <a:pPr algn="l">
                        <a:defRPr sz="819" b="1">
                          <a:solidFill>
                            <a:srgbClr val="0F172A"/>
                          </a:solidFill>
                          <a:latin typeface="Segoe UI"/>
                        </a:defRPr>
                      </a:pPr>
                      <a:r>
                        <a:t>C2</a:t>
                      </a:r>
                    </a:p>
                  </a:txBody>
                  <a:tcPr anchor="ctr" marL="73152" marR="73152" marT="27432" marB="27432">
                    <a:solidFill>
                      <a:srgbClr val="F1F5F9"/>
                    </a:solidFill>
                  </a:tcPr>
                </a:tc>
                <a:tc>
                  <a:txBody>
                    <a:bodyPr/>
                    <a:lstStyle/>
                    <a:p>
                      <a:pPr algn="l">
                        <a:defRPr sz="819" b="0">
                          <a:solidFill>
                            <a:srgbClr val="0F172A"/>
                          </a:solidFill>
                          <a:latin typeface="Segoe UI"/>
                        </a:defRPr>
                      </a:pPr>
                      <a:r>
                        <a:t>lzw</a:t>
                      </a:r>
                    </a:p>
                  </a:txBody>
                  <a:tcPr anchor="ctr" marL="73152" marR="73152" marT="27432" marB="27432">
                    <a:solidFill>
                      <a:srgbClr val="F1F5F9"/>
                    </a:solidFill>
                  </a:tcPr>
                </a:tc>
                <a:tc>
                  <a:txBody>
                    <a:bodyPr/>
                    <a:lstStyle/>
                    <a:p>
                      <a:pPr algn="r">
                        <a:defRPr sz="819" b="0">
                          <a:solidFill>
                            <a:srgbClr val="0F172A"/>
                          </a:solidFill>
                          <a:latin typeface="Segoe UI"/>
                        </a:defRPr>
                      </a:pPr>
                      <a:r>
                        <a:t>10,588.9</a:t>
                      </a:r>
                    </a:p>
                  </a:txBody>
                  <a:tcPr anchor="ctr" marL="73152" marR="73152" marT="27432" marB="27432">
                    <a:solidFill>
                      <a:srgbClr val="F1F5F9"/>
                    </a:solidFill>
                  </a:tcPr>
                </a:tc>
                <a:tc>
                  <a:txBody>
                    <a:bodyPr/>
                    <a:lstStyle/>
                    <a:p>
                      <a:pPr algn="r">
                        <a:defRPr sz="819" b="0">
                          <a:solidFill>
                            <a:srgbClr val="0F172A"/>
                          </a:solidFill>
                          <a:latin typeface="Segoe UI"/>
                        </a:defRPr>
                      </a:pPr>
                      <a:r>
                        <a:t>20,581.5</a:t>
                      </a:r>
                    </a:p>
                  </a:txBody>
                  <a:tcPr anchor="ctr" marL="73152" marR="73152" marT="27432" marB="27432">
                    <a:solidFill>
                      <a:srgbClr val="F1F5F9"/>
                    </a:solidFill>
                  </a:tcPr>
                </a:tc>
                <a:tc>
                  <a:txBody>
                    <a:bodyPr/>
                    <a:lstStyle/>
                    <a:p>
                      <a:pPr algn="r">
                        <a:defRPr sz="819" b="0">
                          <a:solidFill>
                            <a:srgbClr val="0F172A"/>
                          </a:solidFill>
                          <a:latin typeface="Segoe UI"/>
                        </a:defRPr>
                      </a:pPr>
                      <a:r>
                        <a:t>10,070.7</a:t>
                      </a:r>
                    </a:p>
                  </a:txBody>
                  <a:tcPr anchor="ctr" marL="73152" marR="73152" marT="27432" marB="27432">
                    <a:solidFill>
                      <a:srgbClr val="F1F5F9"/>
                    </a:solidFill>
                  </a:tcPr>
                </a:tc>
              </a:tr>
              <a:tr h="210312">
                <a:tc>
                  <a:txBody>
                    <a:bodyPr/>
                    <a:lstStyle/>
                    <a:p>
                      <a:pPr algn="l">
                        <a:defRPr sz="819" b="1">
                          <a:solidFill>
                            <a:srgbClr val="0F172A"/>
                          </a:solidFill>
                          <a:latin typeface="Segoe UI"/>
                        </a:defRPr>
                      </a:pPr>
                      <a:r>
                        <a:t>V1</a:t>
                      </a:r>
                    </a:p>
                  </a:txBody>
                  <a:tcPr anchor="ctr" marL="73152" marR="73152" marT="27432" marB="27432">
                    <a:solidFill>
                      <a:srgbClr val="FFFFFF"/>
                    </a:solidFill>
                  </a:tcPr>
                </a:tc>
                <a:tc>
                  <a:txBody>
                    <a:bodyPr/>
                    <a:lstStyle/>
                    <a:p>
                      <a:pPr algn="l">
                        <a:defRPr sz="819" b="0">
                          <a:solidFill>
                            <a:srgbClr val="0F172A"/>
                          </a:solidFill>
                          <a:latin typeface="Segoe UI"/>
                        </a:defRPr>
                      </a:pPr>
                      <a:r>
                        <a:t>rle</a:t>
                      </a:r>
                    </a:p>
                  </a:txBody>
                  <a:tcPr anchor="ctr" marL="73152" marR="73152" marT="27432" marB="27432">
                    <a:solidFill>
                      <a:srgbClr val="FFFFFF"/>
                    </a:solidFill>
                  </a:tcPr>
                </a:tc>
                <a:tc>
                  <a:txBody>
                    <a:bodyPr/>
                    <a:lstStyle/>
                    <a:p>
                      <a:pPr algn="r">
                        <a:defRPr sz="819" b="0">
                          <a:solidFill>
                            <a:srgbClr val="0F172A"/>
                          </a:solidFill>
                          <a:latin typeface="Segoe UI"/>
                        </a:defRPr>
                      </a:pPr>
                      <a:r>
                        <a:t>8,845.6</a:t>
                      </a:r>
                    </a:p>
                  </a:txBody>
                  <a:tcPr anchor="ctr" marL="73152" marR="73152" marT="27432" marB="27432">
                    <a:solidFill>
                      <a:srgbClr val="FFFFFF"/>
                    </a:solidFill>
                  </a:tcPr>
                </a:tc>
                <a:tc>
                  <a:txBody>
                    <a:bodyPr/>
                    <a:lstStyle/>
                    <a:p>
                      <a:pPr algn="r">
                        <a:defRPr sz="819" b="0">
                          <a:solidFill>
                            <a:srgbClr val="0F172A"/>
                          </a:solidFill>
                          <a:latin typeface="Segoe UI"/>
                        </a:defRPr>
                      </a:pPr>
                      <a:r>
                        <a:t>7,089.0</a:t>
                      </a:r>
                    </a:p>
                  </a:txBody>
                  <a:tcPr anchor="ctr" marL="73152" marR="73152" marT="27432" marB="27432">
                    <a:solidFill>
                      <a:srgbClr val="FFFFFF"/>
                    </a:solidFill>
                  </a:tcPr>
                </a:tc>
                <a:tc>
                  <a:txBody>
                    <a:bodyPr/>
                    <a:lstStyle/>
                    <a:p>
                      <a:pPr algn="r">
                        <a:defRPr sz="819" b="0">
                          <a:solidFill>
                            <a:srgbClr val="0F172A"/>
                          </a:solidFill>
                          <a:latin typeface="Segoe UI"/>
                        </a:defRPr>
                      </a:pPr>
                      <a:r>
                        <a:t>17,250.9</a:t>
                      </a:r>
                    </a:p>
                  </a:txBody>
                  <a:tcPr anchor="ctr" marL="73152" marR="73152" marT="27432" marB="27432">
                    <a:solidFill>
                      <a:srgbClr val="FFFFFF"/>
                    </a:solidFill>
                  </a:tcPr>
                </a:tc>
              </a:tr>
              <a:tr h="210312">
                <a:tc>
                  <a:txBody>
                    <a:bodyPr/>
                    <a:lstStyle/>
                    <a:p>
                      <a:pPr algn="l">
                        <a:defRPr sz="819" b="1">
                          <a:solidFill>
                            <a:srgbClr val="0F172A"/>
                          </a:solidFill>
                          <a:latin typeface="Segoe UI"/>
                        </a:defRPr>
                      </a:pPr>
                      <a:r>
                        <a:t>V1</a:t>
                      </a:r>
                    </a:p>
                  </a:txBody>
                  <a:tcPr anchor="ctr" marL="73152" marR="73152" marT="27432" marB="27432">
                    <a:solidFill>
                      <a:srgbClr val="F1F5F9"/>
                    </a:solidFill>
                  </a:tcPr>
                </a:tc>
                <a:tc>
                  <a:txBody>
                    <a:bodyPr/>
                    <a:lstStyle/>
                    <a:p>
                      <a:pPr algn="l">
                        <a:defRPr sz="819" b="0">
                          <a:solidFill>
                            <a:srgbClr val="0F172A"/>
                          </a:solidFill>
                          <a:latin typeface="Segoe UI"/>
                        </a:defRPr>
                      </a:pPr>
                      <a:r>
                        <a:t>huffman</a:t>
                      </a:r>
                    </a:p>
                  </a:txBody>
                  <a:tcPr anchor="ctr" marL="73152" marR="73152" marT="27432" marB="27432">
                    <a:solidFill>
                      <a:srgbClr val="F1F5F9"/>
                    </a:solidFill>
                  </a:tcPr>
                </a:tc>
                <a:tc>
                  <a:txBody>
                    <a:bodyPr/>
                    <a:lstStyle/>
                    <a:p>
                      <a:pPr algn="r">
                        <a:defRPr sz="819" b="0">
                          <a:solidFill>
                            <a:srgbClr val="0F172A"/>
                          </a:solidFill>
                          <a:latin typeface="Segoe UI"/>
                        </a:defRPr>
                      </a:pPr>
                      <a:r>
                        <a:t>6,892.0</a:t>
                      </a:r>
                    </a:p>
                  </a:txBody>
                  <a:tcPr anchor="ctr" marL="73152" marR="73152" marT="27432" marB="27432">
                    <a:solidFill>
                      <a:srgbClr val="F1F5F9"/>
                    </a:solidFill>
                  </a:tcPr>
                </a:tc>
                <a:tc>
                  <a:txBody>
                    <a:bodyPr/>
                    <a:lstStyle/>
                    <a:p>
                      <a:pPr algn="r">
                        <a:defRPr sz="819" b="0">
                          <a:solidFill>
                            <a:srgbClr val="0F172A"/>
                          </a:solidFill>
                          <a:latin typeface="Segoe UI"/>
                        </a:defRPr>
                      </a:pPr>
                      <a:r>
                        <a:t>2,420.7</a:t>
                      </a:r>
                    </a:p>
                  </a:txBody>
                  <a:tcPr anchor="ctr" marL="73152" marR="73152" marT="27432" marB="27432">
                    <a:solidFill>
                      <a:srgbClr val="F1F5F9"/>
                    </a:solidFill>
                  </a:tcPr>
                </a:tc>
                <a:tc>
                  <a:txBody>
                    <a:bodyPr/>
                    <a:lstStyle/>
                    <a:p>
                      <a:pPr algn="r">
                        <a:defRPr sz="819" b="0">
                          <a:solidFill>
                            <a:srgbClr val="0F172A"/>
                          </a:solidFill>
                          <a:latin typeface="Segoe UI"/>
                        </a:defRPr>
                      </a:pPr>
                      <a:r>
                        <a:t>185,566.6</a:t>
                      </a:r>
                    </a:p>
                  </a:txBody>
                  <a:tcPr anchor="ctr" marL="73152" marR="73152" marT="27432" marB="27432">
                    <a:solidFill>
                      <a:srgbClr val="F1F5F9"/>
                    </a:solidFill>
                  </a:tcPr>
                </a:tc>
              </a:tr>
              <a:tr h="210312">
                <a:tc>
                  <a:txBody>
                    <a:bodyPr/>
                    <a:lstStyle/>
                    <a:p>
                      <a:pPr algn="l">
                        <a:defRPr sz="819" b="1">
                          <a:solidFill>
                            <a:srgbClr val="1D4ED8"/>
                          </a:solidFill>
                          <a:latin typeface="Segoe UI"/>
                        </a:defRPr>
                      </a:pPr>
                      <a:r>
                        <a:t>V1</a:t>
                      </a:r>
                    </a:p>
                  </a:txBody>
                  <a:tcPr anchor="ctr" marL="73152" marR="73152" marT="27432" marB="27432">
                    <a:solidFill>
                      <a:srgbClr val="EFF6FF"/>
                    </a:solidFill>
                  </a:tcPr>
                </a:tc>
                <a:tc>
                  <a:txBody>
                    <a:bodyPr/>
                    <a:lstStyle/>
                    <a:p>
                      <a:pPr algn="l">
                        <a:defRPr sz="819" b="1">
                          <a:solidFill>
                            <a:srgbClr val="1D4ED8"/>
                          </a:solidFill>
                          <a:latin typeface="Segoe UI"/>
                        </a:defRPr>
                      </a:pPr>
                      <a:r>
                        <a:t>lzw</a:t>
                      </a:r>
                    </a:p>
                  </a:txBody>
                  <a:tcPr anchor="ctr" marL="73152" marR="73152" marT="27432" marB="27432">
                    <a:solidFill>
                      <a:srgbClr val="EFF6FF"/>
                    </a:solidFill>
                  </a:tcPr>
                </a:tc>
                <a:tc>
                  <a:txBody>
                    <a:bodyPr/>
                    <a:lstStyle/>
                    <a:p>
                      <a:pPr algn="r">
                        <a:defRPr sz="819" b="1">
                          <a:solidFill>
                            <a:srgbClr val="1D4ED8"/>
                          </a:solidFill>
                          <a:latin typeface="Segoe UI"/>
                        </a:defRPr>
                      </a:pPr>
                      <a:r>
                        <a:t>9,577.2</a:t>
                      </a:r>
                    </a:p>
                  </a:txBody>
                  <a:tcPr anchor="ctr" marL="73152" marR="73152" marT="27432" marB="27432">
                    <a:solidFill>
                      <a:srgbClr val="EFF6FF"/>
                    </a:solidFill>
                  </a:tcPr>
                </a:tc>
                <a:tc>
                  <a:txBody>
                    <a:bodyPr/>
                    <a:lstStyle/>
                    <a:p>
                      <a:pPr algn="r">
                        <a:defRPr sz="819" b="1">
                          <a:solidFill>
                            <a:srgbClr val="1D4ED8"/>
                          </a:solidFill>
                          <a:latin typeface="Segoe UI"/>
                        </a:defRPr>
                      </a:pPr>
                      <a:r>
                        <a:t>15,614.5</a:t>
                      </a:r>
                    </a:p>
                  </a:txBody>
                  <a:tcPr anchor="ctr" marL="73152" marR="73152" marT="27432" marB="27432">
                    <a:solidFill>
                      <a:srgbClr val="EFF6FF"/>
                    </a:solidFill>
                  </a:tcPr>
                </a:tc>
                <a:tc>
                  <a:txBody>
                    <a:bodyPr/>
                    <a:lstStyle/>
                    <a:p>
                      <a:pPr algn="r">
                        <a:defRPr sz="819" b="1">
                          <a:solidFill>
                            <a:srgbClr val="1D4ED8"/>
                          </a:solidFill>
                          <a:latin typeface="Segoe UI"/>
                        </a:defRPr>
                      </a:pPr>
                      <a:r>
                        <a:t>10,426.7</a:t>
                      </a:r>
                    </a:p>
                  </a:txBody>
                  <a:tcPr anchor="ctr" marL="73152" marR="73152" marT="27432" marB="27432">
                    <a:solidFill>
                      <a:srgbClr val="EFF6FF"/>
                    </a:solidFill>
                  </a:tcPr>
                </a:tc>
              </a:tr>
            </a:tbl>
          </a:graphicData>
        </a:graphic>
      </p:graphicFrame>
      <p:sp>
        <p:nvSpPr>
          <p:cNvPr id="11" name="TextBox 10"/>
          <p:cNvSpPr txBox="1"/>
          <p:nvPr/>
        </p:nvSpPr>
        <p:spPr>
          <a:xfrm>
            <a:off x="914400" y="4160520"/>
            <a:ext cx="5486400" cy="1965960"/>
          </a:xfrm>
          <a:prstGeom prst="rect">
            <a:avLst/>
          </a:prstGeom>
          <a:noFill/>
        </p:spPr>
        <p:txBody>
          <a:bodyPr wrap="square" lIns="0" rIns="0" tIns="0" bIns="0">
            <a:spAutoFit/>
          </a:bodyPr>
          <a:lstStyle/>
          <a:p>
            <a:pPr>
              <a:spcBef>
                <a:spcPts val="200"/>
              </a:spcBef>
              <a:defRPr sz="850" b="1">
                <a:solidFill>
                  <a:srgbClr val="1D4ED8"/>
                </a:solidFill>
                <a:latin typeface="Segoe UI"/>
              </a:defRPr>
            </a:pPr>
            <a:r>
              <a:t>• RLE — Đỉnh cao tốc độ giải nén C1:</a:t>
            </a:r>
          </a:p>
          <a:p>
            <a:pPr>
              <a:defRPr sz="780">
                <a:solidFill>
                  <a:srgbClr val="475569"/>
                </a:solidFill>
                <a:latin typeface="Segoe UI"/>
              </a:defRPr>
            </a:pPr>
            <a:r>
              <a:t>  Đạt tới 140,597 KiB/s (~140 MB/s), vượt xa mọi codec nhờ vòng lặp nhân bản byte trực tiếp. Bộ nhớ duy trì mức tối thiểu (~8-17 MB).</a:t>
            </a:r>
          </a:p>
          <a:p>
            <a:pPr>
              <a:spcBef>
                <a:spcPts val="200"/>
              </a:spcBef>
              <a:defRPr sz="850" b="1">
                <a:solidFill>
                  <a:srgbClr val="1D4ED8"/>
                </a:solidFill>
                <a:latin typeface="Segoe UI"/>
              </a:defRPr>
            </a:pPr>
            <a:r>
              <a:t>• LZW — Cân bằng xuất sắc giữa Nén và Giải nén:</a:t>
            </a:r>
          </a:p>
          <a:p>
            <a:pPr>
              <a:defRPr sz="780">
                <a:solidFill>
                  <a:srgbClr val="475569"/>
                </a:solidFill>
                <a:latin typeface="Segoe UI"/>
              </a:defRPr>
            </a:pPr>
            <a:r>
              <a:t>  Thông lượng giải nén nhanh gấp 1.6 - 2.7 lần nén (15 - 34 MB/s). Bộ nhớ kiểm soát chặt chẽ quanh 9.5 - 14.5 MB nhờ từ điển giới hạn 4096 mục.</a:t>
            </a:r>
          </a:p>
          <a:p>
            <a:pPr>
              <a:spcBef>
                <a:spcPts val="200"/>
              </a:spcBef>
              <a:defRPr sz="850" b="1">
                <a:solidFill>
                  <a:srgbClr val="E11D48"/>
                </a:solidFill>
                <a:latin typeface="Segoe UI"/>
              </a:defRPr>
            </a:pPr>
            <a:r>
              <a:t>• Huffman — Điểm nghẽn bộ nhớ do Cài đặt Python:</a:t>
            </a:r>
          </a:p>
          <a:p>
            <a:pPr>
              <a:defRPr sz="780">
                <a:solidFill>
                  <a:srgbClr val="475569"/>
                </a:solidFill>
                <a:latin typeface="Segoe UI"/>
              </a:defRPr>
            </a:pPr>
            <a:r>
              <a:t>  Đỉnh RAM vọt lên 275 MB! Nguyên nhân: Việc ghép chuỗi bit trung gian (`0` và `1`) trong Python tạo ra hàng triệu đối tượng chuỗi, tiêu tốn bộ nhớ gấp 67 lần kích thước tệp gốc.</a:t>
            </a:r>
          </a:p>
        </p:txBody>
      </p:sp>
      <p:sp>
        <p:nvSpPr>
          <p:cNvPr id="12" name="Rounded Rectangle 11"/>
          <p:cNvSpPr/>
          <p:nvPr/>
        </p:nvSpPr>
        <p:spPr>
          <a:xfrm>
            <a:off x="6858000" y="1463040"/>
            <a:ext cx="460217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q1_throughput.png"/>
          <p:cNvPicPr>
            <a:picLocks noChangeAspect="1"/>
          </p:cNvPicPr>
          <p:nvPr/>
        </p:nvPicPr>
        <p:blipFill>
          <a:blip r:embed="rId2"/>
          <a:stretch>
            <a:fillRect/>
          </a:stretch>
        </p:blipFill>
        <p:spPr>
          <a:xfrm>
            <a:off x="6995160" y="1600200"/>
            <a:ext cx="4327855" cy="2240280"/>
          </a:xfrm>
          <a:prstGeom prst="rect">
            <a:avLst/>
          </a:prstGeom>
        </p:spPr>
      </p:pic>
      <p:pic>
        <p:nvPicPr>
          <p:cNvPr id="14" name="Picture 13" descr="rq1_memory.png"/>
          <p:cNvPicPr>
            <a:picLocks noChangeAspect="1"/>
          </p:cNvPicPr>
          <p:nvPr/>
        </p:nvPicPr>
        <p:blipFill>
          <a:blip r:embed="rId3"/>
          <a:stretch>
            <a:fillRect/>
          </a:stretch>
        </p:blipFill>
        <p:spPr>
          <a:xfrm>
            <a:off x="6995160" y="3977639"/>
            <a:ext cx="4327855" cy="21488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KẾT QUẢ RQ2</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Giữ nguyên Histogram, Đổi Thứ tự: Tác động của Hoán vị Byte</a:t>
            </a:r>
          </a:p>
          <a:p>
            <a:pPr>
              <a:spcBef>
                <a:spcPts val="200"/>
              </a:spcBef>
              <a:defRPr sz="1000">
                <a:solidFill>
                  <a:srgbClr val="64748B"/>
                </a:solidFill>
                <a:latin typeface="Segoe UI"/>
              </a:defRPr>
            </a:pPr>
            <a:r>
              <a:t>Khảo sát tính bất biến của Huffman và độ nhạy ngữ cảnh của RLE &amp; LZW trên Canterbury &amp; Wikipedia</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8 / 17</a:t>
            </a:r>
          </a:p>
        </p:txBody>
      </p:sp>
      <p:sp>
        <p:nvSpPr>
          <p:cNvPr id="8" name="Rounded Rectangle 7"/>
          <p:cNvSpPr/>
          <p:nvPr/>
        </p:nvSpPr>
        <p:spPr>
          <a:xfrm>
            <a:off x="731520" y="1463040"/>
            <a:ext cx="603504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5669280" cy="320040"/>
          </a:xfrm>
          <a:prstGeom prst="rect">
            <a:avLst/>
          </a:prstGeom>
          <a:noFill/>
        </p:spPr>
        <p:txBody>
          <a:bodyPr wrap="none">
            <a:spAutoFit/>
          </a:bodyPr>
          <a:lstStyle/>
          <a:p>
            <a:pPr>
              <a:defRPr sz="1100" b="1">
                <a:solidFill>
                  <a:srgbClr val="0F172A"/>
                </a:solidFill>
                <a:latin typeface="Segoe UI"/>
              </a:defRPr>
            </a:pPr>
            <a:r>
              <a:t>Bảng III: Tỷ lệ nén và Entropy H₀/8 theo 3 trạng thái hoán vị</a:t>
            </a:r>
          </a:p>
        </p:txBody>
      </p:sp>
      <p:graphicFrame>
        <p:nvGraphicFramePr>
          <p:cNvPr id="10" name="Table 9"/>
          <p:cNvGraphicFramePr>
            <a:graphicFrameLocks noGrp="1"/>
          </p:cNvGraphicFramePr>
          <p:nvPr/>
        </p:nvGraphicFramePr>
        <p:xfrm>
          <a:off x="914400" y="1938528"/>
          <a:ext cx="6035040" cy="2194560"/>
        </p:xfrm>
        <a:graphic>
          <a:graphicData uri="http://schemas.openxmlformats.org/drawingml/2006/table">
            <a:tbl>
              <a:tblPr firstRow="1" bandRow="1">
                <a:tableStyleId>{5C22544A-7EE6-4342-B048-85BDC9FD1C3A}</a:tableStyleId>
              </a:tblPr>
              <a:tblGrid>
                <a:gridCol w="1280160"/>
                <a:gridCol w="1005840"/>
                <a:gridCol w="914400"/>
                <a:gridCol w="914400"/>
                <a:gridCol w="914400"/>
                <a:gridCol w="1005840"/>
              </a:tblGrid>
              <a:tr h="219456">
                <a:tc>
                  <a:txBody>
                    <a:bodyPr/>
                    <a:lstStyle/>
                    <a:p>
                      <a:pPr algn="l">
                        <a:defRPr sz="850" b="1">
                          <a:solidFill>
                            <a:srgbClr val="FFFFFF"/>
                          </a:solidFill>
                          <a:latin typeface="Segoe UI"/>
                        </a:defRPr>
                      </a:pPr>
                      <a:r>
                        <a:t>Tệp</a:t>
                      </a:r>
                    </a:p>
                  </a:txBody>
                  <a:tcPr anchor="ctr" marL="73152" marR="73152" marT="36576" marB="36576">
                    <a:solidFill>
                      <a:srgbClr val="1E293B"/>
                    </a:solidFill>
                  </a:tcPr>
                </a:tc>
                <a:tc>
                  <a:txBody>
                    <a:bodyPr/>
                    <a:lstStyle/>
                    <a:p>
                      <a:pPr algn="ctr">
                        <a:defRPr sz="850" b="1">
                          <a:solidFill>
                            <a:srgbClr val="FFFFFF"/>
                          </a:solidFill>
                          <a:latin typeface="Segoe UI"/>
                        </a:defRPr>
                      </a:pPr>
                      <a:r>
                        <a:t>Trạng thái</a:t>
                      </a:r>
                    </a:p>
                  </a:txBody>
                  <a:tcPr anchor="ctr" marL="73152" marR="73152" marT="36576" marB="36576">
                    <a:solidFill>
                      <a:srgbClr val="1E293B"/>
                    </a:solidFill>
                  </a:tcPr>
                </a:tc>
                <a:tc>
                  <a:txBody>
                    <a:bodyPr/>
                    <a:lstStyle/>
                    <a:p>
                      <a:pPr algn="ctr">
                        <a:defRPr sz="850" b="1">
                          <a:solidFill>
                            <a:srgbClr val="FFFFFF"/>
                          </a:solidFill>
                          <a:latin typeface="Segoe UI"/>
                        </a:defRPr>
                      </a:pPr>
                      <a:r>
                        <a:t>H₀/8</a:t>
                      </a:r>
                    </a:p>
                  </a:txBody>
                  <a:tcPr anchor="ctr" marL="73152" marR="73152" marT="36576" marB="36576">
                    <a:solidFill>
                      <a:srgbClr val="1E293B"/>
                    </a:solidFill>
                  </a:tcPr>
                </a:tc>
                <a:tc>
                  <a:txBody>
                    <a:bodyPr/>
                    <a:lstStyle/>
                    <a:p>
                      <a:pPr algn="ctr">
                        <a:defRPr sz="850" b="1">
                          <a:solidFill>
                            <a:srgbClr val="FFFFFF"/>
                          </a:solidFill>
                          <a:latin typeface="Segoe UI"/>
                        </a:defRPr>
                      </a:pPr>
                      <a:r>
                        <a:t>RLE</a:t>
                      </a:r>
                    </a:p>
                  </a:txBody>
                  <a:tcPr anchor="ctr" marL="73152" marR="73152" marT="36576" marB="36576">
                    <a:solidFill>
                      <a:srgbClr val="1E293B"/>
                    </a:solidFill>
                  </a:tcPr>
                </a:tc>
                <a:tc>
                  <a:txBody>
                    <a:bodyPr/>
                    <a:lstStyle/>
                    <a:p>
                      <a:pPr algn="ctr">
                        <a:defRPr sz="850" b="1">
                          <a:solidFill>
                            <a:srgbClr val="FFFFFF"/>
                          </a:solidFill>
                          <a:latin typeface="Segoe UI"/>
                        </a:defRPr>
                      </a:pPr>
                      <a:r>
                        <a:t>Huffman</a:t>
                      </a:r>
                    </a:p>
                  </a:txBody>
                  <a:tcPr anchor="ctr" marL="73152" marR="73152" marT="36576" marB="36576">
                    <a:solidFill>
                      <a:srgbClr val="1E293B"/>
                    </a:solidFill>
                  </a:tcPr>
                </a:tc>
                <a:tc>
                  <a:txBody>
                    <a:bodyPr/>
                    <a:lstStyle/>
                    <a:p>
                      <a:pPr algn="ctr">
                        <a:defRPr sz="850" b="1">
                          <a:solidFill>
                            <a:srgbClr val="FFFFFF"/>
                          </a:solidFill>
                          <a:latin typeface="Segoe UI"/>
                        </a:defRPr>
                      </a:pPr>
                      <a:r>
                        <a:t>LZW</a:t>
                      </a:r>
                    </a:p>
                  </a:txBody>
                  <a:tcPr anchor="ctr" marL="73152" marR="73152" marT="36576" marB="36576">
                    <a:solidFill>
                      <a:srgbClr val="1E293B"/>
                    </a:solidFill>
                  </a:tcPr>
                </a:tc>
              </a:tr>
              <a:tr h="219456">
                <a:tc>
                  <a:txBody>
                    <a:bodyPr/>
                    <a:lstStyle/>
                    <a:p>
                      <a:pPr algn="l">
                        <a:defRPr sz="819" b="1">
                          <a:solidFill>
                            <a:srgbClr val="0F172A"/>
                          </a:solidFill>
                          <a:latin typeface="Segoe UI"/>
                        </a:defRPr>
                      </a:pPr>
                      <a:r>
                        <a:t>alice29.txt</a:t>
                      </a:r>
                    </a:p>
                  </a:txBody>
                  <a:tcPr anchor="ctr" marL="73152" marR="73152" marT="27432" marB="27432">
                    <a:solidFill>
                      <a:srgbClr val="FFFFFF"/>
                    </a:solidFill>
                  </a:tcPr>
                </a:tc>
                <a:tc>
                  <a:txBody>
                    <a:bodyPr/>
                    <a:lstStyle/>
                    <a:p>
                      <a:pPr algn="l">
                        <a:defRPr sz="819" b="0">
                          <a:solidFill>
                            <a:srgbClr val="0F172A"/>
                          </a:solidFill>
                          <a:latin typeface="Segoe UI"/>
                        </a:defRPr>
                      </a:pPr>
                      <a:r>
                        <a:t>original</a:t>
                      </a:r>
                    </a:p>
                  </a:txBody>
                  <a:tcPr anchor="ctr" marL="73152" marR="73152" marT="27432" marB="27432">
                    <a:solidFill>
                      <a:srgbClr val="FFFFFF"/>
                    </a:solidFill>
                  </a:tcPr>
                </a:tc>
                <a:tc>
                  <a:txBody>
                    <a:bodyPr/>
                    <a:lstStyle/>
                    <a:p>
                      <a:pPr algn="r">
                        <a:defRPr sz="819" b="0">
                          <a:solidFill>
                            <a:srgbClr val="0F172A"/>
                          </a:solidFill>
                          <a:latin typeface="Segoe UI"/>
                        </a:defRPr>
                      </a:pPr>
                      <a:r>
                        <a:t>0.570960</a:t>
                      </a:r>
                    </a:p>
                  </a:txBody>
                  <a:tcPr anchor="ctr" marL="73152" marR="73152" marT="27432" marB="27432">
                    <a:solidFill>
                      <a:srgbClr val="FFFFFF"/>
                    </a:solidFill>
                  </a:tcPr>
                </a:tc>
                <a:tc>
                  <a:txBody>
                    <a:bodyPr/>
                    <a:lstStyle/>
                    <a:p>
                      <a:pPr algn="r">
                        <a:defRPr sz="819" b="0">
                          <a:solidFill>
                            <a:srgbClr val="0F172A"/>
                          </a:solidFill>
                          <a:latin typeface="Segoe UI"/>
                        </a:defRPr>
                      </a:pPr>
                      <a:r>
                        <a:t>1.905880</a:t>
                      </a:r>
                    </a:p>
                  </a:txBody>
                  <a:tcPr anchor="ctr" marL="73152" marR="73152" marT="27432" marB="27432">
                    <a:solidFill>
                      <a:srgbClr val="FFFFFF"/>
                    </a:solidFill>
                  </a:tcPr>
                </a:tc>
                <a:tc>
                  <a:txBody>
                    <a:bodyPr/>
                    <a:lstStyle/>
                    <a:p>
                      <a:pPr algn="r">
                        <a:defRPr sz="819" b="0">
                          <a:solidFill>
                            <a:srgbClr val="0F172A"/>
                          </a:solidFill>
                          <a:latin typeface="Segoe UI"/>
                        </a:defRPr>
                      </a:pPr>
                      <a:r>
                        <a:t>0.578319</a:t>
                      </a:r>
                    </a:p>
                  </a:txBody>
                  <a:tcPr anchor="ctr" marL="73152" marR="73152" marT="27432" marB="27432">
                    <a:solidFill>
                      <a:srgbClr val="FFFFFF"/>
                    </a:solidFill>
                  </a:tcPr>
                </a:tc>
                <a:tc>
                  <a:txBody>
                    <a:bodyPr/>
                    <a:lstStyle/>
                    <a:p>
                      <a:pPr algn="r">
                        <a:defRPr sz="819" b="0">
                          <a:solidFill>
                            <a:srgbClr val="0F172A"/>
                          </a:solidFill>
                          <a:latin typeface="Segoe UI"/>
                        </a:defRPr>
                      </a:pPr>
                      <a:r>
                        <a:t>0.475577</a:t>
                      </a:r>
                    </a:p>
                  </a:txBody>
                  <a:tcPr anchor="ctr" marL="73152" marR="73152" marT="27432" marB="27432">
                    <a:solidFill>
                      <a:srgbClr val="FFFFFF"/>
                    </a:solidFill>
                  </a:tcPr>
                </a:tc>
              </a:tr>
              <a:tr h="219456">
                <a:tc>
                  <a:txBody>
                    <a:bodyPr/>
                    <a:lstStyle/>
                    <a:p>
                      <a:pPr algn="l">
                        <a:defRPr sz="819" b="1">
                          <a:solidFill>
                            <a:srgbClr val="0F172A"/>
                          </a:solidFill>
                          <a:latin typeface="Segoe UI"/>
                        </a:defRPr>
                      </a:pPr>
                      <a:r>
                        <a:t>alice29.txt</a:t>
                      </a:r>
                    </a:p>
                  </a:txBody>
                  <a:tcPr anchor="ctr" marL="73152" marR="73152" marT="27432" marB="27432">
                    <a:solidFill>
                      <a:srgbClr val="F1F5F9"/>
                    </a:solidFill>
                  </a:tcPr>
                </a:tc>
                <a:tc>
                  <a:txBody>
                    <a:bodyPr/>
                    <a:lstStyle/>
                    <a:p>
                      <a:pPr algn="l">
                        <a:defRPr sz="819" b="0">
                          <a:solidFill>
                            <a:srgbClr val="0F172A"/>
                          </a:solidFill>
                          <a:latin typeface="Segoe UI"/>
                        </a:defRPr>
                      </a:pPr>
                      <a:r>
                        <a:t>runs</a:t>
                      </a:r>
                    </a:p>
                  </a:txBody>
                  <a:tcPr anchor="ctr" marL="73152" marR="73152" marT="27432" marB="27432">
                    <a:solidFill>
                      <a:srgbClr val="F1F5F9"/>
                    </a:solidFill>
                  </a:tcPr>
                </a:tc>
                <a:tc>
                  <a:txBody>
                    <a:bodyPr/>
                    <a:lstStyle/>
                    <a:p>
                      <a:pPr algn="r">
                        <a:defRPr sz="819" b="0">
                          <a:solidFill>
                            <a:srgbClr val="0F172A"/>
                          </a:solidFill>
                          <a:latin typeface="Segoe UI"/>
                        </a:defRPr>
                      </a:pPr>
                      <a:r>
                        <a:t>0.570960</a:t>
                      </a:r>
                    </a:p>
                  </a:txBody>
                  <a:tcPr anchor="ctr" marL="73152" marR="73152" marT="27432" marB="27432">
                    <a:solidFill>
                      <a:srgbClr val="F1F5F9"/>
                    </a:solidFill>
                  </a:tcPr>
                </a:tc>
                <a:tc>
                  <a:txBody>
                    <a:bodyPr/>
                    <a:lstStyle/>
                    <a:p>
                      <a:pPr algn="r">
                        <a:defRPr sz="819" b="0">
                          <a:solidFill>
                            <a:srgbClr val="0F172A"/>
                          </a:solidFill>
                          <a:latin typeface="Segoe UI"/>
                        </a:defRPr>
                      </a:pPr>
                      <a:r>
                        <a:t>0.008469</a:t>
                      </a:r>
                    </a:p>
                  </a:txBody>
                  <a:tcPr anchor="ctr" marL="73152" marR="73152" marT="27432" marB="27432">
                    <a:solidFill>
                      <a:srgbClr val="F1F5F9"/>
                    </a:solidFill>
                  </a:tcPr>
                </a:tc>
                <a:tc>
                  <a:txBody>
                    <a:bodyPr/>
                    <a:lstStyle/>
                    <a:p>
                      <a:pPr algn="r">
                        <a:defRPr sz="819" b="0">
                          <a:solidFill>
                            <a:srgbClr val="0F172A"/>
                          </a:solidFill>
                          <a:latin typeface="Segoe UI"/>
                        </a:defRPr>
                      </a:pPr>
                      <a:r>
                        <a:t>0.578319</a:t>
                      </a:r>
                    </a:p>
                  </a:txBody>
                  <a:tcPr anchor="ctr" marL="73152" marR="73152" marT="27432" marB="27432">
                    <a:solidFill>
                      <a:srgbClr val="F1F5F9"/>
                    </a:solidFill>
                  </a:tcPr>
                </a:tc>
                <a:tc>
                  <a:txBody>
                    <a:bodyPr/>
                    <a:lstStyle/>
                    <a:p>
                      <a:pPr algn="r">
                        <a:defRPr sz="819" b="0">
                          <a:solidFill>
                            <a:srgbClr val="0F172A"/>
                          </a:solidFill>
                          <a:latin typeface="Segoe UI"/>
                        </a:defRPr>
                      </a:pPr>
                      <a:r>
                        <a:t>0.032645</a:t>
                      </a:r>
                    </a:p>
                  </a:txBody>
                  <a:tcPr anchor="ctr" marL="73152" marR="73152" marT="27432" marB="27432">
                    <a:solidFill>
                      <a:srgbClr val="F1F5F9"/>
                    </a:solidFill>
                  </a:tcPr>
                </a:tc>
              </a:tr>
              <a:tr h="219456">
                <a:tc>
                  <a:txBody>
                    <a:bodyPr/>
                    <a:lstStyle/>
                    <a:p>
                      <a:pPr algn="l">
                        <a:defRPr sz="819" b="1">
                          <a:solidFill>
                            <a:srgbClr val="0F172A"/>
                          </a:solidFill>
                          <a:latin typeface="Segoe UI"/>
                        </a:defRPr>
                      </a:pPr>
                      <a:r>
                        <a:t>alice29.txt</a:t>
                      </a:r>
                    </a:p>
                  </a:txBody>
                  <a:tcPr anchor="ctr" marL="73152" marR="73152" marT="27432" marB="27432">
                    <a:solidFill>
                      <a:srgbClr val="FFFFFF"/>
                    </a:solidFill>
                  </a:tcPr>
                </a:tc>
                <a:tc>
                  <a:txBody>
                    <a:bodyPr/>
                    <a:lstStyle/>
                    <a:p>
                      <a:pPr algn="l">
                        <a:defRPr sz="819" b="0">
                          <a:solidFill>
                            <a:srgbClr val="0F172A"/>
                          </a:solidFill>
                          <a:latin typeface="Segoe UI"/>
                        </a:defRPr>
                      </a:pPr>
                      <a:r>
                        <a:t>shuffled</a:t>
                      </a:r>
                    </a:p>
                  </a:txBody>
                  <a:tcPr anchor="ctr" marL="73152" marR="73152" marT="27432" marB="27432">
                    <a:solidFill>
                      <a:srgbClr val="FFFFFF"/>
                    </a:solidFill>
                  </a:tcPr>
                </a:tc>
                <a:tc>
                  <a:txBody>
                    <a:bodyPr/>
                    <a:lstStyle/>
                    <a:p>
                      <a:pPr algn="r">
                        <a:defRPr sz="819" b="0">
                          <a:solidFill>
                            <a:srgbClr val="0F172A"/>
                          </a:solidFill>
                          <a:latin typeface="Segoe UI"/>
                        </a:defRPr>
                      </a:pPr>
                      <a:r>
                        <a:t>0.570960</a:t>
                      </a:r>
                    </a:p>
                  </a:txBody>
                  <a:tcPr anchor="ctr" marL="73152" marR="73152" marT="27432" marB="27432">
                    <a:solidFill>
                      <a:srgbClr val="FFFFFF"/>
                    </a:solidFill>
                  </a:tcPr>
                </a:tc>
                <a:tc>
                  <a:txBody>
                    <a:bodyPr/>
                    <a:lstStyle/>
                    <a:p>
                      <a:pPr algn="r">
                        <a:defRPr sz="819" b="0">
                          <a:solidFill>
                            <a:srgbClr val="0F172A"/>
                          </a:solidFill>
                          <a:latin typeface="Segoe UI"/>
                        </a:defRPr>
                      </a:pPr>
                      <a:r>
                        <a:t>1.862670</a:t>
                      </a:r>
                    </a:p>
                  </a:txBody>
                  <a:tcPr anchor="ctr" marL="73152" marR="73152" marT="27432" marB="27432">
                    <a:solidFill>
                      <a:srgbClr val="FFFFFF"/>
                    </a:solidFill>
                  </a:tcPr>
                </a:tc>
                <a:tc>
                  <a:txBody>
                    <a:bodyPr/>
                    <a:lstStyle/>
                    <a:p>
                      <a:pPr algn="r">
                        <a:defRPr sz="819" b="0">
                          <a:solidFill>
                            <a:srgbClr val="0F172A"/>
                          </a:solidFill>
                          <a:latin typeface="Segoe UI"/>
                        </a:defRPr>
                      </a:pPr>
                      <a:r>
                        <a:t>0.578319</a:t>
                      </a:r>
                    </a:p>
                  </a:txBody>
                  <a:tcPr anchor="ctr" marL="73152" marR="73152" marT="27432" marB="27432">
                    <a:solidFill>
                      <a:srgbClr val="FFFFFF"/>
                    </a:solidFill>
                  </a:tcPr>
                </a:tc>
                <a:tc>
                  <a:txBody>
                    <a:bodyPr/>
                    <a:lstStyle/>
                    <a:p>
                      <a:pPr algn="r">
                        <a:defRPr sz="819" b="0">
                          <a:solidFill>
                            <a:srgbClr val="0F172A"/>
                          </a:solidFill>
                          <a:latin typeface="Segoe UI"/>
                        </a:defRPr>
                      </a:pPr>
                      <a:r>
                        <a:t>0.686418</a:t>
                      </a:r>
                    </a:p>
                  </a:txBody>
                  <a:tcPr anchor="ctr" marL="73152" marR="73152" marT="27432" marB="27432">
                    <a:solidFill>
                      <a:srgbClr val="FFFFFF"/>
                    </a:solidFill>
                  </a:tcPr>
                </a:tc>
              </a:tr>
              <a:tr h="219456">
                <a:tc>
                  <a:txBody>
                    <a:bodyPr/>
                    <a:lstStyle/>
                    <a:p>
                      <a:pPr algn="l">
                        <a:defRPr sz="819" b="1">
                          <a:solidFill>
                            <a:srgbClr val="0F172A"/>
                          </a:solidFill>
                          <a:latin typeface="Segoe UI"/>
                        </a:defRPr>
                      </a:pPr>
                      <a:r>
                        <a:t>kennedy.xls</a:t>
                      </a:r>
                    </a:p>
                  </a:txBody>
                  <a:tcPr anchor="ctr" marL="73152" marR="73152" marT="27432" marB="27432">
                    <a:solidFill>
                      <a:srgbClr val="F1F5F9"/>
                    </a:solidFill>
                  </a:tcPr>
                </a:tc>
                <a:tc>
                  <a:txBody>
                    <a:bodyPr/>
                    <a:lstStyle/>
                    <a:p>
                      <a:pPr algn="l">
                        <a:defRPr sz="819" b="0">
                          <a:solidFill>
                            <a:srgbClr val="0F172A"/>
                          </a:solidFill>
                          <a:latin typeface="Segoe UI"/>
                        </a:defRPr>
                      </a:pPr>
                      <a:r>
                        <a:t>original</a:t>
                      </a:r>
                    </a:p>
                  </a:txBody>
                  <a:tcPr anchor="ctr" marL="73152" marR="73152" marT="27432" marB="27432">
                    <a:solidFill>
                      <a:srgbClr val="F1F5F9"/>
                    </a:solidFill>
                  </a:tcPr>
                </a:tc>
                <a:tc>
                  <a:txBody>
                    <a:bodyPr/>
                    <a:lstStyle/>
                    <a:p>
                      <a:pPr algn="r">
                        <a:defRPr sz="819" b="0">
                          <a:solidFill>
                            <a:srgbClr val="0F172A"/>
                          </a:solidFill>
                          <a:latin typeface="Segoe UI"/>
                        </a:defRPr>
                      </a:pPr>
                      <a:r>
                        <a:t>0.446684</a:t>
                      </a:r>
                    </a:p>
                  </a:txBody>
                  <a:tcPr anchor="ctr" marL="73152" marR="73152" marT="27432" marB="27432">
                    <a:solidFill>
                      <a:srgbClr val="F1F5F9"/>
                    </a:solidFill>
                  </a:tcPr>
                </a:tc>
                <a:tc>
                  <a:txBody>
                    <a:bodyPr/>
                    <a:lstStyle/>
                    <a:p>
                      <a:pPr algn="r">
                        <a:defRPr sz="819" b="0">
                          <a:solidFill>
                            <a:srgbClr val="0F172A"/>
                          </a:solidFill>
                          <a:latin typeface="Segoe UI"/>
                        </a:defRPr>
                      </a:pPr>
                      <a:r>
                        <a:t>1.681770</a:t>
                      </a:r>
                    </a:p>
                  </a:txBody>
                  <a:tcPr anchor="ctr" marL="73152" marR="73152" marT="27432" marB="27432">
                    <a:solidFill>
                      <a:srgbClr val="F1F5F9"/>
                    </a:solidFill>
                  </a:tcPr>
                </a:tc>
                <a:tc>
                  <a:txBody>
                    <a:bodyPr/>
                    <a:lstStyle/>
                    <a:p>
                      <a:pPr algn="r">
                        <a:defRPr sz="819" b="0">
                          <a:solidFill>
                            <a:srgbClr val="0F172A"/>
                          </a:solidFill>
                          <a:latin typeface="Segoe UI"/>
                        </a:defRPr>
                      </a:pPr>
                      <a:r>
                        <a:t>0.449432</a:t>
                      </a:r>
                    </a:p>
                  </a:txBody>
                  <a:tcPr anchor="ctr" marL="73152" marR="73152" marT="27432" marB="27432">
                    <a:solidFill>
                      <a:srgbClr val="F1F5F9"/>
                    </a:solidFill>
                  </a:tcPr>
                </a:tc>
                <a:tc>
                  <a:txBody>
                    <a:bodyPr/>
                    <a:lstStyle/>
                    <a:p>
                      <a:pPr algn="r">
                        <a:defRPr sz="819" b="0">
                          <a:solidFill>
                            <a:srgbClr val="0F172A"/>
                          </a:solidFill>
                          <a:latin typeface="Segoe UI"/>
                        </a:defRPr>
                      </a:pPr>
                      <a:r>
                        <a:t>0.407137</a:t>
                      </a:r>
                    </a:p>
                  </a:txBody>
                  <a:tcPr anchor="ctr" marL="73152" marR="73152" marT="27432" marB="27432">
                    <a:solidFill>
                      <a:srgbClr val="F1F5F9"/>
                    </a:solidFill>
                  </a:tcPr>
                </a:tc>
              </a:tr>
              <a:tr h="219456">
                <a:tc>
                  <a:txBody>
                    <a:bodyPr/>
                    <a:lstStyle/>
                    <a:p>
                      <a:pPr algn="l">
                        <a:defRPr sz="819" b="1">
                          <a:solidFill>
                            <a:srgbClr val="0F172A"/>
                          </a:solidFill>
                          <a:latin typeface="Segoe UI"/>
                        </a:defRPr>
                      </a:pPr>
                      <a:r>
                        <a:t>kennedy.xls</a:t>
                      </a:r>
                    </a:p>
                  </a:txBody>
                  <a:tcPr anchor="ctr" marL="73152" marR="73152" marT="27432" marB="27432">
                    <a:solidFill>
                      <a:srgbClr val="FFFFFF"/>
                    </a:solidFill>
                  </a:tcPr>
                </a:tc>
                <a:tc>
                  <a:txBody>
                    <a:bodyPr/>
                    <a:lstStyle/>
                    <a:p>
                      <a:pPr algn="l">
                        <a:defRPr sz="819" b="0">
                          <a:solidFill>
                            <a:srgbClr val="0F172A"/>
                          </a:solidFill>
                          <a:latin typeface="Segoe UI"/>
                        </a:defRPr>
                      </a:pPr>
                      <a:r>
                        <a:t>runs</a:t>
                      </a:r>
                    </a:p>
                  </a:txBody>
                  <a:tcPr anchor="ctr" marL="73152" marR="73152" marT="27432" marB="27432">
                    <a:solidFill>
                      <a:srgbClr val="FFFFFF"/>
                    </a:solidFill>
                  </a:tcPr>
                </a:tc>
                <a:tc>
                  <a:txBody>
                    <a:bodyPr/>
                    <a:lstStyle/>
                    <a:p>
                      <a:pPr algn="r">
                        <a:defRPr sz="819" b="0">
                          <a:solidFill>
                            <a:srgbClr val="0F172A"/>
                          </a:solidFill>
                          <a:latin typeface="Segoe UI"/>
                        </a:defRPr>
                      </a:pPr>
                      <a:r>
                        <a:t>0.446684</a:t>
                      </a:r>
                    </a:p>
                  </a:txBody>
                  <a:tcPr anchor="ctr" marL="73152" marR="73152" marT="27432" marB="27432">
                    <a:solidFill>
                      <a:srgbClr val="FFFFFF"/>
                    </a:solidFill>
                  </a:tcPr>
                </a:tc>
                <a:tc>
                  <a:txBody>
                    <a:bodyPr/>
                    <a:lstStyle/>
                    <a:p>
                      <a:pPr algn="r">
                        <a:defRPr sz="819" b="0">
                          <a:solidFill>
                            <a:srgbClr val="0F172A"/>
                          </a:solidFill>
                          <a:latin typeface="Segoe UI"/>
                        </a:defRPr>
                      </a:pPr>
                      <a:r>
                        <a:t>0.008167</a:t>
                      </a:r>
                    </a:p>
                  </a:txBody>
                  <a:tcPr anchor="ctr" marL="73152" marR="73152" marT="27432" marB="27432">
                    <a:solidFill>
                      <a:srgbClr val="FFFFFF"/>
                    </a:solidFill>
                  </a:tcPr>
                </a:tc>
                <a:tc>
                  <a:txBody>
                    <a:bodyPr/>
                    <a:lstStyle/>
                    <a:p>
                      <a:pPr algn="r">
                        <a:defRPr sz="819" b="0">
                          <a:solidFill>
                            <a:srgbClr val="0F172A"/>
                          </a:solidFill>
                          <a:latin typeface="Segoe UI"/>
                        </a:defRPr>
                      </a:pPr>
                      <a:r>
                        <a:t>0.449432</a:t>
                      </a:r>
                    </a:p>
                  </a:txBody>
                  <a:tcPr anchor="ctr" marL="73152" marR="73152" marT="27432" marB="27432">
                    <a:solidFill>
                      <a:srgbClr val="FFFFFF"/>
                    </a:solidFill>
                  </a:tcPr>
                </a:tc>
                <a:tc>
                  <a:txBody>
                    <a:bodyPr/>
                    <a:lstStyle/>
                    <a:p>
                      <a:pPr algn="r">
                        <a:defRPr sz="819" b="0">
                          <a:solidFill>
                            <a:srgbClr val="0F172A"/>
                          </a:solidFill>
                          <a:latin typeface="Segoe UI"/>
                        </a:defRPr>
                      </a:pPr>
                      <a:r>
                        <a:t>0.212572</a:t>
                      </a:r>
                    </a:p>
                  </a:txBody>
                  <a:tcPr anchor="ctr" marL="73152" marR="73152" marT="27432" marB="27432">
                    <a:solidFill>
                      <a:srgbClr val="FFFFFF"/>
                    </a:solidFill>
                  </a:tcPr>
                </a:tc>
              </a:tr>
              <a:tr h="219456">
                <a:tc>
                  <a:txBody>
                    <a:bodyPr/>
                    <a:lstStyle/>
                    <a:p>
                      <a:pPr algn="l">
                        <a:defRPr sz="819" b="1">
                          <a:solidFill>
                            <a:srgbClr val="0F172A"/>
                          </a:solidFill>
                          <a:latin typeface="Segoe UI"/>
                        </a:defRPr>
                      </a:pPr>
                      <a:r>
                        <a:t>kennedy.xls</a:t>
                      </a:r>
                    </a:p>
                  </a:txBody>
                  <a:tcPr anchor="ctr" marL="73152" marR="73152" marT="27432" marB="27432">
                    <a:solidFill>
                      <a:srgbClr val="F1F5F9"/>
                    </a:solidFill>
                  </a:tcPr>
                </a:tc>
                <a:tc>
                  <a:txBody>
                    <a:bodyPr/>
                    <a:lstStyle/>
                    <a:p>
                      <a:pPr algn="l">
                        <a:defRPr sz="819" b="0">
                          <a:solidFill>
                            <a:srgbClr val="0F172A"/>
                          </a:solidFill>
                          <a:latin typeface="Segoe UI"/>
                        </a:defRPr>
                      </a:pPr>
                      <a:r>
                        <a:t>shuffled</a:t>
                      </a:r>
                    </a:p>
                  </a:txBody>
                  <a:tcPr anchor="ctr" marL="73152" marR="73152" marT="27432" marB="27432">
                    <a:solidFill>
                      <a:srgbClr val="F1F5F9"/>
                    </a:solidFill>
                  </a:tcPr>
                </a:tc>
                <a:tc>
                  <a:txBody>
                    <a:bodyPr/>
                    <a:lstStyle/>
                    <a:p>
                      <a:pPr algn="r">
                        <a:defRPr sz="819" b="0">
                          <a:solidFill>
                            <a:srgbClr val="0F172A"/>
                          </a:solidFill>
                          <a:latin typeface="Segoe UI"/>
                        </a:defRPr>
                      </a:pPr>
                      <a:r>
                        <a:t>0.446684</a:t>
                      </a:r>
                    </a:p>
                  </a:txBody>
                  <a:tcPr anchor="ctr" marL="73152" marR="73152" marT="27432" marB="27432">
                    <a:solidFill>
                      <a:srgbClr val="F1F5F9"/>
                    </a:solidFill>
                  </a:tcPr>
                </a:tc>
                <a:tc>
                  <a:txBody>
                    <a:bodyPr/>
                    <a:lstStyle/>
                    <a:p>
                      <a:pPr algn="r">
                        <a:defRPr sz="819" b="0">
                          <a:solidFill>
                            <a:srgbClr val="0F172A"/>
                          </a:solidFill>
                          <a:latin typeface="Segoe UI"/>
                        </a:defRPr>
                      </a:pPr>
                      <a:r>
                        <a:t>1.525510</a:t>
                      </a:r>
                    </a:p>
                  </a:txBody>
                  <a:tcPr anchor="ctr" marL="73152" marR="73152" marT="27432" marB="27432">
                    <a:solidFill>
                      <a:srgbClr val="F1F5F9"/>
                    </a:solidFill>
                  </a:tcPr>
                </a:tc>
                <a:tc>
                  <a:txBody>
                    <a:bodyPr/>
                    <a:lstStyle/>
                    <a:p>
                      <a:pPr algn="r">
                        <a:defRPr sz="819" b="0">
                          <a:solidFill>
                            <a:srgbClr val="0F172A"/>
                          </a:solidFill>
                          <a:latin typeface="Segoe UI"/>
                        </a:defRPr>
                      </a:pPr>
                      <a:r>
                        <a:t>0.449432</a:t>
                      </a:r>
                    </a:p>
                  </a:txBody>
                  <a:tcPr anchor="ctr" marL="73152" marR="73152" marT="27432" marB="27432">
                    <a:solidFill>
                      <a:srgbClr val="F1F5F9"/>
                    </a:solidFill>
                  </a:tcPr>
                </a:tc>
                <a:tc>
                  <a:txBody>
                    <a:bodyPr/>
                    <a:lstStyle/>
                    <a:p>
                      <a:pPr algn="r">
                        <a:defRPr sz="819" b="0">
                          <a:solidFill>
                            <a:srgbClr val="0F172A"/>
                          </a:solidFill>
                          <a:latin typeface="Segoe UI"/>
                        </a:defRPr>
                      </a:pPr>
                      <a:r>
                        <a:t>0.544609</a:t>
                      </a:r>
                    </a:p>
                  </a:txBody>
                  <a:tcPr anchor="ctr" marL="73152" marR="73152" marT="27432" marB="27432">
                    <a:solidFill>
                      <a:srgbClr val="F1F5F9"/>
                    </a:solidFill>
                  </a:tcPr>
                </a:tc>
              </a:tr>
              <a:tr h="219456">
                <a:tc>
                  <a:txBody>
                    <a:bodyPr/>
                    <a:lstStyle/>
                    <a:p>
                      <a:pPr algn="l">
                        <a:defRPr sz="819" b="1">
                          <a:solidFill>
                            <a:srgbClr val="0F172A"/>
                          </a:solidFill>
                          <a:latin typeface="Segoe UI"/>
                        </a:defRPr>
                      </a:pPr>
                      <a:r>
                        <a:t>v1_test_1mib</a:t>
                      </a:r>
                    </a:p>
                  </a:txBody>
                  <a:tcPr anchor="ctr" marL="73152" marR="73152" marT="27432" marB="27432">
                    <a:solidFill>
                      <a:srgbClr val="FFFFFF"/>
                    </a:solidFill>
                  </a:tcPr>
                </a:tc>
                <a:tc>
                  <a:txBody>
                    <a:bodyPr/>
                    <a:lstStyle/>
                    <a:p>
                      <a:pPr algn="l">
                        <a:defRPr sz="819" b="0">
                          <a:solidFill>
                            <a:srgbClr val="0F172A"/>
                          </a:solidFill>
                          <a:latin typeface="Segoe UI"/>
                        </a:defRPr>
                      </a:pPr>
                      <a:r>
                        <a:t>original</a:t>
                      </a:r>
                    </a:p>
                  </a:txBody>
                  <a:tcPr anchor="ctr" marL="73152" marR="73152" marT="27432" marB="27432">
                    <a:solidFill>
                      <a:srgbClr val="FFFFFF"/>
                    </a:solidFill>
                  </a:tcPr>
                </a:tc>
                <a:tc>
                  <a:txBody>
                    <a:bodyPr/>
                    <a:lstStyle/>
                    <a:p>
                      <a:pPr algn="r">
                        <a:defRPr sz="819" b="0">
                          <a:solidFill>
                            <a:srgbClr val="0F172A"/>
                          </a:solidFill>
                          <a:latin typeface="Segoe UI"/>
                        </a:defRPr>
                      </a:pPr>
                      <a:r>
                        <a:t>0.660910</a:t>
                      </a:r>
                    </a:p>
                  </a:txBody>
                  <a:tcPr anchor="ctr" marL="73152" marR="73152" marT="27432" marB="27432">
                    <a:solidFill>
                      <a:srgbClr val="FFFFFF"/>
                    </a:solidFill>
                  </a:tcPr>
                </a:tc>
                <a:tc>
                  <a:txBody>
                    <a:bodyPr/>
                    <a:lstStyle/>
                    <a:p>
                      <a:pPr algn="r">
                        <a:defRPr sz="819" b="0">
                          <a:solidFill>
                            <a:srgbClr val="0F172A"/>
                          </a:solidFill>
                          <a:latin typeface="Segoe UI"/>
                        </a:defRPr>
                      </a:pPr>
                      <a:r>
                        <a:t>1.988550</a:t>
                      </a:r>
                    </a:p>
                  </a:txBody>
                  <a:tcPr anchor="ctr" marL="73152" marR="73152" marT="27432" marB="27432">
                    <a:solidFill>
                      <a:srgbClr val="FFFFFF"/>
                    </a:solidFill>
                  </a:tcPr>
                </a:tc>
                <a:tc>
                  <a:txBody>
                    <a:bodyPr/>
                    <a:lstStyle/>
                    <a:p>
                      <a:pPr algn="r">
                        <a:defRPr sz="819" b="0">
                          <a:solidFill>
                            <a:srgbClr val="0F172A"/>
                          </a:solidFill>
                          <a:latin typeface="Segoe UI"/>
                        </a:defRPr>
                      </a:pPr>
                      <a:r>
                        <a:t>0.665004</a:t>
                      </a:r>
                    </a:p>
                  </a:txBody>
                  <a:tcPr anchor="ctr" marL="73152" marR="73152" marT="27432" marB="27432">
                    <a:solidFill>
                      <a:srgbClr val="FFFFFF"/>
                    </a:solidFill>
                  </a:tcPr>
                </a:tc>
                <a:tc>
                  <a:txBody>
                    <a:bodyPr/>
                    <a:lstStyle/>
                    <a:p>
                      <a:pPr algn="r">
                        <a:defRPr sz="819" b="0">
                          <a:solidFill>
                            <a:srgbClr val="0F172A"/>
                          </a:solidFill>
                          <a:latin typeface="Segoe UI"/>
                        </a:defRPr>
                      </a:pPr>
                      <a:r>
                        <a:t>0.492817</a:t>
                      </a:r>
                    </a:p>
                  </a:txBody>
                  <a:tcPr anchor="ctr" marL="73152" marR="73152" marT="27432" marB="27432">
                    <a:solidFill>
                      <a:srgbClr val="FFFFFF"/>
                    </a:solidFill>
                  </a:tcPr>
                </a:tc>
              </a:tr>
              <a:tr h="219456">
                <a:tc>
                  <a:txBody>
                    <a:bodyPr/>
                    <a:lstStyle/>
                    <a:p>
                      <a:pPr algn="l">
                        <a:defRPr sz="819" b="1">
                          <a:solidFill>
                            <a:srgbClr val="1D4ED8"/>
                          </a:solidFill>
                          <a:latin typeface="Segoe UI"/>
                        </a:defRPr>
                      </a:pPr>
                      <a:r>
                        <a:t>v1_test_1mib</a:t>
                      </a:r>
                    </a:p>
                  </a:txBody>
                  <a:tcPr anchor="ctr" marL="73152" marR="73152" marT="27432" marB="27432">
                    <a:solidFill>
                      <a:srgbClr val="EFF6FF"/>
                    </a:solidFill>
                  </a:tcPr>
                </a:tc>
                <a:tc>
                  <a:txBody>
                    <a:bodyPr/>
                    <a:lstStyle/>
                    <a:p>
                      <a:pPr algn="l">
                        <a:defRPr sz="819" b="1">
                          <a:solidFill>
                            <a:srgbClr val="1D4ED8"/>
                          </a:solidFill>
                          <a:latin typeface="Segoe UI"/>
                        </a:defRPr>
                      </a:pPr>
                      <a:r>
                        <a:t>runs</a:t>
                      </a:r>
                    </a:p>
                  </a:txBody>
                  <a:tcPr anchor="ctr" marL="73152" marR="73152" marT="27432" marB="27432">
                    <a:solidFill>
                      <a:srgbClr val="EFF6FF"/>
                    </a:solidFill>
                  </a:tcPr>
                </a:tc>
                <a:tc>
                  <a:txBody>
                    <a:bodyPr/>
                    <a:lstStyle/>
                    <a:p>
                      <a:pPr algn="r">
                        <a:defRPr sz="819" b="1">
                          <a:solidFill>
                            <a:srgbClr val="1D4ED8"/>
                          </a:solidFill>
                          <a:latin typeface="Segoe UI"/>
                        </a:defRPr>
                      </a:pPr>
                      <a:r>
                        <a:t>0.660910</a:t>
                      </a:r>
                    </a:p>
                  </a:txBody>
                  <a:tcPr anchor="ctr" marL="73152" marR="73152" marT="27432" marB="27432">
                    <a:solidFill>
                      <a:srgbClr val="EFF6FF"/>
                    </a:solidFill>
                  </a:tcPr>
                </a:tc>
                <a:tc>
                  <a:txBody>
                    <a:bodyPr/>
                    <a:lstStyle/>
                    <a:p>
                      <a:pPr algn="r">
                        <a:defRPr sz="819" b="1">
                          <a:solidFill>
                            <a:srgbClr val="1D4ED8"/>
                          </a:solidFill>
                          <a:latin typeface="Segoe UI"/>
                        </a:defRPr>
                      </a:pPr>
                      <a:r>
                        <a:t>0.008083</a:t>
                      </a:r>
                    </a:p>
                  </a:txBody>
                  <a:tcPr anchor="ctr" marL="73152" marR="73152" marT="27432" marB="27432">
                    <a:solidFill>
                      <a:srgbClr val="EFF6FF"/>
                    </a:solidFill>
                  </a:tcPr>
                </a:tc>
                <a:tc>
                  <a:txBody>
                    <a:bodyPr/>
                    <a:lstStyle/>
                    <a:p>
                      <a:pPr algn="r">
                        <a:defRPr sz="819" b="1">
                          <a:solidFill>
                            <a:srgbClr val="1D4ED8"/>
                          </a:solidFill>
                          <a:latin typeface="Segoe UI"/>
                        </a:defRPr>
                      </a:pPr>
                      <a:r>
                        <a:t>0.665004</a:t>
                      </a:r>
                    </a:p>
                  </a:txBody>
                  <a:tcPr anchor="ctr" marL="73152" marR="73152" marT="27432" marB="27432">
                    <a:solidFill>
                      <a:srgbClr val="EFF6FF"/>
                    </a:solidFill>
                  </a:tcPr>
                </a:tc>
                <a:tc>
                  <a:txBody>
                    <a:bodyPr/>
                    <a:lstStyle/>
                    <a:p>
                      <a:pPr algn="r">
                        <a:defRPr sz="819" b="1">
                          <a:solidFill>
                            <a:srgbClr val="1D4ED8"/>
                          </a:solidFill>
                          <a:latin typeface="Segoe UI"/>
                        </a:defRPr>
                      </a:pPr>
                      <a:r>
                        <a:t>1.044570</a:t>
                      </a:r>
                    </a:p>
                  </a:txBody>
                  <a:tcPr anchor="ctr" marL="73152" marR="73152" marT="27432" marB="27432">
                    <a:solidFill>
                      <a:srgbClr val="EFF6FF"/>
                    </a:solidFill>
                  </a:tcPr>
                </a:tc>
              </a:tr>
              <a:tr h="219456">
                <a:tc>
                  <a:txBody>
                    <a:bodyPr/>
                    <a:lstStyle/>
                    <a:p>
                      <a:pPr algn="l">
                        <a:defRPr sz="819" b="1">
                          <a:solidFill>
                            <a:srgbClr val="0F172A"/>
                          </a:solidFill>
                          <a:latin typeface="Segoe UI"/>
                        </a:defRPr>
                      </a:pPr>
                      <a:r>
                        <a:t>v1_test_1mib</a:t>
                      </a:r>
                    </a:p>
                  </a:txBody>
                  <a:tcPr anchor="ctr" marL="73152" marR="73152" marT="27432" marB="27432">
                    <a:solidFill>
                      <a:srgbClr val="FFFFFF"/>
                    </a:solidFill>
                  </a:tcPr>
                </a:tc>
                <a:tc>
                  <a:txBody>
                    <a:bodyPr/>
                    <a:lstStyle/>
                    <a:p>
                      <a:pPr algn="l">
                        <a:defRPr sz="819" b="0">
                          <a:solidFill>
                            <a:srgbClr val="0F172A"/>
                          </a:solidFill>
                          <a:latin typeface="Segoe UI"/>
                        </a:defRPr>
                      </a:pPr>
                      <a:r>
                        <a:t>shuffled</a:t>
                      </a:r>
                    </a:p>
                  </a:txBody>
                  <a:tcPr anchor="ctr" marL="73152" marR="73152" marT="27432" marB="27432">
                    <a:solidFill>
                      <a:srgbClr val="FFFFFF"/>
                    </a:solidFill>
                  </a:tcPr>
                </a:tc>
                <a:tc>
                  <a:txBody>
                    <a:bodyPr/>
                    <a:lstStyle/>
                    <a:p>
                      <a:pPr algn="r">
                        <a:defRPr sz="819" b="0">
                          <a:solidFill>
                            <a:srgbClr val="0F172A"/>
                          </a:solidFill>
                          <a:latin typeface="Segoe UI"/>
                        </a:defRPr>
                      </a:pPr>
                      <a:r>
                        <a:t>0.660910</a:t>
                      </a:r>
                    </a:p>
                  </a:txBody>
                  <a:tcPr anchor="ctr" marL="73152" marR="73152" marT="27432" marB="27432">
                    <a:solidFill>
                      <a:srgbClr val="FFFFFF"/>
                    </a:solidFill>
                  </a:tcPr>
                </a:tc>
                <a:tc>
                  <a:txBody>
                    <a:bodyPr/>
                    <a:lstStyle/>
                    <a:p>
                      <a:pPr algn="r">
                        <a:defRPr sz="819" b="0">
                          <a:solidFill>
                            <a:srgbClr val="0F172A"/>
                          </a:solidFill>
                          <a:latin typeface="Segoe UI"/>
                        </a:defRPr>
                      </a:pPr>
                      <a:r>
                        <a:t>1.894910</a:t>
                      </a:r>
                    </a:p>
                  </a:txBody>
                  <a:tcPr anchor="ctr" marL="73152" marR="73152" marT="27432" marB="27432">
                    <a:solidFill>
                      <a:srgbClr val="FFFFFF"/>
                    </a:solidFill>
                  </a:tcPr>
                </a:tc>
                <a:tc>
                  <a:txBody>
                    <a:bodyPr/>
                    <a:lstStyle/>
                    <a:p>
                      <a:pPr algn="r">
                        <a:defRPr sz="819" b="0">
                          <a:solidFill>
                            <a:srgbClr val="0F172A"/>
                          </a:solidFill>
                          <a:latin typeface="Segoe UI"/>
                        </a:defRPr>
                      </a:pPr>
                      <a:r>
                        <a:t>0.665004</a:t>
                      </a:r>
                    </a:p>
                  </a:txBody>
                  <a:tcPr anchor="ctr" marL="73152" marR="73152" marT="27432" marB="27432">
                    <a:solidFill>
                      <a:srgbClr val="FFFFFF"/>
                    </a:solidFill>
                  </a:tcPr>
                </a:tc>
                <a:tc>
                  <a:txBody>
                    <a:bodyPr/>
                    <a:lstStyle/>
                    <a:p>
                      <a:pPr algn="r">
                        <a:defRPr sz="819" b="0">
                          <a:solidFill>
                            <a:srgbClr val="0F172A"/>
                          </a:solidFill>
                          <a:latin typeface="Segoe UI"/>
                        </a:defRPr>
                      </a:pPr>
                      <a:r>
                        <a:t>0.820334</a:t>
                      </a:r>
                    </a:p>
                  </a:txBody>
                  <a:tcPr anchor="ctr" marL="73152" marR="73152" marT="27432" marB="27432">
                    <a:solidFill>
                      <a:srgbClr val="FFFFFF"/>
                    </a:solidFill>
                  </a:tcPr>
                </a:tc>
              </a:tr>
            </a:tbl>
          </a:graphicData>
        </a:graphic>
      </p:graphicFrame>
      <p:sp>
        <p:nvSpPr>
          <p:cNvPr id="11" name="TextBox 10"/>
          <p:cNvSpPr txBox="1"/>
          <p:nvPr/>
        </p:nvSpPr>
        <p:spPr>
          <a:xfrm>
            <a:off x="914400" y="4251960"/>
            <a:ext cx="5669280" cy="1874519"/>
          </a:xfrm>
          <a:prstGeom prst="rect">
            <a:avLst/>
          </a:prstGeom>
          <a:noFill/>
        </p:spPr>
        <p:txBody>
          <a:bodyPr wrap="square" lIns="0" rIns="0" tIns="0" bIns="0">
            <a:spAutoFit/>
          </a:bodyPr>
          <a:lstStyle/>
          <a:p>
            <a:pPr>
              <a:spcBef>
                <a:spcPts val="200"/>
              </a:spcBef>
              <a:defRPr sz="850" b="1">
                <a:solidFill>
                  <a:srgbClr val="1D4ED8"/>
                </a:solidFill>
                <a:latin typeface="Segoe UI"/>
              </a:defRPr>
            </a:pPr>
            <a:r>
              <a:t>• Huffman — Bất biến tuyệt đối qua hoán vị:</a:t>
            </a:r>
          </a:p>
          <a:p>
            <a:pPr>
              <a:defRPr sz="800">
                <a:solidFill>
                  <a:srgbClr val="475569"/>
                </a:solidFill>
                <a:latin typeface="Segoe UI"/>
              </a:defRPr>
            </a:pPr>
            <a:r>
              <a:t>  Tỷ lệ nén và kích thước nén byte giữ nguyên 100% qua mọi trạng thái hoán vị. Lý do: Bảng đếm tần suất byte không thay đổi, cây Huffman và độ dài mã chính tắc hoàn toàn cố định.</a:t>
            </a:r>
          </a:p>
          <a:p>
            <a:pPr>
              <a:spcBef>
                <a:spcPts val="200"/>
              </a:spcBef>
              <a:defRPr sz="850" b="1">
                <a:solidFill>
                  <a:srgbClr val="1D4ED8"/>
                </a:solidFill>
                <a:latin typeface="Segoe UI"/>
              </a:defRPr>
            </a:pPr>
            <a:r>
              <a:t>• RLE — Cực kỳ nhạy cảm với việc gom cụm:</a:t>
            </a:r>
          </a:p>
          <a:p>
            <a:pPr>
              <a:defRPr sz="800">
                <a:solidFill>
                  <a:srgbClr val="475569"/>
                </a:solidFill>
                <a:latin typeface="Segoe UI"/>
              </a:defRPr>
            </a:pPr>
            <a:r>
              <a:t>  Khi gom nhóm bằng counting sort (runs), RLE giảm dung lượng tới 99.2% (tỷ lệ ~0.008). Khi xáo trộn (shuffled), các run bị phá vỡ hoàn toàn khiến file phình to gần 2x.</a:t>
            </a:r>
          </a:p>
          <a:p>
            <a:pPr>
              <a:spcBef>
                <a:spcPts val="200"/>
              </a:spcBef>
              <a:defRPr sz="850" b="1">
                <a:solidFill>
                  <a:srgbClr val="1D4ED8"/>
                </a:solidFill>
                <a:latin typeface="Segoe UI"/>
              </a:defRPr>
            </a:pPr>
            <a:r>
              <a:t>• LZW — Suy giảm rõ rệt khi xáo trộn thứ tự:</a:t>
            </a:r>
          </a:p>
          <a:p>
            <a:pPr>
              <a:defRPr sz="800">
                <a:solidFill>
                  <a:srgbClr val="475569"/>
                </a:solidFill>
                <a:latin typeface="Segoe UI"/>
              </a:defRPr>
            </a:pPr>
            <a:r>
              <a:t>  Việc xáo trộn phá hủy quan hệ chuỗi con tự nhiên, khiến tỷ lệ LZW tăng mạnh từ 0.47 lên 0.68 trên alice29 và 0.49 lên 0.82 trên V1.</a:t>
            </a:r>
          </a:p>
        </p:txBody>
      </p:sp>
      <p:sp>
        <p:nvSpPr>
          <p:cNvPr id="12" name="Rounded Rectangle 11"/>
          <p:cNvSpPr/>
          <p:nvPr/>
        </p:nvSpPr>
        <p:spPr>
          <a:xfrm>
            <a:off x="7040880" y="1463040"/>
            <a:ext cx="441929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q2_ratio.png"/>
          <p:cNvPicPr>
            <a:picLocks noChangeAspect="1"/>
          </p:cNvPicPr>
          <p:nvPr/>
        </p:nvPicPr>
        <p:blipFill>
          <a:blip r:embed="rId2"/>
          <a:stretch>
            <a:fillRect/>
          </a:stretch>
        </p:blipFill>
        <p:spPr>
          <a:xfrm>
            <a:off x="7178040" y="1600200"/>
            <a:ext cx="4144975" cy="4663097"/>
          </a:xfrm>
          <a:prstGeom prst="rect">
            <a:avLst/>
          </a:prstGeom>
        </p:spPr>
      </p:pic>
      <p:sp>
        <p:nvSpPr>
          <p:cNvPr id="14" name="TextBox 13"/>
          <p:cNvSpPr txBox="1"/>
          <p:nvPr/>
        </p:nvSpPr>
        <p:spPr>
          <a:xfrm>
            <a:off x="7178040" y="5760720"/>
            <a:ext cx="4144975" cy="411480"/>
          </a:xfrm>
          <a:prstGeom prst="rect">
            <a:avLst/>
          </a:prstGeom>
          <a:noFill/>
        </p:spPr>
        <p:txBody>
          <a:bodyPr wrap="square" lIns="0" rIns="0" tIns="0" bIns="0">
            <a:spAutoFit/>
          </a:bodyPr>
          <a:lstStyle/>
          <a:p>
            <a:pPr algn="ctr">
              <a:defRPr sz="800">
                <a:solidFill>
                  <a:srgbClr val="64748B"/>
                </a:solidFill>
                <a:latin typeface="Segoe UI"/>
              </a:defRPr>
            </a:pPr>
            <a:r>
              <a:t>Hình 4: Ảnh hưởng của thứ tự byte. Lưu ý cột LZW V1-runs (màu đỏ) bị phình to bất thường.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KẾT QUẢ RQ2 CHUYÊN SÂU</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Giải mã Ngoại lệ V1-runs: Hiện tượng Đóng băng Từ điển LZW</a:t>
            </a:r>
          </a:p>
          <a:p>
            <a:pPr>
              <a:spcBef>
                <a:spcPts val="200"/>
              </a:spcBef>
              <a:defRPr sz="1000">
                <a:solidFill>
                  <a:srgbClr val="64748B"/>
                </a:solidFill>
                <a:latin typeface="Segoe UI"/>
              </a:defRPr>
            </a:pPr>
            <a:r>
              <a:t>Tại sao dữ liệu sau khi gom run tối đa lại khiến LZW bị phình to (&gt;1.0)?</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9 / 17</a:t>
            </a:r>
          </a:p>
        </p:txBody>
      </p:sp>
      <p:sp>
        <p:nvSpPr>
          <p:cNvPr id="8" name="Rounded Rectangle 7"/>
          <p:cNvSpPr/>
          <p:nvPr/>
        </p:nvSpPr>
        <p:spPr>
          <a:xfrm>
            <a:off x="731520" y="1463040"/>
            <a:ext cx="521208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846320" cy="365760"/>
          </a:xfrm>
          <a:prstGeom prst="rect">
            <a:avLst/>
          </a:prstGeom>
          <a:noFill/>
        </p:spPr>
        <p:txBody>
          <a:bodyPr wrap="none">
            <a:spAutoFit/>
          </a:bodyPr>
          <a:lstStyle/>
          <a:p>
            <a:pPr>
              <a:defRPr sz="1300" b="1">
                <a:solidFill>
                  <a:srgbClr val="E11D48"/>
                </a:solidFill>
                <a:latin typeface="Segoe UI"/>
              </a:defRPr>
            </a:pPr>
            <a:r>
              <a:t>Cơ chế Đóng Băng Từ Điển (Frozen Dictionary)</a:t>
            </a:r>
          </a:p>
        </p:txBody>
      </p:sp>
      <p:sp>
        <p:nvSpPr>
          <p:cNvPr id="10" name="TextBox 9"/>
          <p:cNvSpPr txBox="1"/>
          <p:nvPr/>
        </p:nvSpPr>
        <p:spPr>
          <a:xfrm>
            <a:off x="914400" y="2057400"/>
            <a:ext cx="4846320" cy="4023360"/>
          </a:xfrm>
          <a:prstGeom prst="rect">
            <a:avLst/>
          </a:prstGeom>
          <a:noFill/>
        </p:spPr>
        <p:txBody>
          <a:bodyPr wrap="square" lIns="0" rIns="0" tIns="0" bIns="0">
            <a:spAutoFit/>
          </a:bodyPr>
          <a:lstStyle/>
          <a:p>
            <a:pPr>
              <a:spcBef>
                <a:spcPts val="400"/>
              </a:spcBef>
              <a:defRPr sz="950" b="1">
                <a:solidFill>
                  <a:srgbClr val="0F172A"/>
                </a:solidFill>
                <a:latin typeface="Segoe UI"/>
              </a:defRPr>
            </a:pPr>
            <a:r>
              <a:t>1. Hiện tượng nghịch lý tại V1-runs</a:t>
            </a:r>
          </a:p>
          <a:p>
            <a:pPr>
              <a:spcBef>
                <a:spcPts val="100"/>
              </a:spcBef>
              <a:defRPr sz="819">
                <a:solidFill>
                  <a:srgbClr val="475569"/>
                </a:solidFill>
                <a:latin typeface="Segoe UI"/>
              </a:defRPr>
            </a:pPr>
            <a:r>
              <a:t>Trên v1_test_1mib đã counting sort (runs), tỷ lệ LZW là 1.044570 (&gt; 1) — kích thước tệp nén lớn hơn cả tệp gốc! Trong khi trên alice29-runs, LZW nén siêu tốt (0.0326).</a:t>
            </a:r>
          </a:p>
          <a:p>
            <a:pPr>
              <a:spcBef>
                <a:spcPts val="400"/>
              </a:spcBef>
              <a:defRPr sz="950" b="1">
                <a:solidFill>
                  <a:srgbClr val="0F172A"/>
                </a:solidFill>
                <a:latin typeface="Segoe UI"/>
              </a:defRPr>
            </a:pPr>
            <a:r>
              <a:t>2. Truy vết Log luồng dữ liệu (Mechanism Checker)</a:t>
            </a:r>
          </a:p>
          <a:p>
            <a:pPr>
              <a:spcBef>
                <a:spcPts val="100"/>
              </a:spcBef>
              <a:defRPr sz="819">
                <a:solidFill>
                  <a:srgbClr val="475569"/>
                </a:solidFill>
                <a:latin typeface="Segoe UI"/>
              </a:defRPr>
            </a:pPr>
            <a:r>
              <a:t>• File V1 có kích thước lớn (1 MiB) với các run byte cực kỳ dài.</a:t>
            </a:r>
            <a:br/>
            <a:r>
              <a:t>• Từ điển 12-bit (4096 entries) bị lấp đầy hoàn toàn ngay tại byte thứ 319,103 (chỉ mới ~30.4% tệp đầu vào)!</a:t>
            </a:r>
            <a:br/>
            <a:r>
              <a:t>• Tại thời điểm này, toàn bộ 4096 mã đều bị chiếm bởi các tiền tố run lặp đơn điệu ban đầu.</a:t>
            </a:r>
          </a:p>
          <a:p>
            <a:pPr>
              <a:spcBef>
                <a:spcPts val="400"/>
              </a:spcBef>
              <a:defRPr sz="950" b="1">
                <a:solidFill>
                  <a:srgbClr val="0F172A"/>
                </a:solidFill>
                <a:latin typeface="Segoe UI"/>
              </a:defRPr>
            </a:pPr>
            <a:r>
              <a:t>3. Hậu quả của chính sách đóng băng (Freeze Policy)</a:t>
            </a:r>
          </a:p>
          <a:p>
            <a:pPr>
              <a:spcBef>
                <a:spcPts val="100"/>
              </a:spcBef>
              <a:defRPr sz="819">
                <a:solidFill>
                  <a:srgbClr val="475569"/>
                </a:solidFill>
                <a:latin typeface="Segoe UI"/>
              </a:defRPr>
            </a:pPr>
            <a:r>
              <a:t>• Ở 70% dữ liệu còn lại, từ điển bị 'đóng băng', không thể học thêm bất kỳ chuỗi con mới nào.</a:t>
            </a:r>
            <a:br/>
            <a:r>
              <a:t>• Khi gặp các ký tự và run byte mới ở phần sau, LZW không tìm thấy mã ghép phù hợp, buộc phải phát từng byte đơn lẻ dưới dạng mã 12-bit.</a:t>
            </a:r>
            <a:br/>
            <a:r>
              <a:t>• Hệ quả: Mỗi byte đơn 8-bit bị phình thành mã 12-bit (tăng 50% dung lượng)!</a:t>
            </a:r>
          </a:p>
          <a:p>
            <a:pPr>
              <a:spcBef>
                <a:spcPts val="400"/>
              </a:spcBef>
              <a:defRPr sz="950" b="1">
                <a:solidFill>
                  <a:srgbClr val="0F172A"/>
                </a:solidFill>
                <a:latin typeface="Segoe UI"/>
              </a:defRPr>
            </a:pPr>
            <a:r>
              <a:t>4. Đối chiếu với alice29-runs</a:t>
            </a:r>
          </a:p>
          <a:p>
            <a:pPr>
              <a:spcBef>
                <a:spcPts val="100"/>
              </a:spcBef>
              <a:defRPr sz="819">
                <a:solidFill>
                  <a:srgbClr val="475569"/>
                </a:solidFill>
                <a:latin typeface="Segoe UI"/>
              </a:defRPr>
            </a:pPr>
            <a:r>
              <a:t>alice29 chỉ có 152 KiB, từ điển không bị lấp đầy nên LZW liên tục sinh các mã chuỗi dài thành công.</a:t>
            </a:r>
          </a:p>
        </p:txBody>
      </p:sp>
      <p:sp>
        <p:nvSpPr>
          <p:cNvPr id="11" name="Rounded Rectangle 10"/>
          <p:cNvSpPr/>
          <p:nvPr/>
        </p:nvSpPr>
        <p:spPr>
          <a:xfrm>
            <a:off x="6217920" y="1463040"/>
            <a:ext cx="524225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645920"/>
            <a:ext cx="4876495" cy="365760"/>
          </a:xfrm>
          <a:prstGeom prst="rect">
            <a:avLst/>
          </a:prstGeom>
          <a:noFill/>
        </p:spPr>
        <p:txBody>
          <a:bodyPr wrap="none">
            <a:spAutoFit/>
          </a:bodyPr>
          <a:lstStyle/>
          <a:p>
            <a:pPr>
              <a:defRPr sz="1300" b="1">
                <a:solidFill>
                  <a:srgbClr val="1D4ED8"/>
                </a:solidFill>
                <a:latin typeface="Segoe UI"/>
              </a:defRPr>
            </a:pPr>
            <a:r>
              <a:t>Ý nghĩa Lý thuyết Thông tin &amp; Cận Dưới Nén</a:t>
            </a:r>
          </a:p>
        </p:txBody>
      </p:sp>
      <p:sp>
        <p:nvSpPr>
          <p:cNvPr id="13" name="TextBox 12"/>
          <p:cNvSpPr txBox="1"/>
          <p:nvPr/>
        </p:nvSpPr>
        <p:spPr>
          <a:xfrm>
            <a:off x="6400800" y="2057400"/>
            <a:ext cx="4876495" cy="4023360"/>
          </a:xfrm>
          <a:prstGeom prst="rect">
            <a:avLst/>
          </a:prstGeom>
          <a:noFill/>
        </p:spPr>
        <p:txBody>
          <a:bodyPr wrap="square" lIns="0" rIns="0" tIns="0" bIns="0">
            <a:spAutoFit/>
          </a:bodyPr>
          <a:lstStyle/>
          <a:p>
            <a:pPr>
              <a:spcBef>
                <a:spcPts val="500"/>
              </a:spcBef>
              <a:defRPr sz="950" b="1">
                <a:solidFill>
                  <a:srgbClr val="1D4ED8"/>
                </a:solidFill>
                <a:latin typeface="Segoe UI"/>
              </a:defRPr>
            </a:pPr>
            <a:r>
              <a:t>1. Bản chất của Entropy bậc 0 (Zero-order Entropy H₀)</a:t>
            </a:r>
          </a:p>
          <a:p>
            <a:pPr>
              <a:spcBef>
                <a:spcPts val="100"/>
              </a:spcBef>
              <a:defRPr sz="819">
                <a:solidFill>
                  <a:srgbClr val="475569"/>
                </a:solidFill>
                <a:latin typeface="Segoe UI"/>
              </a:defRPr>
            </a:pPr>
            <a:r>
              <a:t>H₀ = −Σ pᵢ log₂ pᵢ chỉ mô tả phân bố xác suất biên của từng byte riêng lẻ, hoàn toàn bỏ qua thứ tự sắp xếp và tương quan chuỗi. Do đó H₀/8 là bất biến trước mọi phép hoán vị.</a:t>
            </a:r>
          </a:p>
          <a:p>
            <a:pPr>
              <a:spcBef>
                <a:spcPts val="500"/>
              </a:spcBef>
              <a:defRPr sz="950" b="1">
                <a:solidFill>
                  <a:srgbClr val="1D4ED8"/>
                </a:solidFill>
                <a:latin typeface="Segoe UI"/>
              </a:defRPr>
            </a:pPr>
            <a:r>
              <a:t>2. H₀/8 không phải là Cận dưới Tuyệt đối cho mọi Codec</a:t>
            </a:r>
          </a:p>
          <a:p>
            <a:pPr>
              <a:spcBef>
                <a:spcPts val="100"/>
              </a:spcBef>
              <a:defRPr sz="819">
                <a:solidFill>
                  <a:srgbClr val="475569"/>
                </a:solidFill>
                <a:latin typeface="Segoe UI"/>
              </a:defRPr>
            </a:pPr>
            <a:r>
              <a:t>• Đối với codec độc lập ngữ cảnh (như Huffman), H₀/8 là cận dưới lý thuyết.</a:t>
            </a:r>
            <a:br/>
            <a:r>
              <a:t>• Nhưng đối với codec khai thác ngữ cảnh chuỗi (như LZW), tỷ lệ nén có thể thấp hơn H₀/8 rất nhiều trên văn bản tự nhiên (alice29: LZW 0.475 &lt; H₀/8 0.571; V1: LZW 0.492 &lt; H₀/8 0.661).</a:t>
            </a:r>
          </a:p>
          <a:p>
            <a:pPr>
              <a:spcBef>
                <a:spcPts val="500"/>
              </a:spcBef>
              <a:defRPr sz="950" b="1">
                <a:solidFill>
                  <a:srgbClr val="1D4ED8"/>
                </a:solidFill>
                <a:latin typeface="Segoe UI"/>
              </a:defRPr>
            </a:pPr>
            <a:r>
              <a:t>3. Bài học thiết kế thuật toán cho LZW</a:t>
            </a:r>
          </a:p>
          <a:p>
            <a:pPr>
              <a:spcBef>
                <a:spcPts val="100"/>
              </a:spcBef>
              <a:defRPr sz="819">
                <a:solidFill>
                  <a:srgbClr val="475569"/>
                </a:solidFill>
                <a:latin typeface="Segoe UI"/>
              </a:defRPr>
            </a:pPr>
            <a:r>
              <a:t>Cơ chế đóng băng cố định (freeze) có điểm yếu chí mạng khi phân bố dữ liệu thay đổi đột ngột giữa chừng. Trong thực tế, các biến thể LZW hiện đại (như trong Unix compress hay GIF) sử dụng cơ chế xóa từ điển (clear code) hoặc LRU eviction khi hiệu suất nén bắt đầu suy giảm.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KẾT QUẢ RQ3.A</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BPE: Codec Độc Lập vs Tokenizer Chia Sẻ Từ Điển</a:t>
            </a:r>
          </a:p>
          <a:p>
            <a:pPr>
              <a:spcBef>
                <a:spcPts val="200"/>
              </a:spcBef>
              <a:defRPr sz="1000">
                <a:solidFill>
                  <a:srgbClr val="64748B"/>
                </a:solidFill>
                <a:latin typeface="Segoe UI"/>
              </a:defRPr>
            </a:pPr>
            <a:r>
              <a:t>Đối chiếu BPE với Baseline LZW ở các mức ngân sách K = 256, 1024, 3840 merges</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10 / 17</a:t>
            </a:r>
          </a:p>
        </p:txBody>
      </p:sp>
      <p:sp>
        <p:nvSpPr>
          <p:cNvPr id="8" name="Rounded Rectangle 7"/>
          <p:cNvSpPr/>
          <p:nvPr/>
        </p:nvSpPr>
        <p:spPr>
          <a:xfrm>
            <a:off x="731520" y="1463040"/>
            <a:ext cx="34134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572768"/>
            <a:ext cx="3084271" cy="1014984"/>
          </a:xfrm>
          <a:prstGeom prst="rect">
            <a:avLst/>
          </a:prstGeom>
          <a:noFill/>
        </p:spPr>
        <p:txBody>
          <a:bodyPr wrap="square" lIns="0" tIns="0" rIns="0" bIns="0">
            <a:spAutoFit/>
          </a:bodyPr>
          <a:lstStyle/>
          <a:p>
            <a:pPr>
              <a:defRPr sz="2100" b="1">
                <a:solidFill>
                  <a:srgbClr val="059669"/>
                </a:solidFill>
                <a:latin typeface="Segoe UI"/>
              </a:defRPr>
            </a:pPr>
            <a:r>
              <a:t>32.6% Nén Tốt Hơn</a:t>
            </a:r>
          </a:p>
          <a:p>
            <a:pPr>
              <a:spcBef>
                <a:spcPts val="200"/>
              </a:spcBef>
              <a:defRPr sz="1000" b="1">
                <a:solidFill>
                  <a:srgbClr val="0F172A"/>
                </a:solidFill>
                <a:latin typeface="Segoe UI"/>
              </a:defRPr>
            </a:pPr>
            <a:r>
              <a:t>BPE Vượt LZW trên Tiếng Việt (V1)</a:t>
            </a:r>
          </a:p>
          <a:p>
            <a:pPr>
              <a:spcBef>
                <a:spcPts val="200"/>
              </a:spcBef>
              <a:defRPr sz="819">
                <a:solidFill>
                  <a:srgbClr val="64748B"/>
                </a:solidFill>
                <a:latin typeface="Segoe UI"/>
              </a:defRPr>
            </a:pPr>
            <a:r>
              <a:t>Tại K=3840, BPE V1→V1 đạt tỷ lệ 0.3323 so với LZW 0.4928 (nhỏ hơn 32.6% đã tính cả overhead bảng merge).</a:t>
            </a:r>
          </a:p>
        </p:txBody>
      </p:sp>
      <p:sp>
        <p:nvSpPr>
          <p:cNvPr id="10" name="Rounded Rectangle 9"/>
          <p:cNvSpPr/>
          <p:nvPr/>
        </p:nvSpPr>
        <p:spPr>
          <a:xfrm>
            <a:off x="4389120" y="1463040"/>
            <a:ext cx="34134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572768"/>
            <a:ext cx="3084271" cy="1014984"/>
          </a:xfrm>
          <a:prstGeom prst="rect">
            <a:avLst/>
          </a:prstGeom>
          <a:noFill/>
        </p:spPr>
        <p:txBody>
          <a:bodyPr wrap="square" lIns="0" tIns="0" rIns="0" bIns="0">
            <a:spAutoFit/>
          </a:bodyPr>
          <a:lstStyle/>
          <a:p>
            <a:pPr>
              <a:defRPr sz="2100" b="1">
                <a:solidFill>
                  <a:srgbClr val="059669"/>
                </a:solidFill>
                <a:latin typeface="Segoe UI"/>
              </a:defRPr>
            </a:pPr>
            <a:r>
              <a:t>13.7% Nén Tốt Hơn</a:t>
            </a:r>
          </a:p>
          <a:p>
            <a:pPr>
              <a:spcBef>
                <a:spcPts val="200"/>
              </a:spcBef>
              <a:defRPr sz="1000" b="1">
                <a:solidFill>
                  <a:srgbClr val="0F172A"/>
                </a:solidFill>
                <a:latin typeface="Segoe UI"/>
              </a:defRPr>
            </a:pPr>
            <a:r>
              <a:t>BPE Vượt LZW trên Tiếng Anh (E1)</a:t>
            </a:r>
          </a:p>
          <a:p>
            <a:pPr>
              <a:spcBef>
                <a:spcPts val="200"/>
              </a:spcBef>
              <a:defRPr sz="819">
                <a:solidFill>
                  <a:srgbClr val="64748B"/>
                </a:solidFill>
                <a:latin typeface="Segoe UI"/>
              </a:defRPr>
            </a:pPr>
            <a:r>
              <a:t>Tại K=3840, BPE E1→E1 đạt tỷ lệ 0.4645 so với LZW 0.5380 (nhỏ hơn 13.7% đã tính cả overhead).</a:t>
            </a:r>
          </a:p>
        </p:txBody>
      </p:sp>
      <p:sp>
        <p:nvSpPr>
          <p:cNvPr id="12" name="Rounded Rectangle 11"/>
          <p:cNvSpPr/>
          <p:nvPr/>
        </p:nvSpPr>
        <p:spPr>
          <a:xfrm>
            <a:off x="8046720" y="1463040"/>
            <a:ext cx="34134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572768"/>
            <a:ext cx="3084271" cy="1014984"/>
          </a:xfrm>
          <a:prstGeom prst="rect">
            <a:avLst/>
          </a:prstGeom>
          <a:noFill/>
        </p:spPr>
        <p:txBody>
          <a:bodyPr wrap="square" lIns="0" tIns="0" rIns="0" bIns="0">
            <a:spAutoFit/>
          </a:bodyPr>
          <a:lstStyle/>
          <a:p>
            <a:pPr>
              <a:defRPr sz="2100" b="1">
                <a:solidFill>
                  <a:srgbClr val="2563EB"/>
                </a:solidFill>
                <a:latin typeface="Segoe UI"/>
              </a:defRPr>
            </a:pPr>
            <a:r>
              <a:t>11,542 Bytes</a:t>
            </a:r>
          </a:p>
          <a:p>
            <a:pPr>
              <a:spcBef>
                <a:spcPts val="200"/>
              </a:spcBef>
              <a:defRPr sz="1000" b="1">
                <a:solidFill>
                  <a:srgbClr val="0F172A"/>
                </a:solidFill>
                <a:latin typeface="Segoe UI"/>
              </a:defRPr>
            </a:pPr>
            <a:r>
              <a:t>Chi Phí Overhead Bảng Merge</a:t>
            </a:r>
          </a:p>
          <a:p>
            <a:pPr>
              <a:spcBef>
                <a:spcPts val="200"/>
              </a:spcBef>
              <a:defRPr sz="819">
                <a:solidFill>
                  <a:srgbClr val="64748B"/>
                </a:solidFill>
                <a:latin typeface="Segoe UI"/>
              </a:defRPr>
            </a:pPr>
            <a:r>
              <a:t>Overhead = 22 + 3m byte. Tại m=3840, bảng merge chiếm 11.5 KiB. Khi tệp đủ lớn (1 MiB), overhead chỉ chiếm ~1.1%.</a:t>
            </a:r>
          </a:p>
        </p:txBody>
      </p:sp>
      <p:sp>
        <p:nvSpPr>
          <p:cNvPr id="14" name="Rounded Rectangle 13"/>
          <p:cNvSpPr/>
          <p:nvPr/>
        </p:nvSpPr>
        <p:spPr>
          <a:xfrm>
            <a:off x="731520" y="2834640"/>
            <a:ext cx="10728655" cy="3429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26080"/>
            <a:ext cx="10362895" cy="274320"/>
          </a:xfrm>
          <a:prstGeom prst="rect">
            <a:avLst/>
          </a:prstGeom>
          <a:noFill/>
        </p:spPr>
        <p:txBody>
          <a:bodyPr wrap="none">
            <a:spAutoFit/>
          </a:bodyPr>
          <a:lstStyle/>
          <a:p>
            <a:pPr>
              <a:defRPr sz="1000" b="1">
                <a:solidFill>
                  <a:srgbClr val="0F172A"/>
                </a:solidFill>
                <a:latin typeface="Segoe UI"/>
              </a:defRPr>
            </a:pPr>
            <a:r>
              <a:t>Bảng IV: So sánh Tỷ lệ nén BPE Codec (có header), Token-only (chỉ payload) và Baseline LZW trên cùng tập test 1 MiB</a:t>
            </a:r>
          </a:p>
        </p:txBody>
      </p:sp>
      <p:graphicFrame>
        <p:nvGraphicFramePr>
          <p:cNvPr id="16" name="Table 15"/>
          <p:cNvGraphicFramePr>
            <a:graphicFrameLocks noGrp="1"/>
          </p:cNvGraphicFramePr>
          <p:nvPr/>
        </p:nvGraphicFramePr>
        <p:xfrm>
          <a:off x="914400" y="3246120"/>
          <a:ext cx="10728655" cy="2880360"/>
        </p:xfrm>
        <a:graphic>
          <a:graphicData uri="http://schemas.openxmlformats.org/drawingml/2006/table">
            <a:tbl>
              <a:tblPr firstRow="1" bandRow="1">
                <a:tableStyleId>{5C22544A-7EE6-4342-B048-85BDC9FD1C3A}</a:tableStyleId>
              </a:tblPr>
              <a:tblGrid>
                <a:gridCol w="914400"/>
                <a:gridCol w="1645920"/>
                <a:gridCol w="2377440"/>
                <a:gridCol w="2194560"/>
                <a:gridCol w="1828800"/>
                <a:gridCol w="1767535"/>
              </a:tblGrid>
              <a:tr h="261850">
                <a:tc>
                  <a:txBody>
                    <a:bodyPr/>
                    <a:lstStyle/>
                    <a:p>
                      <a:pPr algn="l">
                        <a:defRPr sz="850" b="1">
                          <a:solidFill>
                            <a:srgbClr val="FFFFFF"/>
                          </a:solidFill>
                          <a:latin typeface="Segoe UI"/>
                        </a:defRPr>
                      </a:pPr>
                      <a:r>
                        <a:t>K merges</a:t>
                      </a:r>
                    </a:p>
                  </a:txBody>
                  <a:tcPr anchor="ctr" marL="73152" marR="73152" marT="36576" marB="36576">
                    <a:solidFill>
                      <a:srgbClr val="1E293B"/>
                    </a:solidFill>
                  </a:tcPr>
                </a:tc>
                <a:tc>
                  <a:txBody>
                    <a:bodyPr/>
                    <a:lstStyle/>
                    <a:p>
                      <a:pPr algn="ctr">
                        <a:defRPr sz="850" b="1">
                          <a:solidFill>
                            <a:srgbClr val="FFFFFF"/>
                          </a:solidFill>
                          <a:latin typeface="Segoe UI"/>
                        </a:defRPr>
                      </a:pPr>
                      <a:r>
                        <a:t>Train → Test</a:t>
                      </a:r>
                    </a:p>
                  </a:txBody>
                  <a:tcPr anchor="ctr" marL="73152" marR="73152" marT="36576" marB="36576">
                    <a:solidFill>
                      <a:srgbClr val="1E293B"/>
                    </a:solidFill>
                  </a:tcPr>
                </a:tc>
                <a:tc>
                  <a:txBody>
                    <a:bodyPr/>
                    <a:lstStyle/>
                    <a:p>
                      <a:pPr algn="ctr">
                        <a:defRPr sz="850" b="1">
                          <a:solidFill>
                            <a:srgbClr val="FFFFFF"/>
                          </a:solidFill>
                          <a:latin typeface="Segoe UI"/>
                        </a:defRPr>
                      </a:pPr>
                      <a:r>
                        <a:t>BPE Codec (Toàn bộ container)</a:t>
                      </a:r>
                    </a:p>
                  </a:txBody>
                  <a:tcPr anchor="ctr" marL="73152" marR="73152" marT="36576" marB="36576">
                    <a:solidFill>
                      <a:srgbClr val="1E293B"/>
                    </a:solidFill>
                  </a:tcPr>
                </a:tc>
                <a:tc>
                  <a:txBody>
                    <a:bodyPr/>
                    <a:lstStyle/>
                    <a:p>
                      <a:pPr algn="ctr">
                        <a:defRPr sz="850" b="1">
                          <a:solidFill>
                            <a:srgbClr val="FFFFFF"/>
                          </a:solidFill>
                          <a:latin typeface="Segoe UI"/>
                        </a:defRPr>
                      </a:pPr>
                      <a:r>
                        <a:t>BPE Token-only (Chỉ mã 12-bit)</a:t>
                      </a:r>
                    </a:p>
                  </a:txBody>
                  <a:tcPr anchor="ctr" marL="73152" marR="73152" marT="36576" marB="36576">
                    <a:solidFill>
                      <a:srgbClr val="1E293B"/>
                    </a:solidFill>
                  </a:tcPr>
                </a:tc>
                <a:tc>
                  <a:txBody>
                    <a:bodyPr/>
                    <a:lstStyle/>
                    <a:p>
                      <a:pPr algn="ctr">
                        <a:defRPr sz="850" b="1">
                          <a:solidFill>
                            <a:srgbClr val="FFFFFF"/>
                          </a:solidFill>
                          <a:latin typeface="Segoe UI"/>
                        </a:defRPr>
                      </a:pPr>
                      <a:r>
                        <a:t>LZW Baseline (Cùng test)</a:t>
                      </a:r>
                    </a:p>
                  </a:txBody>
                  <a:tcPr anchor="ctr" marL="73152" marR="73152" marT="36576" marB="36576">
                    <a:solidFill>
                      <a:srgbClr val="1E293B"/>
                    </a:solidFill>
                  </a:tcPr>
                </a:tc>
                <a:tc>
                  <a:txBody>
                    <a:bodyPr/>
                    <a:lstStyle/>
                    <a:p>
                      <a:pPr algn="ctr">
                        <a:defRPr sz="850" b="1">
                          <a:solidFill>
                            <a:srgbClr val="FFFFFF"/>
                          </a:solidFill>
                          <a:latin typeface="Segoe UI"/>
                        </a:defRPr>
                      </a:pPr>
                      <a:r>
                        <a:t>Đánh giá</a:t>
                      </a:r>
                    </a:p>
                  </a:txBody>
                  <a:tcPr anchor="ctr" marL="73152" marR="73152" marT="36576" marB="36576">
                    <a:solidFill>
                      <a:srgbClr val="1E293B"/>
                    </a:solidFill>
                  </a:tcPr>
                </a:tc>
              </a:tr>
              <a:tr h="261850">
                <a:tc>
                  <a:txBody>
                    <a:bodyPr/>
                    <a:lstStyle/>
                    <a:p>
                      <a:pPr algn="l">
                        <a:defRPr sz="819" b="1">
                          <a:solidFill>
                            <a:srgbClr val="0F172A"/>
                          </a:solidFill>
                          <a:latin typeface="Segoe UI"/>
                        </a:defRPr>
                      </a:pPr>
                      <a:r>
                        <a:t>256</a:t>
                      </a:r>
                    </a:p>
                  </a:txBody>
                  <a:tcPr anchor="ctr" marL="73152" marR="73152" marT="27432" marB="27432">
                    <a:solidFill>
                      <a:srgbClr val="FFFFFF"/>
                    </a:solidFill>
                  </a:tcPr>
                </a:tc>
                <a:tc>
                  <a:txBody>
                    <a:bodyPr/>
                    <a:lstStyle/>
                    <a:p>
                      <a:pPr algn="r">
                        <a:defRPr sz="819" b="0">
                          <a:solidFill>
                            <a:srgbClr val="0F172A"/>
                          </a:solidFill>
                          <a:latin typeface="Segoe UI"/>
                        </a:defRPr>
                      </a:pPr>
                      <a:r>
                        <a:t>V1 → V1</a:t>
                      </a:r>
                    </a:p>
                  </a:txBody>
                  <a:tcPr anchor="ctr" marL="73152" marR="73152" marT="27432" marB="27432">
                    <a:solidFill>
                      <a:srgbClr val="FFFFFF"/>
                    </a:solidFill>
                  </a:tcPr>
                </a:tc>
                <a:tc>
                  <a:txBody>
                    <a:bodyPr/>
                    <a:lstStyle/>
                    <a:p>
                      <a:pPr algn="r">
                        <a:defRPr sz="819" b="0">
                          <a:solidFill>
                            <a:srgbClr val="0F172A"/>
                          </a:solidFill>
                          <a:latin typeface="Segoe UI"/>
                        </a:defRPr>
                      </a:pPr>
                      <a:r>
                        <a:t>0.605747</a:t>
                      </a:r>
                    </a:p>
                  </a:txBody>
                  <a:tcPr anchor="ctr" marL="73152" marR="73152" marT="27432" marB="27432">
                    <a:solidFill>
                      <a:srgbClr val="FFFFFF"/>
                    </a:solidFill>
                  </a:tcPr>
                </a:tc>
                <a:tc>
                  <a:txBody>
                    <a:bodyPr/>
                    <a:lstStyle/>
                    <a:p>
                      <a:pPr algn="r">
                        <a:defRPr sz="819" b="0">
                          <a:solidFill>
                            <a:srgbClr val="0F172A"/>
                          </a:solidFill>
                          <a:latin typeface="Segoe UI"/>
                        </a:defRPr>
                      </a:pPr>
                      <a:r>
                        <a:t>0.604994</a:t>
                      </a:r>
                    </a:p>
                  </a:txBody>
                  <a:tcPr anchor="ctr" marL="73152" marR="73152" marT="27432" marB="27432">
                    <a:solidFill>
                      <a:srgbClr val="FFFFFF"/>
                    </a:solidFill>
                  </a:tcPr>
                </a:tc>
                <a:tc>
                  <a:txBody>
                    <a:bodyPr/>
                    <a:lstStyle/>
                    <a:p>
                      <a:pPr algn="r">
                        <a:defRPr sz="819" b="0">
                          <a:solidFill>
                            <a:srgbClr val="0F172A"/>
                          </a:solidFill>
                          <a:latin typeface="Segoe UI"/>
                        </a:defRPr>
                      </a:pPr>
                      <a:r>
                        <a:t>0.492817</a:t>
                      </a:r>
                    </a:p>
                  </a:txBody>
                  <a:tcPr anchor="ctr" marL="73152" marR="73152" marT="27432" marB="27432">
                    <a:solidFill>
                      <a:srgbClr val="FFFFFF"/>
                    </a:solidFill>
                  </a:tcPr>
                </a:tc>
                <a:tc>
                  <a:txBody>
                    <a:bodyPr/>
                    <a:lstStyle/>
                    <a:p>
                      <a:pPr algn="l">
                        <a:defRPr sz="819" b="0">
                          <a:solidFill>
                            <a:srgbClr val="0F172A"/>
                          </a:solidFill>
                          <a:latin typeface="Segoe UI"/>
                        </a:defRPr>
                      </a:pPr>
                      <a:r>
                        <a:t>LZW tốt hơn (BPE chưa đủ merge)</a:t>
                      </a:r>
                    </a:p>
                  </a:txBody>
                  <a:tcPr anchor="ctr" marL="73152" marR="73152" marT="27432" marB="27432">
                    <a:solidFill>
                      <a:srgbClr val="FFFFFF"/>
                    </a:solidFill>
                  </a:tcPr>
                </a:tc>
              </a:tr>
              <a:tr h="261850">
                <a:tc>
                  <a:txBody>
                    <a:bodyPr/>
                    <a:lstStyle/>
                    <a:p>
                      <a:pPr algn="l">
                        <a:defRPr sz="819" b="1">
                          <a:solidFill>
                            <a:srgbClr val="0F172A"/>
                          </a:solidFill>
                          <a:latin typeface="Segoe UI"/>
                        </a:defRPr>
                      </a:pPr>
                      <a:r>
                        <a:t>256</a:t>
                      </a:r>
                    </a:p>
                  </a:txBody>
                  <a:tcPr anchor="ctr" marL="73152" marR="73152" marT="27432" marB="27432">
                    <a:solidFill>
                      <a:srgbClr val="F1F5F9"/>
                    </a:solidFill>
                  </a:tcPr>
                </a:tc>
                <a:tc>
                  <a:txBody>
                    <a:bodyPr/>
                    <a:lstStyle/>
                    <a:p>
                      <a:pPr algn="r">
                        <a:defRPr sz="819" b="0">
                          <a:solidFill>
                            <a:srgbClr val="0F172A"/>
                          </a:solidFill>
                          <a:latin typeface="Segoe UI"/>
                        </a:defRPr>
                      </a:pPr>
                      <a:r>
                        <a:t>V1 → E1</a:t>
                      </a:r>
                    </a:p>
                  </a:txBody>
                  <a:tcPr anchor="ctr" marL="73152" marR="73152" marT="27432" marB="27432">
                    <a:solidFill>
                      <a:srgbClr val="F1F5F9"/>
                    </a:solidFill>
                  </a:tcPr>
                </a:tc>
                <a:tc>
                  <a:txBody>
                    <a:bodyPr/>
                    <a:lstStyle/>
                    <a:p>
                      <a:pPr algn="r">
                        <a:defRPr sz="819" b="0">
                          <a:solidFill>
                            <a:srgbClr val="0F172A"/>
                          </a:solidFill>
                          <a:latin typeface="Segoe UI"/>
                        </a:defRPr>
                      </a:pPr>
                      <a:r>
                        <a:t>1.257490</a:t>
                      </a:r>
                    </a:p>
                  </a:txBody>
                  <a:tcPr anchor="ctr" marL="73152" marR="73152" marT="27432" marB="27432">
                    <a:solidFill>
                      <a:srgbClr val="F1F5F9"/>
                    </a:solidFill>
                  </a:tcPr>
                </a:tc>
                <a:tc>
                  <a:txBody>
                    <a:bodyPr/>
                    <a:lstStyle/>
                    <a:p>
                      <a:pPr algn="r">
                        <a:defRPr sz="819" b="0">
                          <a:solidFill>
                            <a:srgbClr val="0F172A"/>
                          </a:solidFill>
                          <a:latin typeface="Segoe UI"/>
                        </a:defRPr>
                      </a:pPr>
                      <a:r>
                        <a:t>1.256730</a:t>
                      </a:r>
                    </a:p>
                  </a:txBody>
                  <a:tcPr anchor="ctr" marL="73152" marR="73152" marT="27432" marB="27432">
                    <a:solidFill>
                      <a:srgbClr val="F1F5F9"/>
                    </a:solidFill>
                  </a:tcPr>
                </a:tc>
                <a:tc>
                  <a:txBody>
                    <a:bodyPr/>
                    <a:lstStyle/>
                    <a:p>
                      <a:pPr algn="r">
                        <a:defRPr sz="819" b="0">
                          <a:solidFill>
                            <a:srgbClr val="0F172A"/>
                          </a:solidFill>
                          <a:latin typeface="Segoe UI"/>
                        </a:defRPr>
                      </a:pPr>
                      <a:r>
                        <a:t>0.538014</a:t>
                      </a:r>
                    </a:p>
                  </a:txBody>
                  <a:tcPr anchor="ctr" marL="73152" marR="73152" marT="27432" marB="27432">
                    <a:solidFill>
                      <a:srgbClr val="F1F5F9"/>
                    </a:solidFill>
                  </a:tcPr>
                </a:tc>
                <a:tc>
                  <a:txBody>
                    <a:bodyPr/>
                    <a:lstStyle/>
                    <a:p>
                      <a:pPr algn="l">
                        <a:defRPr sz="819" b="0">
                          <a:solidFill>
                            <a:srgbClr val="0F172A"/>
                          </a:solidFill>
                          <a:latin typeface="Segoe UI"/>
                        </a:defRPr>
                      </a:pPr>
                      <a:r>
                        <a:t>Chéo ngữ liệu: BPE phình to</a:t>
                      </a:r>
                    </a:p>
                  </a:txBody>
                  <a:tcPr anchor="ctr" marL="73152" marR="73152" marT="27432" marB="27432">
                    <a:solidFill>
                      <a:srgbClr val="F1F5F9"/>
                    </a:solidFill>
                  </a:tcPr>
                </a:tc>
              </a:tr>
              <a:tr h="261850">
                <a:tc>
                  <a:txBody>
                    <a:bodyPr/>
                    <a:lstStyle/>
                    <a:p>
                      <a:pPr algn="l">
                        <a:defRPr sz="819" b="1">
                          <a:solidFill>
                            <a:srgbClr val="0F172A"/>
                          </a:solidFill>
                          <a:latin typeface="Segoe UI"/>
                        </a:defRPr>
                      </a:pPr>
                      <a:r>
                        <a:t>256</a:t>
                      </a:r>
                    </a:p>
                  </a:txBody>
                  <a:tcPr anchor="ctr" marL="73152" marR="73152" marT="27432" marB="27432">
                    <a:solidFill>
                      <a:srgbClr val="FFFFFF"/>
                    </a:solidFill>
                  </a:tcPr>
                </a:tc>
                <a:tc>
                  <a:txBody>
                    <a:bodyPr/>
                    <a:lstStyle/>
                    <a:p>
                      <a:pPr algn="r">
                        <a:defRPr sz="819" b="0">
                          <a:solidFill>
                            <a:srgbClr val="0F172A"/>
                          </a:solidFill>
                          <a:latin typeface="Segoe UI"/>
                        </a:defRPr>
                      </a:pPr>
                      <a:r>
                        <a:t>E1 → V1</a:t>
                      </a:r>
                    </a:p>
                  </a:txBody>
                  <a:tcPr anchor="ctr" marL="73152" marR="73152" marT="27432" marB="27432">
                    <a:solidFill>
                      <a:srgbClr val="FFFFFF"/>
                    </a:solidFill>
                  </a:tcPr>
                </a:tc>
                <a:tc>
                  <a:txBody>
                    <a:bodyPr/>
                    <a:lstStyle/>
                    <a:p>
                      <a:pPr algn="r">
                        <a:defRPr sz="819" b="0">
                          <a:solidFill>
                            <a:srgbClr val="0F172A"/>
                          </a:solidFill>
                          <a:latin typeface="Segoe UI"/>
                        </a:defRPr>
                      </a:pPr>
                      <a:r>
                        <a:t>1.219690</a:t>
                      </a:r>
                    </a:p>
                  </a:txBody>
                  <a:tcPr anchor="ctr" marL="73152" marR="73152" marT="27432" marB="27432">
                    <a:solidFill>
                      <a:srgbClr val="FFFFFF"/>
                    </a:solidFill>
                  </a:tcPr>
                </a:tc>
                <a:tc>
                  <a:txBody>
                    <a:bodyPr/>
                    <a:lstStyle/>
                    <a:p>
                      <a:pPr algn="r">
                        <a:defRPr sz="819" b="0">
                          <a:solidFill>
                            <a:srgbClr val="0F172A"/>
                          </a:solidFill>
                          <a:latin typeface="Segoe UI"/>
                        </a:defRPr>
                      </a:pPr>
                      <a:r>
                        <a:t>1.218940</a:t>
                      </a:r>
                    </a:p>
                  </a:txBody>
                  <a:tcPr anchor="ctr" marL="73152" marR="73152" marT="27432" marB="27432">
                    <a:solidFill>
                      <a:srgbClr val="FFFFFF"/>
                    </a:solidFill>
                  </a:tcPr>
                </a:tc>
                <a:tc>
                  <a:txBody>
                    <a:bodyPr/>
                    <a:lstStyle/>
                    <a:p>
                      <a:pPr algn="r">
                        <a:defRPr sz="819" b="0">
                          <a:solidFill>
                            <a:srgbClr val="0F172A"/>
                          </a:solidFill>
                          <a:latin typeface="Segoe UI"/>
                        </a:defRPr>
                      </a:pPr>
                      <a:r>
                        <a:t>0.492817</a:t>
                      </a:r>
                    </a:p>
                  </a:txBody>
                  <a:tcPr anchor="ctr" marL="73152" marR="73152" marT="27432" marB="27432">
                    <a:solidFill>
                      <a:srgbClr val="FFFFFF"/>
                    </a:solidFill>
                  </a:tcPr>
                </a:tc>
                <a:tc>
                  <a:txBody>
                    <a:bodyPr/>
                    <a:lstStyle/>
                    <a:p>
                      <a:pPr algn="l">
                        <a:defRPr sz="819" b="0">
                          <a:solidFill>
                            <a:srgbClr val="0F172A"/>
                          </a:solidFill>
                          <a:latin typeface="Segoe UI"/>
                        </a:defRPr>
                      </a:pPr>
                      <a:r>
                        <a:t>Chéo ngữ liệu: BPE phình to</a:t>
                      </a:r>
                    </a:p>
                  </a:txBody>
                  <a:tcPr anchor="ctr" marL="73152" marR="73152" marT="27432" marB="27432">
                    <a:solidFill>
                      <a:srgbClr val="FFFFFF"/>
                    </a:solidFill>
                  </a:tcPr>
                </a:tc>
              </a:tr>
              <a:tr h="261850">
                <a:tc>
                  <a:txBody>
                    <a:bodyPr/>
                    <a:lstStyle/>
                    <a:p>
                      <a:pPr algn="l">
                        <a:defRPr sz="819" b="1">
                          <a:solidFill>
                            <a:srgbClr val="0F172A"/>
                          </a:solidFill>
                          <a:latin typeface="Segoe UI"/>
                        </a:defRPr>
                      </a:pPr>
                      <a:r>
                        <a:t>256</a:t>
                      </a:r>
                    </a:p>
                  </a:txBody>
                  <a:tcPr anchor="ctr" marL="73152" marR="73152" marT="27432" marB="27432">
                    <a:solidFill>
                      <a:srgbClr val="F1F5F9"/>
                    </a:solidFill>
                  </a:tcPr>
                </a:tc>
                <a:tc>
                  <a:txBody>
                    <a:bodyPr/>
                    <a:lstStyle/>
                    <a:p>
                      <a:pPr algn="r">
                        <a:defRPr sz="819" b="0">
                          <a:solidFill>
                            <a:srgbClr val="0F172A"/>
                          </a:solidFill>
                          <a:latin typeface="Segoe UI"/>
                        </a:defRPr>
                      </a:pPr>
                      <a:r>
                        <a:t>E1 → E1</a:t>
                      </a:r>
                    </a:p>
                  </a:txBody>
                  <a:tcPr anchor="ctr" marL="73152" marR="73152" marT="27432" marB="27432">
                    <a:solidFill>
                      <a:srgbClr val="F1F5F9"/>
                    </a:solidFill>
                  </a:tcPr>
                </a:tc>
                <a:tc>
                  <a:txBody>
                    <a:bodyPr/>
                    <a:lstStyle/>
                    <a:p>
                      <a:pPr algn="r">
                        <a:defRPr sz="819" b="0">
                          <a:solidFill>
                            <a:srgbClr val="0F172A"/>
                          </a:solidFill>
                          <a:latin typeface="Segoe UI"/>
                        </a:defRPr>
                      </a:pPr>
                      <a:r>
                        <a:t>0.747497</a:t>
                      </a:r>
                    </a:p>
                  </a:txBody>
                  <a:tcPr anchor="ctr" marL="73152" marR="73152" marT="27432" marB="27432">
                    <a:solidFill>
                      <a:srgbClr val="F1F5F9"/>
                    </a:solidFill>
                  </a:tcPr>
                </a:tc>
                <a:tc>
                  <a:txBody>
                    <a:bodyPr/>
                    <a:lstStyle/>
                    <a:p>
                      <a:pPr algn="r">
                        <a:defRPr sz="819" b="0">
                          <a:solidFill>
                            <a:srgbClr val="0F172A"/>
                          </a:solidFill>
                          <a:latin typeface="Segoe UI"/>
                        </a:defRPr>
                      </a:pPr>
                      <a:r>
                        <a:t>0.746743</a:t>
                      </a:r>
                    </a:p>
                  </a:txBody>
                  <a:tcPr anchor="ctr" marL="73152" marR="73152" marT="27432" marB="27432">
                    <a:solidFill>
                      <a:srgbClr val="F1F5F9"/>
                    </a:solidFill>
                  </a:tcPr>
                </a:tc>
                <a:tc>
                  <a:txBody>
                    <a:bodyPr/>
                    <a:lstStyle/>
                    <a:p>
                      <a:pPr algn="r">
                        <a:defRPr sz="819" b="0">
                          <a:solidFill>
                            <a:srgbClr val="0F172A"/>
                          </a:solidFill>
                          <a:latin typeface="Segoe UI"/>
                        </a:defRPr>
                      </a:pPr>
                      <a:r>
                        <a:t>0.538014</a:t>
                      </a:r>
                    </a:p>
                  </a:txBody>
                  <a:tcPr anchor="ctr" marL="73152" marR="73152" marT="27432" marB="27432">
                    <a:solidFill>
                      <a:srgbClr val="F1F5F9"/>
                    </a:solidFill>
                  </a:tcPr>
                </a:tc>
                <a:tc>
                  <a:txBody>
                    <a:bodyPr/>
                    <a:lstStyle/>
                    <a:p>
                      <a:pPr algn="l">
                        <a:defRPr sz="819" b="0">
                          <a:solidFill>
                            <a:srgbClr val="0F172A"/>
                          </a:solidFill>
                          <a:latin typeface="Segoe UI"/>
                        </a:defRPr>
                      </a:pPr>
                      <a:r>
                        <a:t>LZW tốt hơn</a:t>
                      </a:r>
                    </a:p>
                  </a:txBody>
                  <a:tcPr anchor="ctr" marL="73152" marR="73152" marT="27432" marB="27432">
                    <a:solidFill>
                      <a:srgbClr val="F1F5F9"/>
                    </a:solidFill>
                  </a:tcPr>
                </a:tc>
              </a:tr>
              <a:tr h="261850">
                <a:tc>
                  <a:txBody>
                    <a:bodyPr/>
                    <a:lstStyle/>
                    <a:p>
                      <a:pPr algn="l">
                        <a:defRPr sz="819" b="1">
                          <a:solidFill>
                            <a:srgbClr val="0F172A"/>
                          </a:solidFill>
                          <a:latin typeface="Segoe UI"/>
                        </a:defRPr>
                      </a:pPr>
                      <a:r>
                        <a:t>1024</a:t>
                      </a:r>
                    </a:p>
                  </a:txBody>
                  <a:tcPr anchor="ctr" marL="73152" marR="73152" marT="27432" marB="27432">
                    <a:solidFill>
                      <a:srgbClr val="FFFFFF"/>
                    </a:solidFill>
                  </a:tcPr>
                </a:tc>
                <a:tc>
                  <a:txBody>
                    <a:bodyPr/>
                    <a:lstStyle/>
                    <a:p>
                      <a:pPr algn="r">
                        <a:defRPr sz="819" b="0">
                          <a:solidFill>
                            <a:srgbClr val="0F172A"/>
                          </a:solidFill>
                          <a:latin typeface="Segoe UI"/>
                        </a:defRPr>
                      </a:pPr>
                      <a:r>
                        <a:t>V1 → V1</a:t>
                      </a:r>
                    </a:p>
                  </a:txBody>
                  <a:tcPr anchor="ctr" marL="73152" marR="73152" marT="27432" marB="27432">
                    <a:solidFill>
                      <a:srgbClr val="FFFFFF"/>
                    </a:solidFill>
                  </a:tcPr>
                </a:tc>
                <a:tc>
                  <a:txBody>
                    <a:bodyPr/>
                    <a:lstStyle/>
                    <a:p>
                      <a:pPr algn="r">
                        <a:defRPr sz="819" b="0">
                          <a:solidFill>
                            <a:srgbClr val="0F172A"/>
                          </a:solidFill>
                          <a:latin typeface="Segoe UI"/>
                        </a:defRPr>
                      </a:pPr>
                      <a:r>
                        <a:t>0.409581</a:t>
                      </a:r>
                    </a:p>
                  </a:txBody>
                  <a:tcPr anchor="ctr" marL="73152" marR="73152" marT="27432" marB="27432">
                    <a:solidFill>
                      <a:srgbClr val="FFFFFF"/>
                    </a:solidFill>
                  </a:tcPr>
                </a:tc>
                <a:tc>
                  <a:txBody>
                    <a:bodyPr/>
                    <a:lstStyle/>
                    <a:p>
                      <a:pPr algn="r">
                        <a:defRPr sz="819" b="0">
                          <a:solidFill>
                            <a:srgbClr val="0F172A"/>
                          </a:solidFill>
                          <a:latin typeface="Segoe UI"/>
                        </a:defRPr>
                      </a:pPr>
                      <a:r>
                        <a:t>0.406631</a:t>
                      </a:r>
                    </a:p>
                  </a:txBody>
                  <a:tcPr anchor="ctr" marL="73152" marR="73152" marT="27432" marB="27432">
                    <a:solidFill>
                      <a:srgbClr val="FFFFFF"/>
                    </a:solidFill>
                  </a:tcPr>
                </a:tc>
                <a:tc>
                  <a:txBody>
                    <a:bodyPr/>
                    <a:lstStyle/>
                    <a:p>
                      <a:pPr algn="r">
                        <a:defRPr sz="819" b="0">
                          <a:solidFill>
                            <a:srgbClr val="0F172A"/>
                          </a:solidFill>
                          <a:latin typeface="Segoe UI"/>
                        </a:defRPr>
                      </a:pPr>
                      <a:r>
                        <a:t>0.492817</a:t>
                      </a:r>
                    </a:p>
                  </a:txBody>
                  <a:tcPr anchor="ctr" marL="73152" marR="73152" marT="27432" marB="27432">
                    <a:solidFill>
                      <a:srgbClr val="FFFFFF"/>
                    </a:solidFill>
                  </a:tcPr>
                </a:tc>
                <a:tc>
                  <a:txBody>
                    <a:bodyPr/>
                    <a:lstStyle/>
                    <a:p>
                      <a:pPr algn="r">
                        <a:defRPr sz="819" b="0">
                          <a:solidFill>
                            <a:srgbClr val="0F172A"/>
                          </a:solidFill>
                          <a:latin typeface="Segoe UI"/>
                        </a:defRPr>
                      </a:pPr>
                      <a:r>
                        <a:t>BPE vượt LZW (+16.9%)</a:t>
                      </a:r>
                    </a:p>
                  </a:txBody>
                  <a:tcPr anchor="ctr" marL="73152" marR="73152" marT="27432" marB="27432">
                    <a:solidFill>
                      <a:srgbClr val="FFFFFF"/>
                    </a:solidFill>
                  </a:tcPr>
                </a:tc>
              </a:tr>
              <a:tr h="261850">
                <a:tc>
                  <a:txBody>
                    <a:bodyPr/>
                    <a:lstStyle/>
                    <a:p>
                      <a:pPr algn="l">
                        <a:defRPr sz="819" b="1">
                          <a:solidFill>
                            <a:srgbClr val="0F172A"/>
                          </a:solidFill>
                          <a:latin typeface="Segoe UI"/>
                        </a:defRPr>
                      </a:pPr>
                      <a:r>
                        <a:t>1024</a:t>
                      </a:r>
                    </a:p>
                  </a:txBody>
                  <a:tcPr anchor="ctr" marL="73152" marR="73152" marT="27432" marB="27432">
                    <a:solidFill>
                      <a:srgbClr val="F1F5F9"/>
                    </a:solidFill>
                  </a:tcPr>
                </a:tc>
                <a:tc>
                  <a:txBody>
                    <a:bodyPr/>
                    <a:lstStyle/>
                    <a:p>
                      <a:pPr algn="r">
                        <a:defRPr sz="819" b="0">
                          <a:solidFill>
                            <a:srgbClr val="0F172A"/>
                          </a:solidFill>
                          <a:latin typeface="Segoe UI"/>
                        </a:defRPr>
                      </a:pPr>
                      <a:r>
                        <a:t>E1 → E1</a:t>
                      </a:r>
                    </a:p>
                  </a:txBody>
                  <a:tcPr anchor="ctr" marL="73152" marR="73152" marT="27432" marB="27432">
                    <a:solidFill>
                      <a:srgbClr val="F1F5F9"/>
                    </a:solidFill>
                  </a:tcPr>
                </a:tc>
                <a:tc>
                  <a:txBody>
                    <a:bodyPr/>
                    <a:lstStyle/>
                    <a:p>
                      <a:pPr algn="r">
                        <a:defRPr sz="819" b="0">
                          <a:solidFill>
                            <a:srgbClr val="0F172A"/>
                          </a:solidFill>
                          <a:latin typeface="Segoe UI"/>
                        </a:defRPr>
                      </a:pPr>
                      <a:r>
                        <a:t>0.581138</a:t>
                      </a:r>
                    </a:p>
                  </a:txBody>
                  <a:tcPr anchor="ctr" marL="73152" marR="73152" marT="27432" marB="27432">
                    <a:solidFill>
                      <a:srgbClr val="F1F5F9"/>
                    </a:solidFill>
                  </a:tcPr>
                </a:tc>
                <a:tc>
                  <a:txBody>
                    <a:bodyPr/>
                    <a:lstStyle/>
                    <a:p>
                      <a:pPr algn="r">
                        <a:defRPr sz="819" b="0">
                          <a:solidFill>
                            <a:srgbClr val="0F172A"/>
                          </a:solidFill>
                          <a:latin typeface="Segoe UI"/>
                        </a:defRPr>
                      </a:pPr>
                      <a:r>
                        <a:t>0.578187</a:t>
                      </a:r>
                    </a:p>
                  </a:txBody>
                  <a:tcPr anchor="ctr" marL="73152" marR="73152" marT="27432" marB="27432">
                    <a:solidFill>
                      <a:srgbClr val="F1F5F9"/>
                    </a:solidFill>
                  </a:tcPr>
                </a:tc>
                <a:tc>
                  <a:txBody>
                    <a:bodyPr/>
                    <a:lstStyle/>
                    <a:p>
                      <a:pPr algn="r">
                        <a:defRPr sz="819" b="0">
                          <a:solidFill>
                            <a:srgbClr val="0F172A"/>
                          </a:solidFill>
                          <a:latin typeface="Segoe UI"/>
                        </a:defRPr>
                      </a:pPr>
                      <a:r>
                        <a:t>0.538014</a:t>
                      </a:r>
                    </a:p>
                  </a:txBody>
                  <a:tcPr anchor="ctr" marL="73152" marR="73152" marT="27432" marB="27432">
                    <a:solidFill>
                      <a:srgbClr val="F1F5F9"/>
                    </a:solidFill>
                  </a:tcPr>
                </a:tc>
                <a:tc>
                  <a:txBody>
                    <a:bodyPr/>
                    <a:lstStyle/>
                    <a:p>
                      <a:pPr algn="l">
                        <a:defRPr sz="819" b="0">
                          <a:solidFill>
                            <a:srgbClr val="0F172A"/>
                          </a:solidFill>
                          <a:latin typeface="Segoe UI"/>
                        </a:defRPr>
                      </a:pPr>
                      <a:r>
                        <a:t>BPE xấp xỉ LZW</a:t>
                      </a:r>
                    </a:p>
                  </a:txBody>
                  <a:tcPr anchor="ctr" marL="73152" marR="73152" marT="27432" marB="27432">
                    <a:solidFill>
                      <a:srgbClr val="F1F5F9"/>
                    </a:solidFill>
                  </a:tcPr>
                </a:tc>
              </a:tr>
              <a:tr h="261850">
                <a:tc>
                  <a:txBody>
                    <a:bodyPr/>
                    <a:lstStyle/>
                    <a:p>
                      <a:pPr algn="l">
                        <a:defRPr sz="819" b="1">
                          <a:solidFill>
                            <a:srgbClr val="1D4ED8"/>
                          </a:solidFill>
                          <a:latin typeface="Segoe UI"/>
                        </a:defRPr>
                      </a:pPr>
                      <a:r>
                        <a:t>3840</a:t>
                      </a:r>
                    </a:p>
                  </a:txBody>
                  <a:tcPr anchor="ctr" marL="73152" marR="73152" marT="27432" marB="27432">
                    <a:solidFill>
                      <a:srgbClr val="EFF6FF"/>
                    </a:solidFill>
                  </a:tcPr>
                </a:tc>
                <a:tc>
                  <a:txBody>
                    <a:bodyPr/>
                    <a:lstStyle/>
                    <a:p>
                      <a:pPr algn="r">
                        <a:defRPr sz="819" b="1">
                          <a:solidFill>
                            <a:srgbClr val="1D4ED8"/>
                          </a:solidFill>
                          <a:latin typeface="Segoe UI"/>
                        </a:defRPr>
                      </a:pPr>
                      <a:r>
                        <a:t>V1 → V1</a:t>
                      </a:r>
                    </a:p>
                  </a:txBody>
                  <a:tcPr anchor="ctr" marL="73152" marR="73152" marT="27432" marB="27432">
                    <a:solidFill>
                      <a:srgbClr val="EFF6FF"/>
                    </a:solidFill>
                  </a:tcPr>
                </a:tc>
                <a:tc>
                  <a:txBody>
                    <a:bodyPr/>
                    <a:lstStyle/>
                    <a:p>
                      <a:pPr algn="r">
                        <a:defRPr sz="819" b="1">
                          <a:solidFill>
                            <a:srgbClr val="1D4ED8"/>
                          </a:solidFill>
                          <a:latin typeface="Segoe UI"/>
                        </a:defRPr>
                      </a:pPr>
                      <a:r>
                        <a:t>0.332326</a:t>
                      </a:r>
                    </a:p>
                  </a:txBody>
                  <a:tcPr anchor="ctr" marL="73152" marR="73152" marT="27432" marB="27432">
                    <a:solidFill>
                      <a:srgbClr val="EFF6FF"/>
                    </a:solidFill>
                  </a:tcPr>
                </a:tc>
                <a:tc>
                  <a:txBody>
                    <a:bodyPr/>
                    <a:lstStyle/>
                    <a:p>
                      <a:pPr algn="r">
                        <a:defRPr sz="819" b="1">
                          <a:solidFill>
                            <a:srgbClr val="1D4ED8"/>
                          </a:solidFill>
                          <a:latin typeface="Segoe UI"/>
                        </a:defRPr>
                      </a:pPr>
                      <a:r>
                        <a:t>0.321319</a:t>
                      </a:r>
                    </a:p>
                  </a:txBody>
                  <a:tcPr anchor="ctr" marL="73152" marR="73152" marT="27432" marB="27432">
                    <a:solidFill>
                      <a:srgbClr val="EFF6FF"/>
                    </a:solidFill>
                  </a:tcPr>
                </a:tc>
                <a:tc>
                  <a:txBody>
                    <a:bodyPr/>
                    <a:lstStyle/>
                    <a:p>
                      <a:pPr algn="r">
                        <a:defRPr sz="819" b="1">
                          <a:solidFill>
                            <a:srgbClr val="1D4ED8"/>
                          </a:solidFill>
                          <a:latin typeface="Segoe UI"/>
                        </a:defRPr>
                      </a:pPr>
                      <a:r>
                        <a:t>0.492817</a:t>
                      </a:r>
                    </a:p>
                  </a:txBody>
                  <a:tcPr anchor="ctr" marL="73152" marR="73152" marT="27432" marB="27432">
                    <a:solidFill>
                      <a:srgbClr val="EFF6FF"/>
                    </a:solidFill>
                  </a:tcPr>
                </a:tc>
                <a:tc>
                  <a:txBody>
                    <a:bodyPr/>
                    <a:lstStyle/>
                    <a:p>
                      <a:pPr algn="r">
                        <a:defRPr sz="819" b="1">
                          <a:solidFill>
                            <a:srgbClr val="1D4ED8"/>
                          </a:solidFill>
                          <a:latin typeface="Segoe UI"/>
                        </a:defRPr>
                      </a:pPr>
                      <a:r>
                        <a:t>BPE THẮNG ÁP ĐẢO (Nhỏ hơn 32.6%)</a:t>
                      </a:r>
                    </a:p>
                  </a:txBody>
                  <a:tcPr anchor="ctr" marL="73152" marR="73152" marT="27432" marB="27432">
                    <a:solidFill>
                      <a:srgbClr val="EFF6FF"/>
                    </a:solidFill>
                  </a:tcPr>
                </a:tc>
              </a:tr>
              <a:tr h="261850">
                <a:tc>
                  <a:txBody>
                    <a:bodyPr/>
                    <a:lstStyle/>
                    <a:p>
                      <a:pPr algn="l">
                        <a:defRPr sz="819" b="1">
                          <a:solidFill>
                            <a:srgbClr val="0F172A"/>
                          </a:solidFill>
                          <a:latin typeface="Segoe UI"/>
                        </a:defRPr>
                      </a:pPr>
                      <a:r>
                        <a:t>3840</a:t>
                      </a:r>
                    </a:p>
                  </a:txBody>
                  <a:tcPr anchor="ctr" marL="73152" marR="73152" marT="27432" marB="27432">
                    <a:solidFill>
                      <a:srgbClr val="F1F5F9"/>
                    </a:solidFill>
                  </a:tcPr>
                </a:tc>
                <a:tc>
                  <a:txBody>
                    <a:bodyPr/>
                    <a:lstStyle/>
                    <a:p>
                      <a:pPr algn="r">
                        <a:defRPr sz="819" b="0">
                          <a:solidFill>
                            <a:srgbClr val="0F172A"/>
                          </a:solidFill>
                          <a:latin typeface="Segoe UI"/>
                        </a:defRPr>
                      </a:pPr>
                      <a:r>
                        <a:t>V1 → E1</a:t>
                      </a:r>
                    </a:p>
                  </a:txBody>
                  <a:tcPr anchor="ctr" marL="73152" marR="73152" marT="27432" marB="27432">
                    <a:solidFill>
                      <a:srgbClr val="F1F5F9"/>
                    </a:solidFill>
                  </a:tcPr>
                </a:tc>
                <a:tc>
                  <a:txBody>
                    <a:bodyPr/>
                    <a:lstStyle/>
                    <a:p>
                      <a:pPr algn="r">
                        <a:defRPr sz="819" b="0">
                          <a:solidFill>
                            <a:srgbClr val="0F172A"/>
                          </a:solidFill>
                          <a:latin typeface="Segoe UI"/>
                        </a:defRPr>
                      </a:pPr>
                      <a:r>
                        <a:t>0.775084</a:t>
                      </a:r>
                    </a:p>
                  </a:txBody>
                  <a:tcPr anchor="ctr" marL="73152" marR="73152" marT="27432" marB="27432">
                    <a:solidFill>
                      <a:srgbClr val="F1F5F9"/>
                    </a:solidFill>
                  </a:tcPr>
                </a:tc>
                <a:tc>
                  <a:txBody>
                    <a:bodyPr/>
                    <a:lstStyle/>
                    <a:p>
                      <a:pPr algn="r">
                        <a:defRPr sz="819" b="0">
                          <a:solidFill>
                            <a:srgbClr val="0F172A"/>
                          </a:solidFill>
                          <a:latin typeface="Segoe UI"/>
                        </a:defRPr>
                      </a:pPr>
                      <a:r>
                        <a:t>0.764076</a:t>
                      </a:r>
                    </a:p>
                  </a:txBody>
                  <a:tcPr anchor="ctr" marL="73152" marR="73152" marT="27432" marB="27432">
                    <a:solidFill>
                      <a:srgbClr val="F1F5F9"/>
                    </a:solidFill>
                  </a:tcPr>
                </a:tc>
                <a:tc>
                  <a:txBody>
                    <a:bodyPr/>
                    <a:lstStyle/>
                    <a:p>
                      <a:pPr algn="r">
                        <a:defRPr sz="819" b="0">
                          <a:solidFill>
                            <a:srgbClr val="0F172A"/>
                          </a:solidFill>
                          <a:latin typeface="Segoe UI"/>
                        </a:defRPr>
                      </a:pPr>
                      <a:r>
                        <a:t>0.538014</a:t>
                      </a:r>
                    </a:p>
                  </a:txBody>
                  <a:tcPr anchor="ctr" marL="73152" marR="73152" marT="27432" marB="27432">
                    <a:solidFill>
                      <a:srgbClr val="F1F5F9"/>
                    </a:solidFill>
                  </a:tcPr>
                </a:tc>
                <a:tc>
                  <a:txBody>
                    <a:bodyPr/>
                    <a:lstStyle/>
                    <a:p>
                      <a:pPr algn="l">
                        <a:defRPr sz="819" b="0">
                          <a:solidFill>
                            <a:srgbClr val="0F172A"/>
                          </a:solidFill>
                          <a:latin typeface="Segoe UI"/>
                        </a:defRPr>
                      </a:pPr>
                      <a:r>
                        <a:t>Chéo ngữ liệu kém LZW</a:t>
                      </a:r>
                    </a:p>
                  </a:txBody>
                  <a:tcPr anchor="ctr" marL="73152" marR="73152" marT="27432" marB="27432">
                    <a:solidFill>
                      <a:srgbClr val="F1F5F9"/>
                    </a:solidFill>
                  </a:tcPr>
                </a:tc>
              </a:tr>
              <a:tr h="261850">
                <a:tc>
                  <a:txBody>
                    <a:bodyPr/>
                    <a:lstStyle/>
                    <a:p>
                      <a:pPr algn="l">
                        <a:defRPr sz="819" b="1">
                          <a:solidFill>
                            <a:srgbClr val="0F172A"/>
                          </a:solidFill>
                          <a:latin typeface="Segoe UI"/>
                        </a:defRPr>
                      </a:pPr>
                      <a:r>
                        <a:t>3840</a:t>
                      </a:r>
                    </a:p>
                  </a:txBody>
                  <a:tcPr anchor="ctr" marL="73152" marR="73152" marT="27432" marB="27432">
                    <a:solidFill>
                      <a:srgbClr val="FFFFFF"/>
                    </a:solidFill>
                  </a:tcPr>
                </a:tc>
                <a:tc>
                  <a:txBody>
                    <a:bodyPr/>
                    <a:lstStyle/>
                    <a:p>
                      <a:pPr algn="r">
                        <a:defRPr sz="819" b="0">
                          <a:solidFill>
                            <a:srgbClr val="0F172A"/>
                          </a:solidFill>
                          <a:latin typeface="Segoe UI"/>
                        </a:defRPr>
                      </a:pPr>
                      <a:r>
                        <a:t>E1 → V1</a:t>
                      </a:r>
                    </a:p>
                  </a:txBody>
                  <a:tcPr anchor="ctr" marL="73152" marR="73152" marT="27432" marB="27432">
                    <a:solidFill>
                      <a:srgbClr val="FFFFFF"/>
                    </a:solidFill>
                  </a:tcPr>
                </a:tc>
                <a:tc>
                  <a:txBody>
                    <a:bodyPr/>
                    <a:lstStyle/>
                    <a:p>
                      <a:pPr algn="r">
                        <a:defRPr sz="819" b="0">
                          <a:solidFill>
                            <a:srgbClr val="0F172A"/>
                          </a:solidFill>
                          <a:latin typeface="Segoe UI"/>
                        </a:defRPr>
                      </a:pPr>
                      <a:r>
                        <a:t>1.149490</a:t>
                      </a:r>
                    </a:p>
                  </a:txBody>
                  <a:tcPr anchor="ctr" marL="73152" marR="73152" marT="27432" marB="27432">
                    <a:solidFill>
                      <a:srgbClr val="FFFFFF"/>
                    </a:solidFill>
                  </a:tcPr>
                </a:tc>
                <a:tc>
                  <a:txBody>
                    <a:bodyPr/>
                    <a:lstStyle/>
                    <a:p>
                      <a:pPr algn="r">
                        <a:defRPr sz="819" b="0">
                          <a:solidFill>
                            <a:srgbClr val="0F172A"/>
                          </a:solidFill>
                          <a:latin typeface="Segoe UI"/>
                        </a:defRPr>
                      </a:pPr>
                      <a:r>
                        <a:t>1.138480</a:t>
                      </a:r>
                    </a:p>
                  </a:txBody>
                  <a:tcPr anchor="ctr" marL="73152" marR="73152" marT="27432" marB="27432">
                    <a:solidFill>
                      <a:srgbClr val="FFFFFF"/>
                    </a:solidFill>
                  </a:tcPr>
                </a:tc>
                <a:tc>
                  <a:txBody>
                    <a:bodyPr/>
                    <a:lstStyle/>
                    <a:p>
                      <a:pPr algn="r">
                        <a:defRPr sz="819" b="0">
                          <a:solidFill>
                            <a:srgbClr val="0F172A"/>
                          </a:solidFill>
                          <a:latin typeface="Segoe UI"/>
                        </a:defRPr>
                      </a:pPr>
                      <a:r>
                        <a:t>0.492817</a:t>
                      </a:r>
                    </a:p>
                  </a:txBody>
                  <a:tcPr anchor="ctr" marL="73152" marR="73152" marT="27432" marB="27432">
                    <a:solidFill>
                      <a:srgbClr val="FFFFFF"/>
                    </a:solidFill>
                  </a:tcPr>
                </a:tc>
                <a:tc>
                  <a:txBody>
                    <a:bodyPr/>
                    <a:lstStyle/>
                    <a:p>
                      <a:pPr algn="r">
                        <a:defRPr sz="819" b="0">
                          <a:solidFill>
                            <a:srgbClr val="0F172A"/>
                          </a:solidFill>
                          <a:latin typeface="Segoe UI"/>
                        </a:defRPr>
                      </a:pPr>
                      <a:r>
                        <a:t>Phình to: E1 không có merge tiếng Việt</a:t>
                      </a:r>
                    </a:p>
                  </a:txBody>
                  <a:tcPr anchor="ctr" marL="73152" marR="73152" marT="27432" marB="27432">
                    <a:solidFill>
                      <a:srgbClr val="FFFFFF"/>
                    </a:solidFill>
                  </a:tcPr>
                </a:tc>
              </a:tr>
              <a:tr h="261860">
                <a:tc>
                  <a:txBody>
                    <a:bodyPr/>
                    <a:lstStyle/>
                    <a:p>
                      <a:pPr algn="l">
                        <a:defRPr sz="819" b="1">
                          <a:solidFill>
                            <a:srgbClr val="0F172A"/>
                          </a:solidFill>
                          <a:latin typeface="Segoe UI"/>
                        </a:defRPr>
                      </a:pPr>
                      <a:r>
                        <a:t>3840</a:t>
                      </a:r>
                    </a:p>
                  </a:txBody>
                  <a:tcPr anchor="ctr" marL="73152" marR="73152" marT="27432" marB="27432">
                    <a:solidFill>
                      <a:srgbClr val="F1F5F9"/>
                    </a:solidFill>
                  </a:tcPr>
                </a:tc>
                <a:tc>
                  <a:txBody>
                    <a:bodyPr/>
                    <a:lstStyle/>
                    <a:p>
                      <a:pPr algn="r">
                        <a:defRPr sz="819" b="0">
                          <a:solidFill>
                            <a:srgbClr val="0F172A"/>
                          </a:solidFill>
                          <a:latin typeface="Segoe UI"/>
                        </a:defRPr>
                      </a:pPr>
                      <a:r>
                        <a:t>E1 → E1</a:t>
                      </a:r>
                    </a:p>
                  </a:txBody>
                  <a:tcPr anchor="ctr" marL="73152" marR="73152" marT="27432" marB="27432">
                    <a:solidFill>
                      <a:srgbClr val="F1F5F9"/>
                    </a:solidFill>
                  </a:tcPr>
                </a:tc>
                <a:tc>
                  <a:txBody>
                    <a:bodyPr/>
                    <a:lstStyle/>
                    <a:p>
                      <a:pPr algn="r">
                        <a:defRPr sz="819" b="0">
                          <a:solidFill>
                            <a:srgbClr val="0F172A"/>
                          </a:solidFill>
                          <a:latin typeface="Segoe UI"/>
                        </a:defRPr>
                      </a:pPr>
                      <a:r>
                        <a:t>0.464467</a:t>
                      </a:r>
                    </a:p>
                  </a:txBody>
                  <a:tcPr anchor="ctr" marL="73152" marR="73152" marT="27432" marB="27432">
                    <a:solidFill>
                      <a:srgbClr val="F1F5F9"/>
                    </a:solidFill>
                  </a:tcPr>
                </a:tc>
                <a:tc>
                  <a:txBody>
                    <a:bodyPr/>
                    <a:lstStyle/>
                    <a:p>
                      <a:pPr algn="r">
                        <a:defRPr sz="819" b="0">
                          <a:solidFill>
                            <a:srgbClr val="0F172A"/>
                          </a:solidFill>
                          <a:latin typeface="Segoe UI"/>
                        </a:defRPr>
                      </a:pPr>
                      <a:r>
                        <a:t>0.453460</a:t>
                      </a:r>
                    </a:p>
                  </a:txBody>
                  <a:tcPr anchor="ctr" marL="73152" marR="73152" marT="27432" marB="27432">
                    <a:solidFill>
                      <a:srgbClr val="F1F5F9"/>
                    </a:solidFill>
                  </a:tcPr>
                </a:tc>
                <a:tc>
                  <a:txBody>
                    <a:bodyPr/>
                    <a:lstStyle/>
                    <a:p>
                      <a:pPr algn="r">
                        <a:defRPr sz="819" b="0">
                          <a:solidFill>
                            <a:srgbClr val="0F172A"/>
                          </a:solidFill>
                          <a:latin typeface="Segoe UI"/>
                        </a:defRPr>
                      </a:pPr>
                      <a:r>
                        <a:t>0.538014</a:t>
                      </a:r>
                    </a:p>
                  </a:txBody>
                  <a:tcPr anchor="ctr" marL="73152" marR="73152" marT="27432" marB="27432">
                    <a:solidFill>
                      <a:srgbClr val="F1F5F9"/>
                    </a:solidFill>
                  </a:tcPr>
                </a:tc>
                <a:tc>
                  <a:txBody>
                    <a:bodyPr/>
                    <a:lstStyle/>
                    <a:p>
                      <a:pPr algn="r">
                        <a:defRPr sz="819" b="0">
                          <a:solidFill>
                            <a:srgbClr val="0F172A"/>
                          </a:solidFill>
                          <a:latin typeface="Segoe UI"/>
                        </a:defRPr>
                      </a:pPr>
                      <a:r>
                        <a:t>BPE THẮNG ÁP ĐẢO (Nhỏ hơn 13.7%)</a:t>
                      </a:r>
                    </a:p>
                  </a:txBody>
                  <a:tcPr anchor="ctr" marL="73152" marR="73152" marT="27432" marB="27432">
                    <a:solidFill>
                      <a:srgbClr val="F1F5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KẾT QUẢ RQ3.B</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Ma trận Tokenizer Việt–Anh 2×2 &amp; Hiện tượng Vỡ vụn Token</a:t>
            </a:r>
          </a:p>
          <a:p>
            <a:pPr>
              <a:spcBef>
                <a:spcPts val="200"/>
              </a:spcBef>
              <a:defRPr sz="1000">
                <a:solidFill>
                  <a:srgbClr val="64748B"/>
                </a:solidFill>
                <a:latin typeface="Segoe UI"/>
              </a:defRPr>
            </a:pPr>
            <a:r>
              <a:t>Tác động nghiêm trọng của việc dùng sai lệch ngôn ngữ huấn luyện tokenizer đến số lượng token</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11 / 17</a:t>
            </a:r>
          </a:p>
        </p:txBody>
      </p:sp>
      <p:sp>
        <p:nvSpPr>
          <p:cNvPr id="8" name="Rounded Rectangle 7"/>
          <p:cNvSpPr/>
          <p:nvPr/>
        </p:nvSpPr>
        <p:spPr>
          <a:xfrm>
            <a:off x="731520" y="1463040"/>
            <a:ext cx="566928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5303520" cy="320040"/>
          </a:xfrm>
          <a:prstGeom prst="rect">
            <a:avLst/>
          </a:prstGeom>
          <a:noFill/>
        </p:spPr>
        <p:txBody>
          <a:bodyPr wrap="none">
            <a:spAutoFit/>
          </a:bodyPr>
          <a:lstStyle/>
          <a:p>
            <a:pPr>
              <a:defRPr sz="1050" b="1">
                <a:solidFill>
                  <a:srgbClr val="0F172A"/>
                </a:solidFill>
                <a:latin typeface="Segoe UI"/>
              </a:defRPr>
            </a:pPr>
            <a:r>
              <a:t>Bảng V: Ma trận 2×2 tại K=3840 (Byte/token / Số token trên test 1 MiB)</a:t>
            </a:r>
          </a:p>
        </p:txBody>
      </p:sp>
      <p:graphicFrame>
        <p:nvGraphicFramePr>
          <p:cNvPr id="10" name="Table 9"/>
          <p:cNvGraphicFramePr>
            <a:graphicFrameLocks noGrp="1"/>
          </p:cNvGraphicFramePr>
          <p:nvPr/>
        </p:nvGraphicFramePr>
        <p:xfrm>
          <a:off x="914400" y="1965960"/>
          <a:ext cx="5303520" cy="1097280"/>
        </p:xfrm>
        <a:graphic>
          <a:graphicData uri="http://schemas.openxmlformats.org/drawingml/2006/table">
            <a:tbl>
              <a:tblPr firstRow="1" bandRow="1">
                <a:tableStyleId>{5C22544A-7EE6-4342-B048-85BDC9FD1C3A}</a:tableStyleId>
              </a:tblPr>
              <a:tblGrid>
                <a:gridCol w="2011680"/>
                <a:gridCol w="1828800"/>
                <a:gridCol w="1463040"/>
              </a:tblGrid>
              <a:tr h="365760">
                <a:tc>
                  <a:txBody>
                    <a:bodyPr/>
                    <a:lstStyle/>
                    <a:p>
                      <a:pPr algn="l">
                        <a:defRPr sz="850" b="1">
                          <a:solidFill>
                            <a:srgbClr val="FFFFFF"/>
                          </a:solidFill>
                          <a:latin typeface="Segoe UI"/>
                        </a:defRPr>
                      </a:pPr>
                      <a:r>
                        <a:t>Train Corpus</a:t>
                      </a:r>
                    </a:p>
                  </a:txBody>
                  <a:tcPr anchor="ctr" marL="73152" marR="73152" marT="36576" marB="36576">
                    <a:solidFill>
                      <a:srgbClr val="1E293B"/>
                    </a:solidFill>
                  </a:tcPr>
                </a:tc>
                <a:tc>
                  <a:txBody>
                    <a:bodyPr/>
                    <a:lstStyle/>
                    <a:p>
                      <a:pPr algn="ctr">
                        <a:defRPr sz="850" b="1">
                          <a:solidFill>
                            <a:srgbClr val="FFFFFF"/>
                          </a:solidFill>
                          <a:latin typeface="Segoe UI"/>
                        </a:defRPr>
                      </a:pPr>
                      <a:r>
                        <a:t>Test Tiếng Việt (V1)</a:t>
                      </a:r>
                    </a:p>
                  </a:txBody>
                  <a:tcPr anchor="ctr" marL="73152" marR="73152" marT="36576" marB="36576">
                    <a:solidFill>
                      <a:srgbClr val="1E293B"/>
                    </a:solidFill>
                  </a:tcPr>
                </a:tc>
                <a:tc>
                  <a:txBody>
                    <a:bodyPr/>
                    <a:lstStyle/>
                    <a:p>
                      <a:pPr algn="ctr">
                        <a:defRPr sz="850" b="1">
                          <a:solidFill>
                            <a:srgbClr val="FFFFFF"/>
                          </a:solidFill>
                          <a:latin typeface="Segoe UI"/>
                        </a:defRPr>
                      </a:pPr>
                      <a:r>
                        <a:t>Test Tiếng Anh (E1)</a:t>
                      </a:r>
                    </a:p>
                  </a:txBody>
                  <a:tcPr anchor="ctr" marL="73152" marR="73152" marT="36576" marB="36576">
                    <a:solidFill>
                      <a:srgbClr val="1E293B"/>
                    </a:solidFill>
                  </a:tcPr>
                </a:tc>
              </a:tr>
              <a:tr h="365760">
                <a:tc>
                  <a:txBody>
                    <a:bodyPr/>
                    <a:lstStyle/>
                    <a:p>
                      <a:pPr algn="l">
                        <a:defRPr sz="819" b="1">
                          <a:solidFill>
                            <a:srgbClr val="0F172A"/>
                          </a:solidFill>
                          <a:latin typeface="Segoe UI"/>
                        </a:defRPr>
                      </a:pPr>
                      <a:r>
                        <a:t>Train V1 (Wiki Tiếng Việt)</a:t>
                      </a:r>
                    </a:p>
                  </a:txBody>
                  <a:tcPr anchor="ctr" marL="73152" marR="73152" marT="27432" marB="27432">
                    <a:solidFill>
                      <a:srgbClr val="FFFFFF"/>
                    </a:solidFill>
                  </a:tcPr>
                </a:tc>
                <a:tc>
                  <a:txBody>
                    <a:bodyPr/>
                    <a:lstStyle/>
                    <a:p>
                      <a:pPr algn="r">
                        <a:defRPr sz="819" b="0">
                          <a:solidFill>
                            <a:srgbClr val="0F172A"/>
                          </a:solidFill>
                          <a:latin typeface="Segoe UI"/>
                        </a:defRPr>
                      </a:pPr>
                      <a:r>
                        <a:t>4.66826 / 224,618</a:t>
                      </a:r>
                    </a:p>
                  </a:txBody>
                  <a:tcPr anchor="ctr" marL="73152" marR="73152" marT="27432" marB="27432">
                    <a:solidFill>
                      <a:srgbClr val="FFFFFF"/>
                    </a:solidFill>
                  </a:tcPr>
                </a:tc>
                <a:tc>
                  <a:txBody>
                    <a:bodyPr/>
                    <a:lstStyle/>
                    <a:p>
                      <a:pPr algn="r">
                        <a:defRPr sz="819" b="0">
                          <a:solidFill>
                            <a:srgbClr val="0F172A"/>
                          </a:solidFill>
                          <a:latin typeface="Segoe UI"/>
                        </a:defRPr>
                      </a:pPr>
                      <a:r>
                        <a:t>1.96315 / 534,128</a:t>
                      </a:r>
                    </a:p>
                  </a:txBody>
                  <a:tcPr anchor="ctr" marL="73152" marR="73152" marT="27432" marB="27432">
                    <a:solidFill>
                      <a:srgbClr val="FFFFFF"/>
                    </a:solidFill>
                  </a:tcPr>
                </a:tc>
              </a:tr>
              <a:tr h="365760">
                <a:tc>
                  <a:txBody>
                    <a:bodyPr/>
                    <a:lstStyle/>
                    <a:p>
                      <a:pPr algn="l">
                        <a:defRPr sz="819" b="1">
                          <a:solidFill>
                            <a:srgbClr val="1D4ED8"/>
                          </a:solidFill>
                          <a:latin typeface="Segoe UI"/>
                        </a:defRPr>
                      </a:pPr>
                      <a:r>
                        <a:t>Train E1 (Wiki Tiếng Anh)</a:t>
                      </a:r>
                    </a:p>
                  </a:txBody>
                  <a:tcPr anchor="ctr" marL="73152" marR="73152" marT="27432" marB="27432">
                    <a:solidFill>
                      <a:srgbClr val="EFF6FF"/>
                    </a:solidFill>
                  </a:tcPr>
                </a:tc>
                <a:tc>
                  <a:txBody>
                    <a:bodyPr/>
                    <a:lstStyle/>
                    <a:p>
                      <a:pPr algn="r">
                        <a:defRPr sz="819" b="1">
                          <a:solidFill>
                            <a:srgbClr val="1D4ED8"/>
                          </a:solidFill>
                          <a:latin typeface="Segoe UI"/>
                        </a:defRPr>
                      </a:pPr>
                      <a:r>
                        <a:t>1.31755 / 795,855</a:t>
                      </a:r>
                    </a:p>
                  </a:txBody>
                  <a:tcPr anchor="ctr" marL="73152" marR="73152" marT="27432" marB="27432">
                    <a:solidFill>
                      <a:srgbClr val="EFF6FF"/>
                    </a:solidFill>
                  </a:tcPr>
                </a:tc>
                <a:tc>
                  <a:txBody>
                    <a:bodyPr/>
                    <a:lstStyle/>
                    <a:p>
                      <a:pPr algn="r">
                        <a:defRPr sz="819" b="1">
                          <a:solidFill>
                            <a:srgbClr val="1D4ED8"/>
                          </a:solidFill>
                          <a:latin typeface="Segoe UI"/>
                        </a:defRPr>
                      </a:pPr>
                      <a:r>
                        <a:t>3.30790 / 316,991</a:t>
                      </a:r>
                    </a:p>
                  </a:txBody>
                  <a:tcPr anchor="ctr" marL="73152" marR="73152" marT="27432" marB="27432">
                    <a:solidFill>
                      <a:srgbClr val="EFF6FF"/>
                    </a:solidFill>
                  </a:tcPr>
                </a:tc>
              </a:tr>
            </a:tbl>
          </a:graphicData>
        </a:graphic>
      </p:graphicFrame>
      <p:sp>
        <p:nvSpPr>
          <p:cNvPr id="11" name="TextBox 10"/>
          <p:cNvSpPr txBox="1"/>
          <p:nvPr/>
        </p:nvSpPr>
        <p:spPr>
          <a:xfrm>
            <a:off x="914400" y="3200400"/>
            <a:ext cx="5303520" cy="2926080"/>
          </a:xfrm>
          <a:prstGeom prst="rect">
            <a:avLst/>
          </a:prstGeom>
          <a:noFill/>
        </p:spPr>
        <p:txBody>
          <a:bodyPr wrap="square" lIns="0" rIns="0" tIns="0" bIns="0">
            <a:spAutoFit/>
          </a:bodyPr>
          <a:lstStyle/>
          <a:p>
            <a:pPr>
              <a:spcBef>
                <a:spcPts val="300"/>
              </a:spcBef>
              <a:defRPr sz="850" b="1">
                <a:solidFill>
                  <a:srgbClr val="E11D48"/>
                </a:solidFill>
                <a:latin typeface="Segoe UI"/>
              </a:defRPr>
            </a:pPr>
            <a:r>
              <a:t>• Lạm phát Token Tiếng Việt lên tới 3.54 lần (354%):</a:t>
            </a:r>
          </a:p>
          <a:p>
            <a:pPr>
              <a:defRPr sz="780">
                <a:solidFill>
                  <a:srgbClr val="475569"/>
                </a:solidFill>
                <a:latin typeface="Segoe UI"/>
              </a:defRPr>
            </a:pPr>
            <a:r>
              <a:t>  Trên cùng văn bản test V1, tokenizer học từ tiếng Anh (E1) sinh ra 795,855 tokens, gấp 3.54 lần so với tokenizer học từ tiếng Việt (224,618 tokens)! Mật độ nén sụt giảm thê thảm từ 4.67 bytes/token xuống chỉ còn 1.32 bytes/token.</a:t>
            </a:r>
          </a:p>
          <a:p>
            <a:pPr>
              <a:spcBef>
                <a:spcPts val="300"/>
              </a:spcBef>
              <a:defRPr sz="850" b="1">
                <a:solidFill>
                  <a:srgbClr val="1D4ED8"/>
                </a:solidFill>
                <a:latin typeface="Segoe UI"/>
              </a:defRPr>
            </a:pPr>
            <a:r>
              <a:t>• Cơ chế Vỡ vụn Token (Token Fragmentation):</a:t>
            </a:r>
          </a:p>
          <a:p>
            <a:pPr>
              <a:defRPr sz="780">
                <a:solidFill>
                  <a:srgbClr val="475569"/>
                </a:solidFill>
                <a:latin typeface="Segoe UI"/>
              </a:defRPr>
            </a:pPr>
            <a:r>
              <a:t>  Tiếng Việt UTF-8 sử dụng từ 2 đến 3 bytes cho mỗi ký tự có dấu (ví dụ: 'ế', 'ặ', 'đ'). Bảng merge học từ tiếng Anh không có quy tắc gộp các byte tiếng Việt này, buộc tokenizer phải phát ra từng byte đơn lẻ.</a:t>
            </a:r>
          </a:p>
          <a:p>
            <a:pPr>
              <a:spcBef>
                <a:spcPts val="300"/>
              </a:spcBef>
              <a:defRPr sz="850" b="1">
                <a:solidFill>
                  <a:srgbClr val="1D4ED8"/>
                </a:solidFill>
                <a:latin typeface="Segoe UI"/>
              </a:defRPr>
            </a:pPr>
            <a:r>
              <a:t>• Hệ quả nghiêm trọng trong Mô hình Ngôn ngữ lớn (LLM):</a:t>
            </a:r>
          </a:p>
          <a:p>
            <a:pPr>
              <a:defRPr sz="780">
                <a:solidFill>
                  <a:srgbClr val="475569"/>
                </a:solidFill>
                <a:latin typeface="Segoe UI"/>
              </a:defRPr>
            </a:pPr>
            <a:r>
              <a:t>  • Chi phí gọi API: Người dùng tiếng Việt phải trả tiền gấp 3.5 lần cho cùng một đoạn văn bản.</a:t>
            </a:r>
            <a:br/>
            <a:r>
              <a:t>• Giới hạn Context Window: Cửa sổ ngữ cảnh bị chiếm dụng gấp 3.5 lần, làm giảm khả năng xử lý tài liệu dài.</a:t>
            </a:r>
            <a:br/>
            <a:r>
              <a:t>• Tốc độ sinh: Tốc độ suy luận (inference latency) bị chậm lại rõ rệt.</a:t>
            </a:r>
          </a:p>
          <a:p>
            <a:pPr>
              <a:spcBef>
                <a:spcPts val="300"/>
              </a:spcBef>
              <a:defRPr sz="850" b="1">
                <a:solidFill>
                  <a:srgbClr val="1D4ED8"/>
                </a:solidFill>
                <a:latin typeface="Segoe UI"/>
              </a:defRPr>
            </a:pPr>
            <a:r>
              <a:t>• Cảnh báo phương pháp luận:</a:t>
            </a:r>
          </a:p>
          <a:p>
            <a:pPr>
              <a:defRPr sz="780">
                <a:solidFill>
                  <a:srgbClr val="475569"/>
                </a:solidFill>
                <a:latin typeface="Segoe UI"/>
              </a:defRPr>
            </a:pPr>
            <a:r>
              <a:t>  Không thể vội kết luận tiếng Việt luôn tốn token hơn tiếng Anh cho cùng nội dung vì hai tập Wikipedia V1 và E1 không phải là ngữ liệu song song (non-parallel corpus).</a:t>
            </a:r>
          </a:p>
        </p:txBody>
      </p:sp>
      <p:sp>
        <p:nvSpPr>
          <p:cNvPr id="12" name="Rounded Rectangle 11"/>
          <p:cNvSpPr/>
          <p:nvPr/>
        </p:nvSpPr>
        <p:spPr>
          <a:xfrm>
            <a:off x="6675120" y="1463040"/>
            <a:ext cx="478505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q3_bytes_per_token.png"/>
          <p:cNvPicPr>
            <a:picLocks noChangeAspect="1"/>
          </p:cNvPicPr>
          <p:nvPr/>
        </p:nvPicPr>
        <p:blipFill>
          <a:blip r:embed="rId2"/>
          <a:stretch>
            <a:fillRect/>
          </a:stretch>
        </p:blipFill>
        <p:spPr>
          <a:xfrm>
            <a:off x="6812280" y="1600200"/>
            <a:ext cx="4510735" cy="3280535"/>
          </a:xfrm>
          <a:prstGeom prst="rect">
            <a:avLst/>
          </a:prstGeom>
        </p:spPr>
      </p:pic>
      <p:sp>
        <p:nvSpPr>
          <p:cNvPr id="14" name="TextBox 13"/>
          <p:cNvSpPr txBox="1"/>
          <p:nvPr/>
        </p:nvSpPr>
        <p:spPr>
          <a:xfrm>
            <a:off x="6812280" y="5760720"/>
            <a:ext cx="4510735" cy="411480"/>
          </a:xfrm>
          <a:prstGeom prst="rect">
            <a:avLst/>
          </a:prstGeom>
          <a:noFill/>
        </p:spPr>
        <p:txBody>
          <a:bodyPr wrap="square" lIns="0" rIns="0" tIns="0" bIns="0">
            <a:spAutoFit/>
          </a:bodyPr>
          <a:lstStyle/>
          <a:p>
            <a:pPr algn="ctr">
              <a:defRPr sz="800">
                <a:solidFill>
                  <a:srgbClr val="64748B"/>
                </a:solidFill>
                <a:latin typeface="Segoe UI"/>
              </a:defRPr>
            </a:pPr>
            <a:r>
              <a:t>Hình 5: Byte/token qua 3 mức K. Chú ý đường E1→V1 nằm bẹp ở đáy (~1.3 B/token).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KẾT QUẢ RQ3.C</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Tối ưu hóa Thuật toán Huấn luyện BPE: Đột phá Cấu trúc Dữ liệu</a:t>
            </a:r>
          </a:p>
          <a:p>
            <a:pPr>
              <a:spcBef>
                <a:spcPts val="200"/>
              </a:spcBef>
              <a:defRPr sz="1000">
                <a:solidFill>
                  <a:srgbClr val="64748B"/>
                </a:solidFill>
                <a:latin typeface="Segoe UI"/>
              </a:defRPr>
            </a:pPr>
            <a:r>
              <a:t>So sánh 3 biến thể: Naive (quét lại), No-heap (cập nhật cục bộ) và Incremental Heap (lazy deletion)</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12 / 17</a:t>
            </a:r>
          </a:p>
        </p:txBody>
      </p:sp>
      <p:sp>
        <p:nvSpPr>
          <p:cNvPr id="8" name="Rounded Rectangle 7"/>
          <p:cNvSpPr/>
          <p:nvPr/>
        </p:nvSpPr>
        <p:spPr>
          <a:xfrm>
            <a:off x="731520" y="1463040"/>
            <a:ext cx="341345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96112" y="1645920"/>
            <a:ext cx="3084271" cy="62179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Naive Trainer</a:t>
            </a:r>
          </a:p>
          <a:p>
            <a:pPr algn="ctr">
              <a:defRPr sz="850">
                <a:solidFill>
                  <a:srgbClr val="FFFFFF"/>
                </a:solidFill>
                <a:latin typeface="Segoe UI"/>
              </a:defRPr>
            </a:pPr>
            <a:r>
              <a:t>Độ phức tạp: O(N + K · U)</a:t>
            </a:r>
          </a:p>
        </p:txBody>
      </p:sp>
      <p:sp>
        <p:nvSpPr>
          <p:cNvPr id="10" name="TextBox 9"/>
          <p:cNvSpPr txBox="1"/>
          <p:nvPr/>
        </p:nvSpPr>
        <p:spPr>
          <a:xfrm>
            <a:off x="896112" y="2331720"/>
            <a:ext cx="3084271" cy="320040"/>
          </a:xfrm>
          <a:prstGeom prst="rect">
            <a:avLst/>
          </a:prstGeom>
          <a:noFill/>
        </p:spPr>
        <p:txBody>
          <a:bodyPr wrap="square" lIns="0" rIns="0" tIns="0" bIns="0">
            <a:spAutoFit/>
          </a:bodyPr>
          <a:lstStyle/>
          <a:p>
            <a:pPr>
              <a:defRPr sz="900" b="1">
                <a:solidFill>
                  <a:srgbClr val="0F172A"/>
                </a:solidFill>
                <a:latin typeface="Segoe UI"/>
              </a:defRPr>
            </a:pPr>
            <a:r>
              <a:t>Quét lại toàn bộ đoạn duy nhất</a:t>
            </a:r>
          </a:p>
        </p:txBody>
      </p:sp>
      <p:sp>
        <p:nvSpPr>
          <p:cNvPr id="11" name="TextBox 10"/>
          <p:cNvSpPr txBox="1"/>
          <p:nvPr/>
        </p:nvSpPr>
        <p:spPr>
          <a:xfrm>
            <a:off x="896112" y="2697480"/>
            <a:ext cx="3084271" cy="3429000"/>
          </a:xfrm>
          <a:prstGeom prst="rect">
            <a:avLst/>
          </a:prstGeom>
          <a:noFill/>
        </p:spPr>
        <p:txBody>
          <a:bodyPr wrap="square" lIns="0" rIns="0" tIns="0" bIns="0">
            <a:spAutoFit/>
          </a:bodyPr>
          <a:lstStyle/>
          <a:p>
            <a:pPr>
              <a:spcBef>
                <a:spcPts val="400"/>
              </a:spcBef>
              <a:defRPr sz="819">
                <a:solidFill>
                  <a:srgbClr val="334155"/>
                </a:solidFill>
                <a:latin typeface="Segoe UI"/>
              </a:defRPr>
            </a:pPr>
            <a:r>
              <a:t>• Cách hoạt động: Sau mỗi vòng merge, biến thể Naive duyệt lại toàn bộ danh sách các đoạn duy nhất (unique segments) để đếm lại tần suất mọi cặp ký hiệu.</a:t>
            </a:r>
          </a:p>
          <a:p>
            <a:pPr>
              <a:spcBef>
                <a:spcPts val="400"/>
              </a:spcBef>
              <a:defRPr sz="819">
                <a:solidFill>
                  <a:srgbClr val="334155"/>
                </a:solidFill>
                <a:latin typeface="Segoe UI"/>
              </a:defRPr>
            </a:pPr>
            <a:r>
              <a:t>• Điểm nghẽn thuật toán: Duyệt lặp qua hàng chục nghìn đoạn không hề bị ảnh hưởng bởi cặp vừa merge.</a:t>
            </a:r>
          </a:p>
          <a:p>
            <a:pPr>
              <a:spcBef>
                <a:spcPts val="400"/>
              </a:spcBef>
              <a:defRPr sz="819">
                <a:solidFill>
                  <a:srgbClr val="334155"/>
                </a:solidFill>
                <a:latin typeface="Segoe UI"/>
              </a:defRPr>
            </a:pPr>
            <a:r>
              <a:t>• Bộ nhớ: O(U + Pₜ) — Thấp nhưng lãng phí tài nguyên CPU nghiêm trọng.</a:t>
            </a:r>
          </a:p>
          <a:p>
            <a:pPr>
              <a:spcBef>
                <a:spcPts val="400"/>
              </a:spcBef>
              <a:defRPr sz="819">
                <a:solidFill>
                  <a:srgbClr val="334155"/>
                </a:solidFill>
                <a:latin typeface="Segoe UI"/>
              </a:defRPr>
            </a:pPr>
            <a:r>
              <a:t>• Hậu quả: Thời gian huấn luyện bùng nổ theo cấp số nhân khi tăng K.</a:t>
            </a:r>
          </a:p>
        </p:txBody>
      </p:sp>
      <p:sp>
        <p:nvSpPr>
          <p:cNvPr id="12" name="Rounded Rectangle 11"/>
          <p:cNvSpPr/>
          <p:nvPr/>
        </p:nvSpPr>
        <p:spPr>
          <a:xfrm>
            <a:off x="4389120" y="1463040"/>
            <a:ext cx="341345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53712" y="1645920"/>
            <a:ext cx="3084271" cy="62179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No-Heap Trainer</a:t>
            </a:r>
          </a:p>
          <a:p>
            <a:pPr algn="ctr">
              <a:defRPr sz="850">
                <a:solidFill>
                  <a:srgbClr val="FFFFFF"/>
                </a:solidFill>
                <a:latin typeface="Segoe UI"/>
              </a:defRPr>
            </a:pPr>
            <a:r>
              <a:t>Độ phức tạp: O(N + K · Pₜ)</a:t>
            </a:r>
          </a:p>
        </p:txBody>
      </p:sp>
      <p:sp>
        <p:nvSpPr>
          <p:cNvPr id="14" name="TextBox 13"/>
          <p:cNvSpPr txBox="1"/>
          <p:nvPr/>
        </p:nvSpPr>
        <p:spPr>
          <a:xfrm>
            <a:off x="4553712" y="2331720"/>
            <a:ext cx="3084271" cy="320040"/>
          </a:xfrm>
          <a:prstGeom prst="rect">
            <a:avLst/>
          </a:prstGeom>
          <a:noFill/>
        </p:spPr>
        <p:txBody>
          <a:bodyPr wrap="square" lIns="0" rIns="0" tIns="0" bIns="0">
            <a:spAutoFit/>
          </a:bodyPr>
          <a:lstStyle/>
          <a:p>
            <a:pPr>
              <a:defRPr sz="900" b="1">
                <a:solidFill>
                  <a:srgbClr val="0F172A"/>
                </a:solidFill>
                <a:latin typeface="Segoe UI"/>
              </a:defRPr>
            </a:pPr>
            <a:r>
              <a:t>Cập nhật cục bộ bằng Linked-List</a:t>
            </a:r>
          </a:p>
        </p:txBody>
      </p:sp>
      <p:sp>
        <p:nvSpPr>
          <p:cNvPr id="15" name="TextBox 14"/>
          <p:cNvSpPr txBox="1"/>
          <p:nvPr/>
        </p:nvSpPr>
        <p:spPr>
          <a:xfrm>
            <a:off x="4553712" y="2697480"/>
            <a:ext cx="3084271" cy="3429000"/>
          </a:xfrm>
          <a:prstGeom prst="rect">
            <a:avLst/>
          </a:prstGeom>
          <a:noFill/>
        </p:spPr>
        <p:txBody>
          <a:bodyPr wrap="square" lIns="0" rIns="0" tIns="0" bIns="0">
            <a:spAutoFit/>
          </a:bodyPr>
          <a:lstStyle/>
          <a:p>
            <a:pPr>
              <a:spcBef>
                <a:spcPts val="400"/>
              </a:spcBef>
              <a:defRPr sz="819">
                <a:solidFill>
                  <a:srgbClr val="334155"/>
                </a:solidFill>
                <a:latin typeface="Segoe UI"/>
              </a:defRPr>
            </a:pPr>
            <a:r>
              <a:t>• Cách hoạt động: Biểu diễn chuỗi token bằng Doubly Linked List. Duy trì Inverted Index từ cặp (a, b) tới danh sách các vị trí xuất hiện.</a:t>
            </a:r>
          </a:p>
          <a:p>
            <a:pPr>
              <a:spcBef>
                <a:spcPts val="400"/>
              </a:spcBef>
              <a:defRPr sz="819">
                <a:solidFill>
                  <a:srgbClr val="334155"/>
                </a:solidFill>
                <a:latin typeface="Segoe UI"/>
              </a:defRPr>
            </a:pPr>
            <a:r>
              <a:t>• Ưu điểm: Chỉ cập nhật tần suất của các cặp nằm ngay cạnh ranh giới bị thay thế (cập nhật cục bộ).</a:t>
            </a:r>
          </a:p>
          <a:p>
            <a:pPr>
              <a:spcBef>
                <a:spcPts val="400"/>
              </a:spcBef>
              <a:defRPr sz="819">
                <a:solidFill>
                  <a:srgbClr val="334155"/>
                </a:solidFill>
                <a:latin typeface="Segoe UI"/>
              </a:defRPr>
            </a:pPr>
            <a:r>
              <a:t>• Điểm nghẽn: Vẫn phải quét tuyến tính O(Pₜ) trên toàn bộ từ điển cặp hoạt động để tìm cặp có tần suất lớn nhất.</a:t>
            </a:r>
          </a:p>
          <a:p>
            <a:pPr>
              <a:spcBef>
                <a:spcPts val="400"/>
              </a:spcBef>
              <a:defRPr sz="819">
                <a:solidFill>
                  <a:srgbClr val="334155"/>
                </a:solidFill>
                <a:latin typeface="Segoe UI"/>
              </a:defRPr>
            </a:pPr>
            <a:r>
              <a:t>• Kết quả: Nhanh hơn Naive 5 - 15 lần, nhưng vẫn bị chậm ở K lớn.</a:t>
            </a:r>
          </a:p>
        </p:txBody>
      </p:sp>
      <p:sp>
        <p:nvSpPr>
          <p:cNvPr id="16" name="Rounded Rectangle 15"/>
          <p:cNvSpPr/>
          <p:nvPr/>
        </p:nvSpPr>
        <p:spPr>
          <a:xfrm>
            <a:off x="8046720" y="1463040"/>
            <a:ext cx="341345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11312" y="1645920"/>
            <a:ext cx="3084271" cy="62179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Incremental Heap (Inc)</a:t>
            </a:r>
          </a:p>
          <a:p>
            <a:pPr algn="ctr">
              <a:defRPr sz="850">
                <a:solidFill>
                  <a:srgbClr val="FFFFFF"/>
                </a:solidFill>
                <a:latin typeface="Segoe UI"/>
              </a:defRPr>
            </a:pPr>
            <a:r>
              <a:t>Độ phức tạp: O(R log H)</a:t>
            </a:r>
          </a:p>
        </p:txBody>
      </p:sp>
      <p:sp>
        <p:nvSpPr>
          <p:cNvPr id="18" name="TextBox 17"/>
          <p:cNvSpPr txBox="1"/>
          <p:nvPr/>
        </p:nvSpPr>
        <p:spPr>
          <a:xfrm>
            <a:off x="8211312" y="2331720"/>
            <a:ext cx="3084271" cy="320040"/>
          </a:xfrm>
          <a:prstGeom prst="rect">
            <a:avLst/>
          </a:prstGeom>
          <a:noFill/>
        </p:spPr>
        <p:txBody>
          <a:bodyPr wrap="square" lIns="0" rIns="0" tIns="0" bIns="0">
            <a:spAutoFit/>
          </a:bodyPr>
          <a:lstStyle/>
          <a:p>
            <a:pPr>
              <a:defRPr sz="900" b="1">
                <a:solidFill>
                  <a:srgbClr val="0F172A"/>
                </a:solidFill>
                <a:latin typeface="Segoe UI"/>
              </a:defRPr>
            </a:pPr>
            <a:r>
              <a:t>Cập nhật cục bộ + Heap &amp; Lazy Deletion</a:t>
            </a:r>
          </a:p>
        </p:txBody>
      </p:sp>
      <p:sp>
        <p:nvSpPr>
          <p:cNvPr id="19" name="TextBox 18"/>
          <p:cNvSpPr txBox="1"/>
          <p:nvPr/>
        </p:nvSpPr>
        <p:spPr>
          <a:xfrm>
            <a:off x="8211312" y="2697480"/>
            <a:ext cx="3084271" cy="3429000"/>
          </a:xfrm>
          <a:prstGeom prst="rect">
            <a:avLst/>
          </a:prstGeom>
          <a:noFill/>
        </p:spPr>
        <p:txBody>
          <a:bodyPr wrap="square" lIns="0" rIns="0" tIns="0" bIns="0">
            <a:spAutoFit/>
          </a:bodyPr>
          <a:lstStyle/>
          <a:p>
            <a:pPr>
              <a:spcBef>
                <a:spcPts val="400"/>
              </a:spcBef>
              <a:defRPr sz="819">
                <a:solidFill>
                  <a:srgbClr val="334155"/>
                </a:solidFill>
                <a:latin typeface="Segoe UI"/>
              </a:defRPr>
            </a:pPr>
            <a:r>
              <a:t>• Đột phá cấu trúc: Kết hợp cập nhật cục bộ với Min/Max-Heap lưu các phần tử `(-count, a, b)`.</a:t>
            </a:r>
          </a:p>
          <a:p>
            <a:pPr>
              <a:spcBef>
                <a:spcPts val="400"/>
              </a:spcBef>
              <a:defRPr sz="819">
                <a:solidFill>
                  <a:srgbClr val="334155"/>
                </a:solidFill>
                <a:latin typeface="Segoe UI"/>
              </a:defRPr>
            </a:pPr>
            <a:r>
              <a:t>• Kỹ thuật Xóa Lười (Lazy Deletion): Khi tần suất của một cặp thay đổi, không tốn chi phí tìm kiếm trong heap để sửa; thay vào đó, chỉ việc push entry mới vào heap.</a:t>
            </a:r>
          </a:p>
          <a:p>
            <a:pPr>
              <a:spcBef>
                <a:spcPts val="400"/>
              </a:spcBef>
              <a:defRPr sz="819">
                <a:solidFill>
                  <a:srgbClr val="334155"/>
                </a:solidFill>
                <a:latin typeface="Segoe UI"/>
              </a:defRPr>
            </a:pPr>
            <a:r>
              <a:t>• Chọn cực đại: Pop đỉnh heap và kiểm tra xem count có khớp với từ điển tần suất thực tế không; nếu cũ (stale) thì bỏ qua.</a:t>
            </a:r>
          </a:p>
          <a:p>
            <a:pPr>
              <a:spcBef>
                <a:spcPts val="400"/>
              </a:spcBef>
              <a:defRPr sz="819">
                <a:solidFill>
                  <a:srgbClr val="334155"/>
                </a:solidFill>
                <a:latin typeface="Segoe UI"/>
              </a:defRPr>
            </a:pPr>
            <a:r>
              <a:t>• Chi phí chọn max: Giảm ngoạn mục từ O(Pₜ) xuống O(log 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KẾT QUẢ RQ3.C</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Thực nghiệm Thời gian Huấn luyện: Tăng tốc Lên tới 104.72×</a:t>
            </a:r>
          </a:p>
          <a:p>
            <a:pPr>
              <a:spcBef>
                <a:spcPts val="200"/>
              </a:spcBef>
              <a:defRPr sz="1000">
                <a:solidFill>
                  <a:srgbClr val="64748B"/>
                </a:solidFill>
                <a:latin typeface="Segoe UI"/>
              </a:defRPr>
            </a:pPr>
            <a:r>
              <a:t>Đo lường trên Full Corpus 1 MiB đảm bảo tính nhất quán tuyệt đối về danh sách merge</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13 / 17</a:t>
            </a:r>
          </a:p>
        </p:txBody>
      </p:sp>
      <p:sp>
        <p:nvSpPr>
          <p:cNvPr id="8" name="Rounded Rectangle 7"/>
          <p:cNvSpPr/>
          <p:nvPr/>
        </p:nvSpPr>
        <p:spPr>
          <a:xfrm>
            <a:off x="731520" y="1463040"/>
            <a:ext cx="603504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5669280" cy="320040"/>
          </a:xfrm>
          <a:prstGeom prst="rect">
            <a:avLst/>
          </a:prstGeom>
          <a:noFill/>
        </p:spPr>
        <p:txBody>
          <a:bodyPr wrap="none">
            <a:spAutoFit/>
          </a:bodyPr>
          <a:lstStyle/>
          <a:p>
            <a:pPr>
              <a:defRPr sz="1050" b="1">
                <a:solidFill>
                  <a:srgbClr val="0F172A"/>
                </a:solidFill>
                <a:latin typeface="Segoe UI"/>
              </a:defRPr>
            </a:pPr>
            <a:r>
              <a:t>Bảng VI: Thời gian train full 1 MiB (ms) và Tỷ số tăng tốc (Speedup)</a:t>
            </a:r>
          </a:p>
        </p:txBody>
      </p:sp>
      <p:graphicFrame>
        <p:nvGraphicFramePr>
          <p:cNvPr id="10" name="Table 9"/>
          <p:cNvGraphicFramePr>
            <a:graphicFrameLocks noGrp="1"/>
          </p:cNvGraphicFramePr>
          <p:nvPr/>
        </p:nvGraphicFramePr>
        <p:xfrm>
          <a:off x="914400" y="1938528"/>
          <a:ext cx="6309360" cy="1920240"/>
        </p:xfrm>
        <a:graphic>
          <a:graphicData uri="http://schemas.openxmlformats.org/drawingml/2006/table">
            <a:tbl>
              <a:tblPr firstRow="1" bandRow="1">
                <a:tableStyleId>{5C22544A-7EE6-4342-B048-85BDC9FD1C3A}</a:tableStyleId>
              </a:tblPr>
              <a:tblGrid>
                <a:gridCol w="640080"/>
                <a:gridCol w="548640"/>
                <a:gridCol w="1097280"/>
                <a:gridCol w="1097280"/>
                <a:gridCol w="914400"/>
                <a:gridCol w="1005840"/>
                <a:gridCol w="1005840"/>
              </a:tblGrid>
              <a:tr h="274320">
                <a:tc>
                  <a:txBody>
                    <a:bodyPr/>
                    <a:lstStyle/>
                    <a:p>
                      <a:pPr algn="l">
                        <a:defRPr sz="850" b="1">
                          <a:solidFill>
                            <a:srgbClr val="FFFFFF"/>
                          </a:solidFill>
                          <a:latin typeface="Segoe UI"/>
                        </a:defRPr>
                      </a:pPr>
                      <a:r>
                        <a:t>Train</a:t>
                      </a:r>
                    </a:p>
                  </a:txBody>
                  <a:tcPr anchor="ctr" marL="73152" marR="73152" marT="36576" marB="36576">
                    <a:solidFill>
                      <a:srgbClr val="1E293B"/>
                    </a:solidFill>
                  </a:tcPr>
                </a:tc>
                <a:tc>
                  <a:txBody>
                    <a:bodyPr/>
                    <a:lstStyle/>
                    <a:p>
                      <a:pPr algn="ctr">
                        <a:defRPr sz="850" b="1">
                          <a:solidFill>
                            <a:srgbClr val="FFFFFF"/>
                          </a:solidFill>
                          <a:latin typeface="Segoe UI"/>
                        </a:defRPr>
                      </a:pPr>
                      <a:r>
                        <a:t>K</a:t>
                      </a:r>
                    </a:p>
                  </a:txBody>
                  <a:tcPr anchor="ctr" marL="73152" marR="73152" marT="36576" marB="36576">
                    <a:solidFill>
                      <a:srgbClr val="1E293B"/>
                    </a:solidFill>
                  </a:tcPr>
                </a:tc>
                <a:tc>
                  <a:txBody>
                    <a:bodyPr/>
                    <a:lstStyle/>
                    <a:p>
                      <a:pPr algn="ctr">
                        <a:defRPr sz="850" b="1">
                          <a:solidFill>
                            <a:srgbClr val="FFFFFF"/>
                          </a:solidFill>
                          <a:latin typeface="Segoe UI"/>
                        </a:defRPr>
                      </a:pPr>
                      <a:r>
                        <a:t>Naive (ms)</a:t>
                      </a:r>
                    </a:p>
                  </a:txBody>
                  <a:tcPr anchor="ctr" marL="73152" marR="73152" marT="36576" marB="36576">
                    <a:solidFill>
                      <a:srgbClr val="1E293B"/>
                    </a:solidFill>
                  </a:tcPr>
                </a:tc>
                <a:tc>
                  <a:txBody>
                    <a:bodyPr/>
                    <a:lstStyle/>
                    <a:p>
                      <a:pPr algn="ctr">
                        <a:defRPr sz="850" b="1">
                          <a:solidFill>
                            <a:srgbClr val="FFFFFF"/>
                          </a:solidFill>
                          <a:latin typeface="Segoe UI"/>
                        </a:defRPr>
                      </a:pPr>
                      <a:r>
                        <a:t>Noheap (ms)</a:t>
                      </a:r>
                    </a:p>
                  </a:txBody>
                  <a:tcPr anchor="ctr" marL="73152" marR="73152" marT="36576" marB="36576">
                    <a:solidFill>
                      <a:srgbClr val="1E293B"/>
                    </a:solidFill>
                  </a:tcPr>
                </a:tc>
                <a:tc>
                  <a:txBody>
                    <a:bodyPr/>
                    <a:lstStyle/>
                    <a:p>
                      <a:pPr algn="ctr">
                        <a:defRPr sz="850" b="1">
                          <a:solidFill>
                            <a:srgbClr val="FFFFFF"/>
                          </a:solidFill>
                          <a:latin typeface="Segoe UI"/>
                        </a:defRPr>
                      </a:pPr>
                      <a:r>
                        <a:t>Inc (ms)</a:t>
                      </a:r>
                    </a:p>
                  </a:txBody>
                  <a:tcPr anchor="ctr" marL="73152" marR="73152" marT="36576" marB="36576">
                    <a:solidFill>
                      <a:srgbClr val="1E293B"/>
                    </a:solidFill>
                  </a:tcPr>
                </a:tc>
                <a:tc>
                  <a:txBody>
                    <a:bodyPr/>
                    <a:lstStyle/>
                    <a:p>
                      <a:pPr algn="ctr">
                        <a:defRPr sz="850" b="1">
                          <a:solidFill>
                            <a:srgbClr val="FFFFFF"/>
                          </a:solidFill>
                          <a:latin typeface="Segoe UI"/>
                        </a:defRPr>
                      </a:pPr>
                      <a:r>
                        <a:t>Naive / Inc</a:t>
                      </a:r>
                    </a:p>
                  </a:txBody>
                  <a:tcPr anchor="ctr" marL="73152" marR="73152" marT="36576" marB="36576">
                    <a:solidFill>
                      <a:srgbClr val="1E293B"/>
                    </a:solidFill>
                  </a:tcPr>
                </a:tc>
                <a:tc>
                  <a:txBody>
                    <a:bodyPr/>
                    <a:lstStyle/>
                    <a:p>
                      <a:pPr algn="ctr">
                        <a:defRPr sz="850" b="1">
                          <a:solidFill>
                            <a:srgbClr val="FFFFFF"/>
                          </a:solidFill>
                          <a:latin typeface="Segoe UI"/>
                        </a:defRPr>
                      </a:pPr>
                      <a:r>
                        <a:t>Noheap / Inc</a:t>
                      </a:r>
                    </a:p>
                  </a:txBody>
                  <a:tcPr anchor="ctr" marL="73152" marR="73152" marT="36576" marB="36576">
                    <a:solidFill>
                      <a:srgbClr val="1E293B"/>
                    </a:solidFill>
                  </a:tcPr>
                </a:tc>
              </a:tr>
              <a:tr h="274320">
                <a:tc>
                  <a:txBody>
                    <a:bodyPr/>
                    <a:lstStyle/>
                    <a:p>
                      <a:pPr algn="l">
                        <a:defRPr sz="819" b="1">
                          <a:solidFill>
                            <a:srgbClr val="0F172A"/>
                          </a:solidFill>
                          <a:latin typeface="Segoe UI"/>
                        </a:defRPr>
                      </a:pPr>
                      <a:r>
                        <a:t>V1</a:t>
                      </a:r>
                    </a:p>
                  </a:txBody>
                  <a:tcPr anchor="ctr" marL="73152" marR="73152" marT="27432" marB="27432">
                    <a:solidFill>
                      <a:srgbClr val="FFFFFF"/>
                    </a:solidFill>
                  </a:tcPr>
                </a:tc>
                <a:tc>
                  <a:txBody>
                    <a:bodyPr/>
                    <a:lstStyle/>
                    <a:p>
                      <a:pPr algn="r">
                        <a:defRPr sz="819" b="0">
                          <a:solidFill>
                            <a:srgbClr val="0F172A"/>
                          </a:solidFill>
                          <a:latin typeface="Segoe UI"/>
                        </a:defRPr>
                      </a:pPr>
                      <a:r>
                        <a:t>256</a:t>
                      </a:r>
                    </a:p>
                  </a:txBody>
                  <a:tcPr anchor="ctr" marL="73152" marR="73152" marT="27432" marB="27432">
                    <a:solidFill>
                      <a:srgbClr val="FFFFFF"/>
                    </a:solidFill>
                  </a:tcPr>
                </a:tc>
                <a:tc>
                  <a:txBody>
                    <a:bodyPr/>
                    <a:lstStyle/>
                    <a:p>
                      <a:pPr algn="r">
                        <a:defRPr sz="819" b="0">
                          <a:solidFill>
                            <a:srgbClr val="0F172A"/>
                          </a:solidFill>
                          <a:latin typeface="Segoe UI"/>
                        </a:defRPr>
                      </a:pPr>
                      <a:r>
                        <a:t>11,265.3</a:t>
                      </a:r>
                    </a:p>
                  </a:txBody>
                  <a:tcPr anchor="ctr" marL="73152" marR="73152" marT="27432" marB="27432">
                    <a:solidFill>
                      <a:srgbClr val="FFFFFF"/>
                    </a:solidFill>
                  </a:tcPr>
                </a:tc>
                <a:tc>
                  <a:txBody>
                    <a:bodyPr/>
                    <a:lstStyle/>
                    <a:p>
                      <a:pPr algn="r">
                        <a:defRPr sz="819" b="0">
                          <a:solidFill>
                            <a:srgbClr val="0F172A"/>
                          </a:solidFill>
                          <a:latin typeface="Segoe UI"/>
                        </a:defRPr>
                      </a:pPr>
                      <a:r>
                        <a:t>784.8</a:t>
                      </a:r>
                    </a:p>
                  </a:txBody>
                  <a:tcPr anchor="ctr" marL="73152" marR="73152" marT="27432" marB="27432">
                    <a:solidFill>
                      <a:srgbClr val="FFFFFF"/>
                    </a:solidFill>
                  </a:tcPr>
                </a:tc>
                <a:tc>
                  <a:txBody>
                    <a:bodyPr/>
                    <a:lstStyle/>
                    <a:p>
                      <a:pPr algn="r">
                        <a:defRPr sz="819" b="0">
                          <a:solidFill>
                            <a:srgbClr val="0F172A"/>
                          </a:solidFill>
                          <a:latin typeface="Segoe UI"/>
                        </a:defRPr>
                      </a:pPr>
                      <a:r>
                        <a:t>272.1</a:t>
                      </a:r>
                    </a:p>
                  </a:txBody>
                  <a:tcPr anchor="ctr" marL="73152" marR="73152" marT="27432" marB="27432">
                    <a:solidFill>
                      <a:srgbClr val="FFFFFF"/>
                    </a:solidFill>
                  </a:tcPr>
                </a:tc>
                <a:tc>
                  <a:txBody>
                    <a:bodyPr/>
                    <a:lstStyle/>
                    <a:p>
                      <a:pPr algn="r">
                        <a:defRPr sz="819" b="0">
                          <a:solidFill>
                            <a:srgbClr val="0F172A"/>
                          </a:solidFill>
                          <a:latin typeface="Segoe UI"/>
                        </a:defRPr>
                      </a:pPr>
                      <a:r>
                        <a:t>41.40×</a:t>
                      </a:r>
                    </a:p>
                  </a:txBody>
                  <a:tcPr anchor="ctr" marL="73152" marR="73152" marT="27432" marB="27432">
                    <a:solidFill>
                      <a:srgbClr val="FFFFFF"/>
                    </a:solidFill>
                  </a:tcPr>
                </a:tc>
                <a:tc>
                  <a:txBody>
                    <a:bodyPr/>
                    <a:lstStyle/>
                    <a:p>
                      <a:pPr algn="r">
                        <a:defRPr sz="819" b="0">
                          <a:solidFill>
                            <a:srgbClr val="0F172A"/>
                          </a:solidFill>
                          <a:latin typeface="Segoe UI"/>
                        </a:defRPr>
                      </a:pPr>
                      <a:r>
                        <a:t>2.88×</a:t>
                      </a:r>
                    </a:p>
                  </a:txBody>
                  <a:tcPr anchor="ctr" marL="73152" marR="73152" marT="27432" marB="27432">
                    <a:solidFill>
                      <a:srgbClr val="FFFFFF"/>
                    </a:solidFill>
                  </a:tcPr>
                </a:tc>
              </a:tr>
              <a:tr h="274320">
                <a:tc>
                  <a:txBody>
                    <a:bodyPr/>
                    <a:lstStyle/>
                    <a:p>
                      <a:pPr algn="l">
                        <a:defRPr sz="819" b="1">
                          <a:solidFill>
                            <a:srgbClr val="0F172A"/>
                          </a:solidFill>
                          <a:latin typeface="Segoe UI"/>
                        </a:defRPr>
                      </a:pPr>
                      <a:r>
                        <a:t>V1</a:t>
                      </a:r>
                    </a:p>
                  </a:txBody>
                  <a:tcPr anchor="ctr" marL="73152" marR="73152" marT="27432" marB="27432">
                    <a:solidFill>
                      <a:srgbClr val="F1F5F9"/>
                    </a:solidFill>
                  </a:tcPr>
                </a:tc>
                <a:tc>
                  <a:txBody>
                    <a:bodyPr/>
                    <a:lstStyle/>
                    <a:p>
                      <a:pPr algn="r">
                        <a:defRPr sz="819" b="0">
                          <a:solidFill>
                            <a:srgbClr val="0F172A"/>
                          </a:solidFill>
                          <a:latin typeface="Segoe UI"/>
                        </a:defRPr>
                      </a:pPr>
                      <a:r>
                        <a:t>1024</a:t>
                      </a:r>
                    </a:p>
                  </a:txBody>
                  <a:tcPr anchor="ctr" marL="73152" marR="73152" marT="27432" marB="27432">
                    <a:solidFill>
                      <a:srgbClr val="F1F5F9"/>
                    </a:solidFill>
                  </a:tcPr>
                </a:tc>
                <a:tc>
                  <a:txBody>
                    <a:bodyPr/>
                    <a:lstStyle/>
                    <a:p>
                      <a:pPr algn="r">
                        <a:defRPr sz="819" b="0">
                          <a:solidFill>
                            <a:srgbClr val="0F172A"/>
                          </a:solidFill>
                          <a:latin typeface="Segoe UI"/>
                        </a:defRPr>
                      </a:pPr>
                      <a:r>
                        <a:t>22,819.3</a:t>
                      </a:r>
                    </a:p>
                  </a:txBody>
                  <a:tcPr anchor="ctr" marL="73152" marR="73152" marT="27432" marB="27432">
                    <a:solidFill>
                      <a:srgbClr val="F1F5F9"/>
                    </a:solidFill>
                  </a:tcPr>
                </a:tc>
                <a:tc>
                  <a:txBody>
                    <a:bodyPr/>
                    <a:lstStyle/>
                    <a:p>
                      <a:pPr algn="r">
                        <a:defRPr sz="819" b="0">
                          <a:solidFill>
                            <a:srgbClr val="0F172A"/>
                          </a:solidFill>
                          <a:latin typeface="Segoe UI"/>
                        </a:defRPr>
                      </a:pPr>
                      <a:r>
                        <a:t>2,542.6</a:t>
                      </a:r>
                    </a:p>
                  </a:txBody>
                  <a:tcPr anchor="ctr" marL="73152" marR="73152" marT="27432" marB="27432">
                    <a:solidFill>
                      <a:srgbClr val="F1F5F9"/>
                    </a:solidFill>
                  </a:tcPr>
                </a:tc>
                <a:tc>
                  <a:txBody>
                    <a:bodyPr/>
                    <a:lstStyle/>
                    <a:p>
                      <a:pPr algn="r">
                        <a:defRPr sz="819" b="0">
                          <a:solidFill>
                            <a:srgbClr val="0F172A"/>
                          </a:solidFill>
                          <a:latin typeface="Segoe UI"/>
                        </a:defRPr>
                      </a:pPr>
                      <a:r>
                        <a:t>687.3</a:t>
                      </a:r>
                    </a:p>
                  </a:txBody>
                  <a:tcPr anchor="ctr" marL="73152" marR="73152" marT="27432" marB="27432">
                    <a:solidFill>
                      <a:srgbClr val="F1F5F9"/>
                    </a:solidFill>
                  </a:tcPr>
                </a:tc>
                <a:tc>
                  <a:txBody>
                    <a:bodyPr/>
                    <a:lstStyle/>
                    <a:p>
                      <a:pPr algn="r">
                        <a:defRPr sz="819" b="0">
                          <a:solidFill>
                            <a:srgbClr val="0F172A"/>
                          </a:solidFill>
                          <a:latin typeface="Segoe UI"/>
                        </a:defRPr>
                      </a:pPr>
                      <a:r>
                        <a:t>33.20×</a:t>
                      </a:r>
                    </a:p>
                  </a:txBody>
                  <a:tcPr anchor="ctr" marL="73152" marR="73152" marT="27432" marB="27432">
                    <a:solidFill>
                      <a:srgbClr val="F1F5F9"/>
                    </a:solidFill>
                  </a:tcPr>
                </a:tc>
                <a:tc>
                  <a:txBody>
                    <a:bodyPr/>
                    <a:lstStyle/>
                    <a:p>
                      <a:pPr algn="r">
                        <a:defRPr sz="819" b="0">
                          <a:solidFill>
                            <a:srgbClr val="0F172A"/>
                          </a:solidFill>
                          <a:latin typeface="Segoe UI"/>
                        </a:defRPr>
                      </a:pPr>
                      <a:r>
                        <a:t>3.70×</a:t>
                      </a:r>
                    </a:p>
                  </a:txBody>
                  <a:tcPr anchor="ctr" marL="73152" marR="73152" marT="27432" marB="27432">
                    <a:solidFill>
                      <a:srgbClr val="F1F5F9"/>
                    </a:solidFill>
                  </a:tcPr>
                </a:tc>
              </a:tr>
              <a:tr h="274320">
                <a:tc>
                  <a:txBody>
                    <a:bodyPr/>
                    <a:lstStyle/>
                    <a:p>
                      <a:pPr algn="l">
                        <a:defRPr sz="819" b="1">
                          <a:solidFill>
                            <a:srgbClr val="1D4ED8"/>
                          </a:solidFill>
                          <a:latin typeface="Segoe UI"/>
                        </a:defRPr>
                      </a:pPr>
                      <a:r>
                        <a:t>V1</a:t>
                      </a:r>
                    </a:p>
                  </a:txBody>
                  <a:tcPr anchor="ctr" marL="73152" marR="73152" marT="27432" marB="27432">
                    <a:solidFill>
                      <a:srgbClr val="EFF6FF"/>
                    </a:solidFill>
                  </a:tcPr>
                </a:tc>
                <a:tc>
                  <a:txBody>
                    <a:bodyPr/>
                    <a:lstStyle/>
                    <a:p>
                      <a:pPr algn="r">
                        <a:defRPr sz="819" b="1">
                          <a:solidFill>
                            <a:srgbClr val="1D4ED8"/>
                          </a:solidFill>
                          <a:latin typeface="Segoe UI"/>
                        </a:defRPr>
                      </a:pPr>
                      <a:r>
                        <a:t>3840</a:t>
                      </a:r>
                    </a:p>
                  </a:txBody>
                  <a:tcPr anchor="ctr" marL="73152" marR="73152" marT="27432" marB="27432">
                    <a:solidFill>
                      <a:srgbClr val="EFF6FF"/>
                    </a:solidFill>
                  </a:tcPr>
                </a:tc>
                <a:tc>
                  <a:txBody>
                    <a:bodyPr/>
                    <a:lstStyle/>
                    <a:p>
                      <a:pPr algn="r">
                        <a:defRPr sz="819" b="1">
                          <a:solidFill>
                            <a:srgbClr val="1D4ED8"/>
                          </a:solidFill>
                          <a:latin typeface="Segoe UI"/>
                        </a:defRPr>
                      </a:pPr>
                      <a:r>
                        <a:t>78,275.2</a:t>
                      </a:r>
                    </a:p>
                  </a:txBody>
                  <a:tcPr anchor="ctr" marL="73152" marR="73152" marT="27432" marB="27432">
                    <a:solidFill>
                      <a:srgbClr val="EFF6FF"/>
                    </a:solidFill>
                  </a:tcPr>
                </a:tc>
                <a:tc>
                  <a:txBody>
                    <a:bodyPr/>
                    <a:lstStyle/>
                    <a:p>
                      <a:pPr algn="r">
                        <a:defRPr sz="819" b="1">
                          <a:solidFill>
                            <a:srgbClr val="1D4ED8"/>
                          </a:solidFill>
                          <a:latin typeface="Segoe UI"/>
                        </a:defRPr>
                      </a:pPr>
                      <a:r>
                        <a:t>12,748.9</a:t>
                      </a:r>
                    </a:p>
                  </a:txBody>
                  <a:tcPr anchor="ctr" marL="73152" marR="73152" marT="27432" marB="27432">
                    <a:solidFill>
                      <a:srgbClr val="EFF6FF"/>
                    </a:solidFill>
                  </a:tcPr>
                </a:tc>
                <a:tc>
                  <a:txBody>
                    <a:bodyPr/>
                    <a:lstStyle/>
                    <a:p>
                      <a:pPr algn="r">
                        <a:defRPr sz="819" b="1">
                          <a:solidFill>
                            <a:srgbClr val="1D4ED8"/>
                          </a:solidFill>
                          <a:latin typeface="Segoe UI"/>
                        </a:defRPr>
                      </a:pPr>
                      <a:r>
                        <a:t>747.5</a:t>
                      </a:r>
                    </a:p>
                  </a:txBody>
                  <a:tcPr anchor="ctr" marL="73152" marR="73152" marT="27432" marB="27432">
                    <a:solidFill>
                      <a:srgbClr val="EFF6FF"/>
                    </a:solidFill>
                  </a:tcPr>
                </a:tc>
                <a:tc>
                  <a:txBody>
                    <a:bodyPr/>
                    <a:lstStyle/>
                    <a:p>
                      <a:pPr algn="r">
                        <a:defRPr sz="819" b="1">
                          <a:solidFill>
                            <a:srgbClr val="1D4ED8"/>
                          </a:solidFill>
                          <a:latin typeface="Segoe UI"/>
                        </a:defRPr>
                      </a:pPr>
                      <a:r>
                        <a:t>104.72×</a:t>
                      </a:r>
                    </a:p>
                  </a:txBody>
                  <a:tcPr anchor="ctr" marL="73152" marR="73152" marT="27432" marB="27432">
                    <a:solidFill>
                      <a:srgbClr val="EFF6FF"/>
                    </a:solidFill>
                  </a:tcPr>
                </a:tc>
                <a:tc>
                  <a:txBody>
                    <a:bodyPr/>
                    <a:lstStyle/>
                    <a:p>
                      <a:pPr algn="r">
                        <a:defRPr sz="819" b="1">
                          <a:solidFill>
                            <a:srgbClr val="1D4ED8"/>
                          </a:solidFill>
                          <a:latin typeface="Segoe UI"/>
                        </a:defRPr>
                      </a:pPr>
                      <a:r>
                        <a:t>17.06×</a:t>
                      </a:r>
                    </a:p>
                  </a:txBody>
                  <a:tcPr anchor="ctr" marL="73152" marR="73152" marT="27432" marB="27432">
                    <a:solidFill>
                      <a:srgbClr val="EFF6FF"/>
                    </a:solidFill>
                  </a:tcPr>
                </a:tc>
              </a:tr>
              <a:tr h="274320">
                <a:tc>
                  <a:txBody>
                    <a:bodyPr/>
                    <a:lstStyle/>
                    <a:p>
                      <a:pPr algn="l">
                        <a:defRPr sz="819" b="1">
                          <a:solidFill>
                            <a:srgbClr val="0F172A"/>
                          </a:solidFill>
                          <a:latin typeface="Segoe UI"/>
                        </a:defRPr>
                      </a:pPr>
                      <a:r>
                        <a:t>E1</a:t>
                      </a:r>
                    </a:p>
                  </a:txBody>
                  <a:tcPr anchor="ctr" marL="73152" marR="73152" marT="27432" marB="27432">
                    <a:solidFill>
                      <a:srgbClr val="F1F5F9"/>
                    </a:solidFill>
                  </a:tcPr>
                </a:tc>
                <a:tc>
                  <a:txBody>
                    <a:bodyPr/>
                    <a:lstStyle/>
                    <a:p>
                      <a:pPr algn="r">
                        <a:defRPr sz="819" b="0">
                          <a:solidFill>
                            <a:srgbClr val="0F172A"/>
                          </a:solidFill>
                          <a:latin typeface="Segoe UI"/>
                        </a:defRPr>
                      </a:pPr>
                      <a:r>
                        <a:t>256</a:t>
                      </a:r>
                    </a:p>
                  </a:txBody>
                  <a:tcPr anchor="ctr" marL="73152" marR="73152" marT="27432" marB="27432">
                    <a:solidFill>
                      <a:srgbClr val="F1F5F9"/>
                    </a:solidFill>
                  </a:tcPr>
                </a:tc>
                <a:tc>
                  <a:txBody>
                    <a:bodyPr/>
                    <a:lstStyle/>
                    <a:p>
                      <a:pPr algn="r">
                        <a:defRPr sz="819" b="0">
                          <a:solidFill>
                            <a:srgbClr val="0F172A"/>
                          </a:solidFill>
                          <a:latin typeface="Segoe UI"/>
                        </a:defRPr>
                      </a:pPr>
                      <a:r>
                        <a:t>29,447.5</a:t>
                      </a:r>
                    </a:p>
                  </a:txBody>
                  <a:tcPr anchor="ctr" marL="73152" marR="73152" marT="27432" marB="27432">
                    <a:solidFill>
                      <a:srgbClr val="F1F5F9"/>
                    </a:solidFill>
                  </a:tcPr>
                </a:tc>
                <a:tc>
                  <a:txBody>
                    <a:bodyPr/>
                    <a:lstStyle/>
                    <a:p>
                      <a:pPr algn="r">
                        <a:defRPr sz="819" b="0">
                          <a:solidFill>
                            <a:srgbClr val="0F172A"/>
                          </a:solidFill>
                          <a:latin typeface="Segoe UI"/>
                        </a:defRPr>
                      </a:pPr>
                      <a:r>
                        <a:t>2,195.8</a:t>
                      </a:r>
                    </a:p>
                  </a:txBody>
                  <a:tcPr anchor="ctr" marL="73152" marR="73152" marT="27432" marB="27432">
                    <a:solidFill>
                      <a:srgbClr val="F1F5F9"/>
                    </a:solidFill>
                  </a:tcPr>
                </a:tc>
                <a:tc>
                  <a:txBody>
                    <a:bodyPr/>
                    <a:lstStyle/>
                    <a:p>
                      <a:pPr algn="r">
                        <a:defRPr sz="819" b="0">
                          <a:solidFill>
                            <a:srgbClr val="0F172A"/>
                          </a:solidFill>
                          <a:latin typeface="Segoe UI"/>
                        </a:defRPr>
                      </a:pPr>
                      <a:r>
                        <a:t>1,657.9</a:t>
                      </a:r>
                    </a:p>
                  </a:txBody>
                  <a:tcPr anchor="ctr" marL="73152" marR="73152" marT="27432" marB="27432">
                    <a:solidFill>
                      <a:srgbClr val="F1F5F9"/>
                    </a:solidFill>
                  </a:tcPr>
                </a:tc>
                <a:tc>
                  <a:txBody>
                    <a:bodyPr/>
                    <a:lstStyle/>
                    <a:p>
                      <a:pPr algn="r">
                        <a:defRPr sz="819" b="0">
                          <a:solidFill>
                            <a:srgbClr val="0F172A"/>
                          </a:solidFill>
                          <a:latin typeface="Segoe UI"/>
                        </a:defRPr>
                      </a:pPr>
                      <a:r>
                        <a:t>17.76×</a:t>
                      </a:r>
                    </a:p>
                  </a:txBody>
                  <a:tcPr anchor="ctr" marL="73152" marR="73152" marT="27432" marB="27432">
                    <a:solidFill>
                      <a:srgbClr val="F1F5F9"/>
                    </a:solidFill>
                  </a:tcPr>
                </a:tc>
                <a:tc>
                  <a:txBody>
                    <a:bodyPr/>
                    <a:lstStyle/>
                    <a:p>
                      <a:pPr algn="r">
                        <a:defRPr sz="819" b="0">
                          <a:solidFill>
                            <a:srgbClr val="0F172A"/>
                          </a:solidFill>
                          <a:latin typeface="Segoe UI"/>
                        </a:defRPr>
                      </a:pPr>
                      <a:r>
                        <a:t>1.32×</a:t>
                      </a:r>
                    </a:p>
                  </a:txBody>
                  <a:tcPr anchor="ctr" marL="73152" marR="73152" marT="27432" marB="27432">
                    <a:solidFill>
                      <a:srgbClr val="F1F5F9"/>
                    </a:solidFill>
                  </a:tcPr>
                </a:tc>
              </a:tr>
              <a:tr h="274320">
                <a:tc>
                  <a:txBody>
                    <a:bodyPr/>
                    <a:lstStyle/>
                    <a:p>
                      <a:pPr algn="l">
                        <a:defRPr sz="819" b="1">
                          <a:solidFill>
                            <a:srgbClr val="0F172A"/>
                          </a:solidFill>
                          <a:latin typeface="Segoe UI"/>
                        </a:defRPr>
                      </a:pPr>
                      <a:r>
                        <a:t>E1</a:t>
                      </a:r>
                    </a:p>
                  </a:txBody>
                  <a:tcPr anchor="ctr" marL="73152" marR="73152" marT="27432" marB="27432">
                    <a:solidFill>
                      <a:srgbClr val="FFFFFF"/>
                    </a:solidFill>
                  </a:tcPr>
                </a:tc>
                <a:tc>
                  <a:txBody>
                    <a:bodyPr/>
                    <a:lstStyle/>
                    <a:p>
                      <a:pPr algn="r">
                        <a:defRPr sz="819" b="0">
                          <a:solidFill>
                            <a:srgbClr val="0F172A"/>
                          </a:solidFill>
                          <a:latin typeface="Segoe UI"/>
                        </a:defRPr>
                      </a:pPr>
                      <a:r>
                        <a:t>1024</a:t>
                      </a:r>
                    </a:p>
                  </a:txBody>
                  <a:tcPr anchor="ctr" marL="73152" marR="73152" marT="27432" marB="27432">
                    <a:solidFill>
                      <a:srgbClr val="FFFFFF"/>
                    </a:solidFill>
                  </a:tcPr>
                </a:tc>
                <a:tc>
                  <a:txBody>
                    <a:bodyPr/>
                    <a:lstStyle/>
                    <a:p>
                      <a:pPr algn="r">
                        <a:defRPr sz="819" b="0">
                          <a:solidFill>
                            <a:srgbClr val="0F172A"/>
                          </a:solidFill>
                          <a:latin typeface="Segoe UI"/>
                        </a:defRPr>
                      </a:pPr>
                      <a:r>
                        <a:t>56,807.8</a:t>
                      </a:r>
                    </a:p>
                  </a:txBody>
                  <a:tcPr anchor="ctr" marL="73152" marR="73152" marT="27432" marB="27432">
                    <a:solidFill>
                      <a:srgbClr val="FFFFFF"/>
                    </a:solidFill>
                  </a:tcPr>
                </a:tc>
                <a:tc>
                  <a:txBody>
                    <a:bodyPr/>
                    <a:lstStyle/>
                    <a:p>
                      <a:pPr algn="r">
                        <a:defRPr sz="819" b="0">
                          <a:solidFill>
                            <a:srgbClr val="0F172A"/>
                          </a:solidFill>
                          <a:latin typeface="Segoe UI"/>
                        </a:defRPr>
                      </a:pPr>
                      <a:r>
                        <a:t>6,712.4</a:t>
                      </a:r>
                    </a:p>
                  </a:txBody>
                  <a:tcPr anchor="ctr" marL="73152" marR="73152" marT="27432" marB="27432">
                    <a:solidFill>
                      <a:srgbClr val="FFFFFF"/>
                    </a:solidFill>
                  </a:tcPr>
                </a:tc>
                <a:tc>
                  <a:txBody>
                    <a:bodyPr/>
                    <a:lstStyle/>
                    <a:p>
                      <a:pPr algn="r">
                        <a:defRPr sz="819" b="0">
                          <a:solidFill>
                            <a:srgbClr val="0F172A"/>
                          </a:solidFill>
                          <a:latin typeface="Segoe UI"/>
                        </a:defRPr>
                      </a:pPr>
                      <a:r>
                        <a:t>1,888.0</a:t>
                      </a:r>
                    </a:p>
                  </a:txBody>
                  <a:tcPr anchor="ctr" marL="73152" marR="73152" marT="27432" marB="27432">
                    <a:solidFill>
                      <a:srgbClr val="FFFFFF"/>
                    </a:solidFill>
                  </a:tcPr>
                </a:tc>
                <a:tc>
                  <a:txBody>
                    <a:bodyPr/>
                    <a:lstStyle/>
                    <a:p>
                      <a:pPr algn="r">
                        <a:defRPr sz="819" b="0">
                          <a:solidFill>
                            <a:srgbClr val="0F172A"/>
                          </a:solidFill>
                          <a:latin typeface="Segoe UI"/>
                        </a:defRPr>
                      </a:pPr>
                      <a:r>
                        <a:t>30.09×</a:t>
                      </a:r>
                    </a:p>
                  </a:txBody>
                  <a:tcPr anchor="ctr" marL="73152" marR="73152" marT="27432" marB="27432">
                    <a:solidFill>
                      <a:srgbClr val="FFFFFF"/>
                    </a:solidFill>
                  </a:tcPr>
                </a:tc>
                <a:tc>
                  <a:txBody>
                    <a:bodyPr/>
                    <a:lstStyle/>
                    <a:p>
                      <a:pPr algn="r">
                        <a:defRPr sz="819" b="0">
                          <a:solidFill>
                            <a:srgbClr val="0F172A"/>
                          </a:solidFill>
                          <a:latin typeface="Segoe UI"/>
                        </a:defRPr>
                      </a:pPr>
                      <a:r>
                        <a:t>3.56×</a:t>
                      </a:r>
                    </a:p>
                  </a:txBody>
                  <a:tcPr anchor="ctr" marL="73152" marR="73152" marT="27432" marB="27432">
                    <a:solidFill>
                      <a:srgbClr val="FFFFFF"/>
                    </a:solidFill>
                  </a:tcPr>
                </a:tc>
              </a:tr>
              <a:tr h="274320">
                <a:tc>
                  <a:txBody>
                    <a:bodyPr/>
                    <a:lstStyle/>
                    <a:p>
                      <a:pPr algn="l">
                        <a:defRPr sz="819" b="1">
                          <a:solidFill>
                            <a:srgbClr val="0F172A"/>
                          </a:solidFill>
                          <a:latin typeface="Segoe UI"/>
                        </a:defRPr>
                      </a:pPr>
                      <a:r>
                        <a:t>E1</a:t>
                      </a:r>
                    </a:p>
                  </a:txBody>
                  <a:tcPr anchor="ctr" marL="73152" marR="73152" marT="27432" marB="27432">
                    <a:solidFill>
                      <a:srgbClr val="F1F5F9"/>
                    </a:solidFill>
                  </a:tcPr>
                </a:tc>
                <a:tc>
                  <a:txBody>
                    <a:bodyPr/>
                    <a:lstStyle/>
                    <a:p>
                      <a:pPr algn="r">
                        <a:defRPr sz="819" b="0">
                          <a:solidFill>
                            <a:srgbClr val="0F172A"/>
                          </a:solidFill>
                          <a:latin typeface="Segoe UI"/>
                        </a:defRPr>
                      </a:pPr>
                      <a:r>
                        <a:t>3840</a:t>
                      </a:r>
                    </a:p>
                  </a:txBody>
                  <a:tcPr anchor="ctr" marL="73152" marR="73152" marT="27432" marB="27432">
                    <a:solidFill>
                      <a:srgbClr val="F1F5F9"/>
                    </a:solidFill>
                  </a:tcPr>
                </a:tc>
                <a:tc>
                  <a:txBody>
                    <a:bodyPr/>
                    <a:lstStyle/>
                    <a:p>
                      <a:pPr algn="r">
                        <a:defRPr sz="819" b="0">
                          <a:solidFill>
                            <a:srgbClr val="0F172A"/>
                          </a:solidFill>
                          <a:latin typeface="Segoe UI"/>
                        </a:defRPr>
                      </a:pPr>
                      <a:r>
                        <a:t>193,328.0</a:t>
                      </a:r>
                    </a:p>
                  </a:txBody>
                  <a:tcPr anchor="ctr" marL="73152" marR="73152" marT="27432" marB="27432">
                    <a:solidFill>
                      <a:srgbClr val="F1F5F9"/>
                    </a:solidFill>
                  </a:tcPr>
                </a:tc>
                <a:tc>
                  <a:txBody>
                    <a:bodyPr/>
                    <a:lstStyle/>
                    <a:p>
                      <a:pPr algn="r">
                        <a:defRPr sz="819" b="0">
                          <a:solidFill>
                            <a:srgbClr val="0F172A"/>
                          </a:solidFill>
                          <a:latin typeface="Segoe UI"/>
                        </a:defRPr>
                      </a:pPr>
                      <a:r>
                        <a:t>24,234.9</a:t>
                      </a:r>
                    </a:p>
                  </a:txBody>
                  <a:tcPr anchor="ctr" marL="73152" marR="73152" marT="27432" marB="27432">
                    <a:solidFill>
                      <a:srgbClr val="F1F5F9"/>
                    </a:solidFill>
                  </a:tcPr>
                </a:tc>
                <a:tc>
                  <a:txBody>
                    <a:bodyPr/>
                    <a:lstStyle/>
                    <a:p>
                      <a:pPr algn="r">
                        <a:defRPr sz="819" b="0">
                          <a:solidFill>
                            <a:srgbClr val="0F172A"/>
                          </a:solidFill>
                          <a:latin typeface="Segoe UI"/>
                        </a:defRPr>
                      </a:pPr>
                      <a:r>
                        <a:t>2,247.5</a:t>
                      </a:r>
                    </a:p>
                  </a:txBody>
                  <a:tcPr anchor="ctr" marL="73152" marR="73152" marT="27432" marB="27432">
                    <a:solidFill>
                      <a:srgbClr val="F1F5F9"/>
                    </a:solidFill>
                  </a:tcPr>
                </a:tc>
                <a:tc>
                  <a:txBody>
                    <a:bodyPr/>
                    <a:lstStyle/>
                    <a:p>
                      <a:pPr algn="r">
                        <a:defRPr sz="819" b="0">
                          <a:solidFill>
                            <a:srgbClr val="0F172A"/>
                          </a:solidFill>
                          <a:latin typeface="Segoe UI"/>
                        </a:defRPr>
                      </a:pPr>
                      <a:r>
                        <a:t>86.02×</a:t>
                      </a:r>
                    </a:p>
                  </a:txBody>
                  <a:tcPr anchor="ctr" marL="73152" marR="73152" marT="27432" marB="27432">
                    <a:solidFill>
                      <a:srgbClr val="F1F5F9"/>
                    </a:solidFill>
                  </a:tcPr>
                </a:tc>
                <a:tc>
                  <a:txBody>
                    <a:bodyPr/>
                    <a:lstStyle/>
                    <a:p>
                      <a:pPr algn="r">
                        <a:defRPr sz="819" b="0">
                          <a:solidFill>
                            <a:srgbClr val="0F172A"/>
                          </a:solidFill>
                          <a:latin typeface="Segoe UI"/>
                        </a:defRPr>
                      </a:pPr>
                      <a:r>
                        <a:t>10.78×</a:t>
                      </a:r>
                    </a:p>
                  </a:txBody>
                  <a:tcPr anchor="ctr" marL="73152" marR="73152" marT="27432" marB="27432">
                    <a:solidFill>
                      <a:srgbClr val="F1F5F9"/>
                    </a:solidFill>
                  </a:tcPr>
                </a:tc>
              </a:tr>
            </a:tbl>
          </a:graphicData>
        </a:graphic>
      </p:graphicFrame>
      <p:sp>
        <p:nvSpPr>
          <p:cNvPr id="11" name="TextBox 10"/>
          <p:cNvSpPr txBox="1"/>
          <p:nvPr/>
        </p:nvSpPr>
        <p:spPr>
          <a:xfrm>
            <a:off x="914400" y="3977639"/>
            <a:ext cx="5669280" cy="2148840"/>
          </a:xfrm>
          <a:prstGeom prst="rect">
            <a:avLst/>
          </a:prstGeom>
          <a:noFill/>
        </p:spPr>
        <p:txBody>
          <a:bodyPr wrap="square" lIns="0" rIns="0" tIns="0" bIns="0">
            <a:spAutoFit/>
          </a:bodyPr>
          <a:lstStyle/>
          <a:p>
            <a:pPr>
              <a:spcBef>
                <a:spcPts val="200"/>
              </a:spcBef>
              <a:defRPr sz="850" b="1">
                <a:solidFill>
                  <a:srgbClr val="047857"/>
                </a:solidFill>
                <a:latin typeface="Segoe UI"/>
              </a:defRPr>
            </a:pPr>
            <a:r>
              <a:t>• Kỷ lục tăng tốc 104.72× tại V1 (K=3840):</a:t>
            </a:r>
          </a:p>
          <a:p>
            <a:pPr>
              <a:defRPr sz="780">
                <a:solidFill>
                  <a:srgbClr val="475569"/>
                </a:solidFill>
                <a:latin typeface="Segoe UI"/>
              </a:defRPr>
            </a:pPr>
            <a:r>
              <a:t>  Thuật toán Naive mất tới 78.3 giây (~1.3 phút), trong khi Incremental Heap hoàn thành chỉ trong 0.75 giây!</a:t>
            </a:r>
          </a:p>
          <a:p>
            <a:pPr>
              <a:spcBef>
                <a:spcPts val="200"/>
              </a:spcBef>
              <a:defRPr sz="850" b="1">
                <a:solidFill>
                  <a:srgbClr val="1D4ED8"/>
                </a:solidFill>
                <a:latin typeface="Segoe UI"/>
              </a:defRPr>
            </a:pPr>
            <a:r>
              <a:t>• E1 K=3840: Naive mất hơn 3.2 phút (193s) → Inc chỉ 2.25 giây:</a:t>
            </a:r>
          </a:p>
          <a:p>
            <a:pPr>
              <a:defRPr sz="780">
                <a:solidFill>
                  <a:srgbClr val="475569"/>
                </a:solidFill>
                <a:latin typeface="Segoe UI"/>
              </a:defRPr>
            </a:pPr>
            <a:r>
              <a:t>  Tăng tốc 86.02× giúp tiết kiệm tài nguyên tính toán khổng lồ khi huấn luyện các bộ từ điển subword quy mô lớn.</a:t>
            </a:r>
          </a:p>
          <a:p>
            <a:pPr>
              <a:spcBef>
                <a:spcPts val="200"/>
              </a:spcBef>
              <a:defRPr sz="850" b="1">
                <a:solidFill>
                  <a:srgbClr val="1D4ED8"/>
                </a:solidFill>
                <a:latin typeface="Segoe UI"/>
              </a:defRPr>
            </a:pPr>
            <a:r>
              <a:t>• Tăng tốc Noheap so với Inc:</a:t>
            </a:r>
          </a:p>
          <a:p>
            <a:pPr>
              <a:defRPr sz="780">
                <a:solidFill>
                  <a:srgbClr val="475569"/>
                </a:solidFill>
                <a:latin typeface="Segoe UI"/>
              </a:defRPr>
            </a:pPr>
            <a:r>
              <a:t>  Inc nhanh hơn Noheap từ 1.32× đến 17.06×, chứng minh việc thay thế quét tuyến tính O(Pₜ) bằng Heap O(log H) mang lại lợi ích bứt phá ở K lớn.</a:t>
            </a:r>
          </a:p>
          <a:p>
            <a:pPr>
              <a:spcBef>
                <a:spcPts val="200"/>
              </a:spcBef>
              <a:defRPr sz="850" b="1">
                <a:solidFill>
                  <a:srgbClr val="1D4ED8"/>
                </a:solidFill>
                <a:latin typeface="Segoe UI"/>
              </a:defRPr>
            </a:pPr>
            <a:r>
              <a:t>• Bảo đảm tính chính xác toán học:</a:t>
            </a:r>
          </a:p>
          <a:p>
            <a:pPr>
              <a:defRPr sz="780">
                <a:solidFill>
                  <a:srgbClr val="475569"/>
                </a:solidFill>
                <a:latin typeface="Segoe UI"/>
              </a:defRPr>
            </a:pPr>
            <a:r>
              <a:t>  Toàn bộ 3 biến thể sinh ra cùng một danh sách merge chính xác 100% trên cùng tập dữ liệu.</a:t>
            </a:r>
          </a:p>
        </p:txBody>
      </p:sp>
      <p:sp>
        <p:nvSpPr>
          <p:cNvPr id="12" name="Rounded Rectangle 11"/>
          <p:cNvSpPr/>
          <p:nvPr/>
        </p:nvSpPr>
        <p:spPr>
          <a:xfrm>
            <a:off x="7040880" y="1463040"/>
            <a:ext cx="4419295"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q3_train_ms.png"/>
          <p:cNvPicPr>
            <a:picLocks noChangeAspect="1"/>
          </p:cNvPicPr>
          <p:nvPr/>
        </p:nvPicPr>
        <p:blipFill>
          <a:blip r:embed="rId2"/>
          <a:stretch>
            <a:fillRect/>
          </a:stretch>
        </p:blipFill>
        <p:spPr>
          <a:xfrm>
            <a:off x="7178040" y="1600200"/>
            <a:ext cx="4144975" cy="2148840"/>
          </a:xfrm>
          <a:prstGeom prst="rect">
            <a:avLst/>
          </a:prstGeom>
        </p:spPr>
      </p:pic>
      <p:pic>
        <p:nvPicPr>
          <p:cNvPr id="14" name="Picture 13" descr="rq3_training_memory.png"/>
          <p:cNvPicPr>
            <a:picLocks noChangeAspect="1"/>
          </p:cNvPicPr>
          <p:nvPr/>
        </p:nvPicPr>
        <p:blipFill>
          <a:blip r:embed="rId3"/>
          <a:stretch>
            <a:fillRect/>
          </a:stretch>
        </p:blipFill>
        <p:spPr>
          <a:xfrm>
            <a:off x="7178040" y="3977639"/>
            <a:ext cx="4144975" cy="21488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KIỂM THỬ HỆ THỐNG</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Kiểm thử Phần mềm Toàn diện &amp; Gia cố Bộ Giải mã (Hardening)</a:t>
            </a:r>
          </a:p>
          <a:p>
            <a:pPr>
              <a:spcBef>
                <a:spcPts val="200"/>
              </a:spcBef>
              <a:defRPr sz="1000">
                <a:solidFill>
                  <a:srgbClr val="64748B"/>
                </a:solidFill>
                <a:latin typeface="Segoe UI"/>
              </a:defRPr>
            </a:pPr>
            <a:r>
              <a:t>761 Pytest Passed 100% · Xử lý trường hợp biên cực trị và phát hiện dữ liệu lỗi</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14 / 17</a:t>
            </a:r>
          </a:p>
        </p:txBody>
      </p:sp>
      <p:sp>
        <p:nvSpPr>
          <p:cNvPr id="8" name="Rounded Rectangle 7"/>
          <p:cNvSpPr/>
          <p:nvPr/>
        </p:nvSpPr>
        <p:spPr>
          <a:xfrm>
            <a:off x="731520" y="146304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96112" y="1600200"/>
            <a:ext cx="4913071" cy="34747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761 / 761 Pytest Passed — Toàn diện &amp; Tự động hóa</a:t>
            </a:r>
          </a:p>
        </p:txBody>
      </p:sp>
      <p:sp>
        <p:nvSpPr>
          <p:cNvPr id="10" name="TextBox 9"/>
          <p:cNvSpPr txBox="1"/>
          <p:nvPr/>
        </p:nvSpPr>
        <p:spPr>
          <a:xfrm>
            <a:off x="896112" y="2011680"/>
            <a:ext cx="4913071" cy="1645920"/>
          </a:xfrm>
          <a:prstGeom prst="rect">
            <a:avLst/>
          </a:prstGeom>
          <a:noFill/>
        </p:spPr>
        <p:txBody>
          <a:bodyPr wrap="square" lIns="0" rIns="0" tIns="0" bIns="0">
            <a:spAutoFit/>
          </a:bodyPr>
          <a:lstStyle/>
          <a:p>
            <a:pPr>
              <a:spcBef>
                <a:spcPts val="300"/>
              </a:spcBef>
              <a:defRPr sz="830">
                <a:solidFill>
                  <a:srgbClr val="0F172A"/>
                </a:solidFill>
                <a:latin typeface="Segoe UI"/>
              </a:defRPr>
            </a:pPr>
            <a:r>
              <a:t>• 100% bộ kiểm thử tự động vượt qua trong 28.26 giây.</a:t>
            </a:r>
          </a:p>
          <a:p>
            <a:pPr>
              <a:spcBef>
                <a:spcPts val="300"/>
              </a:spcBef>
              <a:defRPr sz="830">
                <a:solidFill>
                  <a:srgbClr val="475569"/>
                </a:solidFill>
                <a:latin typeface="Segoe UI"/>
              </a:defRPr>
            </a:pPr>
            <a:r>
              <a:t>• Bao phủ toàn bộ các module: RLE, Huffman, LZW, BPE Trainer (3 biến thể), Codec Container và Analysis Scripts.</a:t>
            </a:r>
          </a:p>
          <a:p>
            <a:pPr>
              <a:spcBef>
                <a:spcPts val="300"/>
              </a:spcBef>
              <a:defRPr sz="830">
                <a:solidFill>
                  <a:srgbClr val="475569"/>
                </a:solidFill>
                <a:latin typeface="Segoe UI"/>
              </a:defRPr>
            </a:pPr>
            <a:r>
              <a:t>• Kiểm thử tính tương đương (Equivalence Oracle): Khẳng định Naive, Noheap và Inc sinh cùng danh sách merge trên mọi tập input.</a:t>
            </a:r>
          </a:p>
        </p:txBody>
      </p:sp>
      <p:sp>
        <p:nvSpPr>
          <p:cNvPr id="11" name="Rounded Rectangle 10"/>
          <p:cNvSpPr/>
          <p:nvPr/>
        </p:nvSpPr>
        <p:spPr>
          <a:xfrm>
            <a:off x="6217920" y="146304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82512" y="1600200"/>
            <a:ext cx="4913071"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Gia cố Decoder (Hardening) — Bảo mật &amp; Tính mạnh mẽ</a:t>
            </a:r>
          </a:p>
        </p:txBody>
      </p:sp>
      <p:sp>
        <p:nvSpPr>
          <p:cNvPr id="13" name="TextBox 12"/>
          <p:cNvSpPr txBox="1"/>
          <p:nvPr/>
        </p:nvSpPr>
        <p:spPr>
          <a:xfrm>
            <a:off x="6382512" y="2011680"/>
            <a:ext cx="4913071" cy="1645920"/>
          </a:xfrm>
          <a:prstGeom prst="rect">
            <a:avLst/>
          </a:prstGeom>
          <a:noFill/>
        </p:spPr>
        <p:txBody>
          <a:bodyPr wrap="square" lIns="0" rIns="0" tIns="0" bIns="0">
            <a:spAutoFit/>
          </a:bodyPr>
          <a:lstStyle/>
          <a:p>
            <a:pPr>
              <a:spcBef>
                <a:spcPts val="300"/>
              </a:spcBef>
              <a:defRPr sz="830">
                <a:solidFill>
                  <a:srgbClr val="0F172A"/>
                </a:solidFill>
                <a:latin typeface="Segoe UI"/>
              </a:defRPr>
            </a:pPr>
            <a:r>
              <a:t>• LZW Hardening: Kiểm tra và từ chối nghiêm ngặt 15/15 giá trị padding bẩn ở nibble cuối; từ chối mã vượt dải [0, 4095].</a:t>
            </a:r>
          </a:p>
          <a:p>
            <a:pPr>
              <a:spcBef>
                <a:spcPts val="300"/>
              </a:spcBef>
              <a:defRPr sz="830">
                <a:solidFill>
                  <a:srgbClr val="475569"/>
                </a:solidFill>
                <a:latin typeface="Segoe UI"/>
              </a:defRPr>
            </a:pPr>
            <a:r>
              <a:t>• Huffman Hardening: Phát hiện và ném ngoại lệ khi cây mã vượt khả năng biểu diễn (oversubscribed code lengths), payload thừa hoặc bit padding khác 0.</a:t>
            </a:r>
          </a:p>
          <a:p>
            <a:pPr>
              <a:spcBef>
                <a:spcPts val="300"/>
              </a:spcBef>
              <a:defRPr sz="830">
                <a:solidFill>
                  <a:srgbClr val="475569"/>
                </a:solidFill>
                <a:latin typeface="Segoe UI"/>
              </a:defRPr>
            </a:pPr>
            <a:r>
              <a:t>• BPE Hardening: Kiểm tra định dạng bảng merge, ID token ngoài từ điển, khớp kích thước gốc.</a:t>
            </a:r>
          </a:p>
        </p:txBody>
      </p:sp>
      <p:sp>
        <p:nvSpPr>
          <p:cNvPr id="14" name="Rounded Rectangle 13"/>
          <p:cNvSpPr/>
          <p:nvPr/>
        </p:nvSpPr>
        <p:spPr>
          <a:xfrm>
            <a:off x="731520" y="393192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96112" y="4069080"/>
            <a:ext cx="4913071" cy="34747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Trường hợp Biên Cực trị (Edge Cases) — Độ bền bỉ của Codec</a:t>
            </a:r>
          </a:p>
        </p:txBody>
      </p:sp>
      <p:sp>
        <p:nvSpPr>
          <p:cNvPr id="16" name="TextBox 15"/>
          <p:cNvSpPr txBox="1"/>
          <p:nvPr/>
        </p:nvSpPr>
        <p:spPr>
          <a:xfrm>
            <a:off x="896112" y="4480560"/>
            <a:ext cx="4913071" cy="1645920"/>
          </a:xfrm>
          <a:prstGeom prst="rect">
            <a:avLst/>
          </a:prstGeom>
          <a:noFill/>
        </p:spPr>
        <p:txBody>
          <a:bodyPr wrap="square" lIns="0" rIns="0" tIns="0" bIns="0">
            <a:spAutoFit/>
          </a:bodyPr>
          <a:lstStyle/>
          <a:p>
            <a:pPr>
              <a:spcBef>
                <a:spcPts val="300"/>
              </a:spcBef>
              <a:defRPr sz="830">
                <a:solidFill>
                  <a:srgbClr val="0F172A"/>
                </a:solidFill>
                <a:latin typeface="Segoe UI"/>
              </a:defRPr>
            </a:pPr>
            <a:r>
              <a:t>• Đầu vào rỗng (Empty stream, 0 byte): Trả về container tối thiểu, giải nén ra 0 byte mà không crash.</a:t>
            </a:r>
          </a:p>
          <a:p>
            <a:pPr>
              <a:spcBef>
                <a:spcPts val="300"/>
              </a:spcBef>
              <a:defRPr sz="830">
                <a:solidFill>
                  <a:srgbClr val="475569"/>
                </a:solidFill>
                <a:latin typeface="Segoe UI"/>
              </a:defRPr>
            </a:pPr>
            <a:r>
              <a:t>• Đầu vào 1 byte &amp; 64 KiB cùng 1 byte: Kiểm tra giới hạn co giãn của RLE và cây suy biến của Huffman.</a:t>
            </a:r>
          </a:p>
          <a:p>
            <a:pPr>
              <a:spcBef>
                <a:spcPts val="300"/>
              </a:spcBef>
              <a:defRPr sz="830">
                <a:solidFill>
                  <a:srgbClr val="475569"/>
                </a:solidFill>
                <a:latin typeface="Segoe UI"/>
              </a:defRPr>
            </a:pPr>
            <a:r>
              <a:t>• Chuỗi 256 byte đầy đủ: Kiểm tra phân bố đều tuyệt đối.</a:t>
            </a:r>
          </a:p>
          <a:p>
            <a:pPr>
              <a:spcBef>
                <a:spcPts val="300"/>
              </a:spcBef>
              <a:defRPr sz="830">
                <a:solidFill>
                  <a:srgbClr val="475569"/>
                </a:solidFill>
                <a:latin typeface="Segoe UI"/>
              </a:defRPr>
            </a:pPr>
            <a:r>
              <a:t>• Chuỗi có chu kỳ phức tạp: 'ABABABA' và 'aaabdaaabac' với K=3 kiểm tra cơ chế giải quyết xung đột tần suất (tie-breaking).</a:t>
            </a:r>
          </a:p>
        </p:txBody>
      </p:sp>
      <p:sp>
        <p:nvSpPr>
          <p:cNvPr id="17" name="Rounded Rectangle 16"/>
          <p:cNvSpPr/>
          <p:nvPr/>
        </p:nvSpPr>
        <p:spPr>
          <a:xfrm>
            <a:off x="6217920" y="393192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82512" y="4069080"/>
            <a:ext cx="4913071" cy="347472"/>
          </a:xfrm>
          <a:prstGeom prst="round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Toàn vẹn Dữ liệu (Integrity) — Đối chiếu Mã băm SHA-256</a:t>
            </a:r>
          </a:p>
        </p:txBody>
      </p:sp>
      <p:sp>
        <p:nvSpPr>
          <p:cNvPr id="19" name="TextBox 18"/>
          <p:cNvSpPr txBox="1"/>
          <p:nvPr/>
        </p:nvSpPr>
        <p:spPr>
          <a:xfrm>
            <a:off x="6382512" y="4480560"/>
            <a:ext cx="4913071" cy="1645920"/>
          </a:xfrm>
          <a:prstGeom prst="rect">
            <a:avLst/>
          </a:prstGeom>
          <a:noFill/>
        </p:spPr>
        <p:txBody>
          <a:bodyPr wrap="square" lIns="0" rIns="0" tIns="0" bIns="0">
            <a:spAutoFit/>
          </a:bodyPr>
          <a:lstStyle/>
          <a:p>
            <a:pPr>
              <a:spcBef>
                <a:spcPts val="300"/>
              </a:spcBef>
              <a:defRPr sz="830">
                <a:solidFill>
                  <a:srgbClr val="0F172A"/>
                </a:solidFill>
                <a:latin typeface="Segoe UI"/>
              </a:defRPr>
            </a:pPr>
            <a:r>
              <a:t>• Mọi lượt đo timing và đo memory đều đối chiếu SHA-256 đầy đủ sau khi giải nén.</a:t>
            </a:r>
          </a:p>
          <a:p>
            <a:pPr>
              <a:spcBef>
                <a:spcPts val="300"/>
              </a:spcBef>
              <a:defRPr sz="830">
                <a:solidFill>
                  <a:srgbClr val="475569"/>
                </a:solidFill>
                <a:latin typeface="Segoe UI"/>
              </a:defRPr>
            </a:pPr>
            <a:r>
              <a:t>• Hồi quy bộ nhớ nghiêm ngặt: Nếu chỉ riêng lượt đo tracemalloc bị sai giải nén, pipeline lập tức báo lỗi và dừng toàn bộ hệ thống.</a:t>
            </a:r>
          </a:p>
          <a:p>
            <a:pPr>
              <a:spcBef>
                <a:spcPts val="300"/>
              </a:spcBef>
              <a:defRPr sz="830">
                <a:solidFill>
                  <a:srgbClr val="475569"/>
                </a:solidFill>
                <a:latin typeface="Segoe UI"/>
              </a:defRPr>
            </a:pPr>
            <a:r>
              <a:t>• Tự động giải phóng tài nguyên: Đảm bảo dừng tracemalloc ngay cả khi codec ném ngoại lệ.</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THẢO LUẬN &amp; GIỚI HẠN</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Giới hạn Nghiên cứu &amp; Tính Trung thực Khoa học</a:t>
            </a:r>
          </a:p>
          <a:p>
            <a:pPr>
              <a:spcBef>
                <a:spcPts val="200"/>
              </a:spcBef>
              <a:defRPr sz="1000">
                <a:solidFill>
                  <a:srgbClr val="64748B"/>
                </a:solidFill>
                <a:latin typeface="Segoe UI"/>
              </a:defRPr>
            </a:pPr>
            <a:r>
              <a:t>Minh bạch về phạm vi thực nghiệm, điều kiện môi trường và các giả định phương pháp luận</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15 / 17</a:t>
            </a:r>
          </a:p>
        </p:txBody>
      </p:sp>
      <p:sp>
        <p:nvSpPr>
          <p:cNvPr id="8" name="Rounded Rectangle 7"/>
          <p:cNvSpPr/>
          <p:nvPr/>
        </p:nvSpPr>
        <p:spPr>
          <a:xfrm>
            <a:off x="731520" y="146304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76495" cy="320040"/>
          </a:xfrm>
          <a:prstGeom prst="rect">
            <a:avLst/>
          </a:prstGeom>
          <a:noFill/>
        </p:spPr>
        <p:txBody>
          <a:bodyPr wrap="none">
            <a:spAutoFit/>
          </a:bodyPr>
          <a:lstStyle/>
          <a:p>
            <a:pPr>
              <a:defRPr sz="1100" b="1">
                <a:solidFill>
                  <a:srgbClr val="E11D48"/>
                </a:solidFill>
                <a:latin typeface="Segoe UI"/>
              </a:defRPr>
            </a:pPr>
            <a:r>
              <a:t>1. Ngữ liệu V1/E1 Không Song Song (Non-parallel)</a:t>
            </a:r>
          </a:p>
        </p:txBody>
      </p:sp>
      <p:sp>
        <p:nvSpPr>
          <p:cNvPr id="10" name="TextBox 9"/>
          <p:cNvSpPr txBox="1"/>
          <p:nvPr/>
        </p:nvSpPr>
        <p:spPr>
          <a:xfrm>
            <a:off x="914400" y="1965960"/>
            <a:ext cx="4876495" cy="1691640"/>
          </a:xfrm>
          <a:prstGeom prst="rect">
            <a:avLst/>
          </a:prstGeom>
          <a:noFill/>
        </p:spPr>
        <p:txBody>
          <a:bodyPr wrap="square" lIns="0" rIns="0" tIns="0" bIns="0">
            <a:spAutoFit/>
          </a:bodyPr>
          <a:lstStyle/>
          <a:p>
            <a:pPr>
              <a:spcBef>
                <a:spcPts val="300"/>
              </a:spcBef>
              <a:defRPr sz="830">
                <a:solidFill>
                  <a:srgbClr val="334155"/>
                </a:solidFill>
                <a:latin typeface="Segoe UI"/>
              </a:defRPr>
            </a:pPr>
            <a:r>
              <a:t>• V1 và E1 được lấy từ các bài viết độc lập trên Wikipedia Tiếng Việt và Tiếng Anh.</a:t>
            </a:r>
          </a:p>
          <a:p>
            <a:pPr>
              <a:spcBef>
                <a:spcPts val="300"/>
              </a:spcBef>
              <a:defRPr sz="830">
                <a:solidFill>
                  <a:srgbClr val="334155"/>
                </a:solidFill>
                <a:latin typeface="Segoe UI"/>
              </a:defRPr>
            </a:pPr>
            <a:r>
              <a:t>• Hệ quả: Khác biệt về số token giữa hai ngôn ngữ phản ánh đồng thời cả cấu trúc ngôn ngữ lẫn chủ đề nội dung của bài viết.</a:t>
            </a:r>
          </a:p>
          <a:p>
            <a:pPr>
              <a:spcBef>
                <a:spcPts val="300"/>
              </a:spcBef>
              <a:defRPr sz="830">
                <a:solidFill>
                  <a:srgbClr val="334155"/>
                </a:solidFill>
                <a:latin typeface="Segoe UI"/>
              </a:defRPr>
            </a:pPr>
            <a:r>
              <a:t>• Kết luận thận trọng: Không thể suy rộng thành khẳng định tiếng Việt luôn tốn token hơn tiếng Anh cho cùng một ngữ nghĩa.</a:t>
            </a:r>
          </a:p>
        </p:txBody>
      </p:sp>
      <p:sp>
        <p:nvSpPr>
          <p:cNvPr id="11" name="Rounded Rectangle 10"/>
          <p:cNvSpPr/>
          <p:nvPr/>
        </p:nvSpPr>
        <p:spPr>
          <a:xfrm>
            <a:off x="6217920" y="146304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600200"/>
            <a:ext cx="4876495" cy="320040"/>
          </a:xfrm>
          <a:prstGeom prst="rect">
            <a:avLst/>
          </a:prstGeom>
          <a:noFill/>
        </p:spPr>
        <p:txBody>
          <a:bodyPr wrap="none">
            <a:spAutoFit/>
          </a:bodyPr>
          <a:lstStyle/>
          <a:p>
            <a:pPr>
              <a:defRPr sz="1100" b="1">
                <a:solidFill>
                  <a:srgbClr val="D97706"/>
                </a:solidFill>
                <a:latin typeface="Segoe UI"/>
              </a:defRPr>
            </a:pPr>
            <a:r>
              <a:t>2. Cỡ Mẫu V1 trong RQ1 &amp; Sai số Môi trường</a:t>
            </a:r>
          </a:p>
        </p:txBody>
      </p:sp>
      <p:sp>
        <p:nvSpPr>
          <p:cNvPr id="13" name="TextBox 12"/>
          <p:cNvSpPr txBox="1"/>
          <p:nvPr/>
        </p:nvSpPr>
        <p:spPr>
          <a:xfrm>
            <a:off x="6400800" y="1965960"/>
            <a:ext cx="4876495" cy="1691640"/>
          </a:xfrm>
          <a:prstGeom prst="rect">
            <a:avLst/>
          </a:prstGeom>
          <a:noFill/>
        </p:spPr>
        <p:txBody>
          <a:bodyPr wrap="square" lIns="0" rIns="0" tIns="0" bIns="0">
            <a:spAutoFit/>
          </a:bodyPr>
          <a:lstStyle/>
          <a:p>
            <a:pPr>
              <a:spcBef>
                <a:spcPts val="300"/>
              </a:spcBef>
              <a:defRPr sz="830">
                <a:solidFill>
                  <a:srgbClr val="334155"/>
                </a:solidFill>
                <a:latin typeface="Segoe UI"/>
              </a:defRPr>
            </a:pPr>
            <a:r>
              <a:t>• RQ1 chỉ thu thập 1 mẫu prefix Wikipedia tiếng Việt cho mỗi quy mô kích thước.</a:t>
            </a:r>
          </a:p>
          <a:p>
            <a:pPr>
              <a:spcBef>
                <a:spcPts val="300"/>
              </a:spcBef>
              <a:defRPr sz="830">
                <a:solidFill>
                  <a:srgbClr val="334155"/>
                </a:solidFill>
                <a:latin typeface="Segoe UI"/>
              </a:defRPr>
            </a:pPr>
            <a:r>
              <a:t>• Dải seed của dữ liệu tổng hợp C1-C3 chỉ phản ánh biến thiên giữa các mẫu dữ liệu, không phải khoảng tin cậy của cùng một input.</a:t>
            </a:r>
          </a:p>
          <a:p>
            <a:pPr>
              <a:spcBef>
                <a:spcPts val="300"/>
              </a:spcBef>
              <a:defRPr sz="830">
                <a:solidFill>
                  <a:srgbClr val="334155"/>
                </a:solidFill>
                <a:latin typeface="Segoe UI"/>
              </a:defRPr>
            </a:pPr>
            <a:r>
              <a:t>• Nhiễu tải hệ thống: Một số phép đo thực hiện ở các phiên khác nhau, sai khác tải nền hệ điều hành có thể tạo sai số nhỏ.</a:t>
            </a:r>
          </a:p>
        </p:txBody>
      </p:sp>
      <p:sp>
        <p:nvSpPr>
          <p:cNvPr id="14" name="Rounded Rectangle 13"/>
          <p:cNvSpPr/>
          <p:nvPr/>
        </p:nvSpPr>
        <p:spPr>
          <a:xfrm>
            <a:off x="731520" y="393192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69080"/>
            <a:ext cx="4876495" cy="320040"/>
          </a:xfrm>
          <a:prstGeom prst="rect">
            <a:avLst/>
          </a:prstGeom>
          <a:noFill/>
        </p:spPr>
        <p:txBody>
          <a:bodyPr wrap="none">
            <a:spAutoFit/>
          </a:bodyPr>
          <a:lstStyle/>
          <a:p>
            <a:pPr>
              <a:defRPr sz="1100" b="1">
                <a:solidFill>
                  <a:srgbClr val="2563EB"/>
                </a:solidFill>
                <a:latin typeface="Segoe UI"/>
              </a:defRPr>
            </a:pPr>
            <a:r>
              <a:t>3. Huấn luyện Naive Chỉ Đo Một Lượt</a:t>
            </a:r>
          </a:p>
        </p:txBody>
      </p:sp>
      <p:sp>
        <p:nvSpPr>
          <p:cNvPr id="16" name="TextBox 15"/>
          <p:cNvSpPr txBox="1"/>
          <p:nvPr/>
        </p:nvSpPr>
        <p:spPr>
          <a:xfrm>
            <a:off x="914400" y="4434840"/>
            <a:ext cx="4876495" cy="1691640"/>
          </a:xfrm>
          <a:prstGeom prst="rect">
            <a:avLst/>
          </a:prstGeom>
          <a:noFill/>
        </p:spPr>
        <p:txBody>
          <a:bodyPr wrap="square" lIns="0" rIns="0" tIns="0" bIns="0">
            <a:spAutoFit/>
          </a:bodyPr>
          <a:lstStyle/>
          <a:p>
            <a:pPr>
              <a:spcBef>
                <a:spcPts val="300"/>
              </a:spcBef>
              <a:defRPr sz="830">
                <a:solidFill>
                  <a:srgbClr val="334155"/>
                </a:solidFill>
                <a:latin typeface="Segoe UI"/>
              </a:defRPr>
            </a:pPr>
            <a:r>
              <a:t>• Do biến thể Naive chạy rất lâu ở K=3840 (lên tới hơn 3 phút), nhóm chỉ đo 1 lượt thay vì lấy trung vị 3 lượt.</a:t>
            </a:r>
          </a:p>
          <a:p>
            <a:pPr>
              <a:spcBef>
                <a:spcPts val="300"/>
              </a:spcBef>
              <a:defRPr sz="830">
                <a:solidFill>
                  <a:srgbClr val="334155"/>
                </a:solidFill>
                <a:latin typeface="Segoe UI"/>
              </a:defRPr>
            </a:pPr>
            <a:r>
              <a:t>• Tính trung thực: Nhóm giữ nguyên số đo thực tế, không nội suy hay 'làm đẹp' dữ liệu để tạo khoảng tin cậy giả.</a:t>
            </a:r>
          </a:p>
          <a:p>
            <a:pPr>
              <a:spcBef>
                <a:spcPts val="300"/>
              </a:spcBef>
              <a:defRPr sz="830">
                <a:solidFill>
                  <a:srgbClr val="334155"/>
                </a:solidFill>
                <a:latin typeface="Segoe UI"/>
              </a:defRPr>
            </a:pPr>
            <a:r>
              <a:t>• Tỷ số tăng tốc (17.76× – 104.72×) là kết quả quan sát thực nghiệm, không phải cam kết phổ quát cho mọi cấu hình.</a:t>
            </a:r>
          </a:p>
        </p:txBody>
      </p:sp>
      <p:sp>
        <p:nvSpPr>
          <p:cNvPr id="17" name="Rounded Rectangle 16"/>
          <p:cNvSpPr/>
          <p:nvPr/>
        </p:nvSpPr>
        <p:spPr>
          <a:xfrm>
            <a:off x="6217920" y="393192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069080"/>
            <a:ext cx="4876495" cy="320040"/>
          </a:xfrm>
          <a:prstGeom prst="rect">
            <a:avLst/>
          </a:prstGeom>
          <a:noFill/>
        </p:spPr>
        <p:txBody>
          <a:bodyPr wrap="none">
            <a:spAutoFit/>
          </a:bodyPr>
          <a:lstStyle/>
          <a:p>
            <a:pPr>
              <a:defRPr sz="1100" b="1">
                <a:solidFill>
                  <a:srgbClr val="0891B2"/>
                </a:solidFill>
                <a:latin typeface="Segoe UI"/>
              </a:defRPr>
            </a:pPr>
            <a:r>
              <a:t>4. Chi phí Bộ nhớ của Huffman là do Cài đặt Python</a:t>
            </a:r>
          </a:p>
        </p:txBody>
      </p:sp>
      <p:sp>
        <p:nvSpPr>
          <p:cNvPr id="19" name="TextBox 18"/>
          <p:cNvSpPr txBox="1"/>
          <p:nvPr/>
        </p:nvSpPr>
        <p:spPr>
          <a:xfrm>
            <a:off x="6400800" y="4434840"/>
            <a:ext cx="4876495" cy="1691640"/>
          </a:xfrm>
          <a:prstGeom prst="rect">
            <a:avLst/>
          </a:prstGeom>
          <a:noFill/>
        </p:spPr>
        <p:txBody>
          <a:bodyPr wrap="square" lIns="0" rIns="0" tIns="0" bIns="0">
            <a:spAutoFit/>
          </a:bodyPr>
          <a:lstStyle/>
          <a:p>
            <a:pPr>
              <a:spcBef>
                <a:spcPts val="300"/>
              </a:spcBef>
              <a:defRPr sz="830">
                <a:solidFill>
                  <a:srgbClr val="334155"/>
                </a:solidFill>
                <a:latin typeface="Segoe UI"/>
              </a:defRPr>
            </a:pPr>
            <a:r>
              <a:t>• Đỉnh cấp phát 275 MB của Huffman là do biểu diễn chuỗi bit trung gian dạng ký tự trong Python (`bitstring`), không phải giới hạn của thuật toán.</a:t>
            </a:r>
          </a:p>
          <a:p>
            <a:pPr>
              <a:spcBef>
                <a:spcPts val="300"/>
              </a:spcBef>
              <a:defRPr sz="830">
                <a:solidFill>
                  <a:srgbClr val="334155"/>
                </a:solidFill>
                <a:latin typeface="Segoe UI"/>
              </a:defRPr>
            </a:pPr>
            <a:r>
              <a:t>• Nếu được cài đặt bằng C hoặc đóng gói bitmask mảng byte trực tiếp, mức tiêu thụ bộ nhớ của Huffman sẽ thấp hơn rất nhiều.</a:t>
            </a:r>
          </a:p>
          <a:p>
            <a:pPr>
              <a:spcBef>
                <a:spcPts val="300"/>
              </a:spcBef>
              <a:defRPr sz="830">
                <a:solidFill>
                  <a:srgbClr val="334155"/>
                </a:solidFill>
                <a:latin typeface="Segoe UI"/>
              </a:defRPr>
            </a:pPr>
            <a:r>
              <a:t>• Bộ nhớ `tracemalloc` chỉ phản ánh heap Python, không đo toàn bộ footprint RAM hệ điều hành.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10312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850" b="1">
                <a:solidFill>
                  <a:srgbClr val="FFFFFF"/>
                </a:solidFill>
                <a:latin typeface="Segoe UI"/>
              </a:defRPr>
            </a:pPr>
            <a:r>
              <a:t>TỔNG KẾT</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1900" b="1">
                <a:solidFill>
                  <a:srgbClr val="0F172A"/>
                </a:solidFill>
                <a:latin typeface="Segoe UI"/>
              </a:defRPr>
            </a:pPr>
            <a:r>
              <a:t>Kết luận &amp; 3 Đóng góp Cốt lõi của Đề tài</a:t>
            </a:r>
          </a:p>
          <a:p>
            <a:pPr>
              <a:spcBef>
                <a:spcPts val="200"/>
              </a:spcBef>
              <a:defRPr sz="1000">
                <a:solidFill>
                  <a:srgbClr val="64748B"/>
                </a:solidFill>
                <a:latin typeface="Segoe UI"/>
              </a:defRPr>
            </a:pPr>
            <a:r>
              <a:t>Học phần CSD203 — Data Structures and Algorithms with Python · Đề tài 4</a:t>
            </a:r>
          </a:p>
        </p:txBody>
      </p:sp>
      <p:sp>
        <p:nvSpPr>
          <p:cNvPr id="5" name="Rectangle 4"/>
          <p:cNvSpPr/>
          <p:nvPr/>
        </p:nvSpPr>
        <p:spPr>
          <a:xfrm>
            <a:off x="731520" y="129844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7772400" cy="228600"/>
          </a:xfrm>
          <a:prstGeom prst="rect">
            <a:avLst/>
          </a:prstGeom>
          <a:noFill/>
        </p:spPr>
        <p:txBody>
          <a:bodyPr wrap="none" lIns="0" tIns="0" rIns="0" bIns="0">
            <a:spAutoFit/>
          </a:bodyPr>
          <a:lstStyle/>
          <a:p>
            <a:pPr>
              <a:defRPr sz="800">
                <a:solidFill>
                  <a:srgbClr val="94A3B8"/>
                </a:solidFill>
                <a:latin typeface="Segoe UI"/>
              </a:defRPr>
            </a:pPr>
            <a:r>
              <a:t>CSD203 — Data Structures and Algorithms with Python · Đề tài 4: Nén Dữ Liệu &amp; BPE Tokenizer · Nhóm 4 — AI21B</a:t>
            </a:r>
          </a:p>
        </p:txBody>
      </p:sp>
      <p:sp>
        <p:nvSpPr>
          <p:cNvPr id="7" name="TextBox 6"/>
          <p:cNvSpPr txBox="1"/>
          <p:nvPr/>
        </p:nvSpPr>
        <p:spPr>
          <a:xfrm>
            <a:off x="10058400" y="6473952"/>
            <a:ext cx="1401775" cy="228600"/>
          </a:xfrm>
          <a:prstGeom prst="rect">
            <a:avLst/>
          </a:prstGeom>
          <a:noFill/>
        </p:spPr>
        <p:txBody>
          <a:bodyPr wrap="none" lIns="0" tIns="0" rIns="0" bIns="0">
            <a:spAutoFit/>
          </a:bodyPr>
          <a:lstStyle/>
          <a:p>
            <a:pPr algn="r">
              <a:defRPr sz="850" b="1">
                <a:solidFill>
                  <a:srgbClr val="64748B"/>
                </a:solidFill>
                <a:latin typeface="Segoe UI"/>
              </a:defRPr>
            </a:pPr>
            <a:r>
              <a:t>16 / 17</a:t>
            </a:r>
          </a:p>
        </p:txBody>
      </p:sp>
      <p:sp>
        <p:nvSpPr>
          <p:cNvPr id="8" name="Rounded Rectangle 7"/>
          <p:cNvSpPr/>
          <p:nvPr/>
        </p:nvSpPr>
        <p:spPr>
          <a:xfrm>
            <a:off x="731520" y="1463040"/>
            <a:ext cx="10728655" cy="14447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463040"/>
            <a:ext cx="182880" cy="14447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554480"/>
            <a:ext cx="10149840" cy="274320"/>
          </a:xfrm>
          <a:prstGeom prst="rect">
            <a:avLst/>
          </a:prstGeom>
          <a:noFill/>
        </p:spPr>
        <p:txBody>
          <a:bodyPr wrap="none">
            <a:spAutoFit/>
          </a:bodyPr>
          <a:lstStyle/>
          <a:p>
            <a:pPr>
              <a:defRPr sz="1050" b="1">
                <a:solidFill>
                  <a:srgbClr val="2563EB"/>
                </a:solidFill>
                <a:latin typeface="Segoe UI"/>
              </a:defRPr>
            </a:pPr>
            <a:r>
              <a:t>ĐÓNG GÓP 1 — LÝ THUYẾT NÉN &amp; CẤU TRÚC DỮ LIỆU</a:t>
            </a:r>
          </a:p>
        </p:txBody>
      </p:sp>
      <p:sp>
        <p:nvSpPr>
          <p:cNvPr id="11" name="TextBox 10"/>
          <p:cNvSpPr txBox="1"/>
          <p:nvPr/>
        </p:nvSpPr>
        <p:spPr>
          <a:xfrm>
            <a:off x="1097280" y="1810512"/>
            <a:ext cx="10149840" cy="1005840"/>
          </a:xfrm>
          <a:prstGeom prst="rect">
            <a:avLst/>
          </a:prstGeom>
          <a:noFill/>
        </p:spPr>
        <p:txBody>
          <a:bodyPr wrap="square" lIns="0" rIns="0" tIns="0" bIns="0">
            <a:spAutoFit/>
          </a:bodyPr>
          <a:lstStyle/>
          <a:p>
            <a:pPr>
              <a:spcBef>
                <a:spcPts val="200"/>
              </a:spcBef>
              <a:defRPr sz="819">
                <a:solidFill>
                  <a:srgbClr val="334155"/>
                </a:solidFill>
                <a:latin typeface="Segoe UI"/>
              </a:defRPr>
            </a:pPr>
            <a:r>
              <a:t>• Xác nhận thực nghiệm sự phụ thuộc mật thiết giữa bản chất dư thừa và thuật toán nén: RLE tối ưu cho run dài, Huffman bất biến với hoán vị thứ tự, LZW phụ thuộc chuỗi.</a:t>
            </a:r>
          </a:p>
          <a:p>
            <a:pPr>
              <a:spcBef>
                <a:spcPts val="200"/>
              </a:spcBef>
              <a:defRPr sz="819">
                <a:solidFill>
                  <a:srgbClr val="334155"/>
                </a:solidFill>
                <a:latin typeface="Segoe UI"/>
              </a:defRPr>
            </a:pPr>
            <a:r>
              <a:t>• Chứng minh H₀/8 không phải là cận dưới tuyệt đối cho mọi codec; LZW hoàn toàn có thể vượt qua H₀/8 khi dữ liệu có tương quan chuỗi bậc cao.</a:t>
            </a:r>
          </a:p>
          <a:p>
            <a:pPr>
              <a:spcBef>
                <a:spcPts val="200"/>
              </a:spcBef>
              <a:defRPr sz="819">
                <a:solidFill>
                  <a:srgbClr val="334155"/>
                </a:solidFill>
                <a:latin typeface="Segoe UI"/>
              </a:defRPr>
            </a:pPr>
            <a:r>
              <a:t>• Chỉ ra và giải mã hiện tượng đóng băng từ điển (frozen dictionary) khiến LZW bị phình to (&gt;1.0) khi gặp run byte quá sớm trên tệp lớn.</a:t>
            </a:r>
          </a:p>
        </p:txBody>
      </p:sp>
      <p:sp>
        <p:nvSpPr>
          <p:cNvPr id="12" name="Rounded Rectangle 11"/>
          <p:cNvSpPr/>
          <p:nvPr/>
        </p:nvSpPr>
        <p:spPr>
          <a:xfrm>
            <a:off x="731520" y="3035808"/>
            <a:ext cx="10728655" cy="14447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3035808"/>
            <a:ext cx="182880" cy="14447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27248"/>
            <a:ext cx="10149840" cy="274320"/>
          </a:xfrm>
          <a:prstGeom prst="rect">
            <a:avLst/>
          </a:prstGeom>
          <a:noFill/>
        </p:spPr>
        <p:txBody>
          <a:bodyPr wrap="none">
            <a:spAutoFit/>
          </a:bodyPr>
          <a:lstStyle/>
          <a:p>
            <a:pPr>
              <a:defRPr sz="1050" b="1">
                <a:solidFill>
                  <a:srgbClr val="E11D48"/>
                </a:solidFill>
                <a:latin typeface="Segoe UI"/>
              </a:defRPr>
            </a:pPr>
            <a:r>
              <a:t>ĐÓNG GÓP 2 — ĐÁNH GIÁ TOKENIZER LLM &amp; ĐA NGỮ</a:t>
            </a:r>
          </a:p>
        </p:txBody>
      </p:sp>
      <p:sp>
        <p:nvSpPr>
          <p:cNvPr id="15" name="TextBox 14"/>
          <p:cNvSpPr txBox="1"/>
          <p:nvPr/>
        </p:nvSpPr>
        <p:spPr>
          <a:xfrm>
            <a:off x="1097280" y="3383280"/>
            <a:ext cx="10149840" cy="1005840"/>
          </a:xfrm>
          <a:prstGeom prst="rect">
            <a:avLst/>
          </a:prstGeom>
          <a:noFill/>
        </p:spPr>
        <p:txBody>
          <a:bodyPr wrap="square" lIns="0" rIns="0" tIns="0" bIns="0">
            <a:spAutoFit/>
          </a:bodyPr>
          <a:lstStyle/>
          <a:p>
            <a:pPr>
              <a:spcBef>
                <a:spcPts val="200"/>
              </a:spcBef>
              <a:defRPr sz="819">
                <a:solidFill>
                  <a:srgbClr val="334155"/>
                </a:solidFill>
                <a:latin typeface="Segoe UI"/>
              </a:defRPr>
            </a:pPr>
            <a:r>
              <a:t>• Tách bạch rõ ràng giữa hai vai trò của BPE: Codec nén độc lập (chịu overhead bảng merge) và Tokenizer chia sẻ từ điển (chỉ tính payload token).</a:t>
            </a:r>
          </a:p>
          <a:p>
            <a:pPr>
              <a:spcBef>
                <a:spcPts val="200"/>
              </a:spcBef>
              <a:defRPr sz="819">
                <a:solidFill>
                  <a:srgbClr val="334155"/>
                </a:solidFill>
                <a:latin typeface="Segoe UI"/>
              </a:defRPr>
            </a:pPr>
            <a:r>
              <a:t>• Chứng minh tại K=3840, BPE cùng ngôn ngữ nén tốt hơn LZW tới 32.6% trên Tiếng Việt và 13.7% trên Tiếng Anh.</a:t>
            </a:r>
          </a:p>
          <a:p>
            <a:pPr>
              <a:spcBef>
                <a:spcPts val="200"/>
              </a:spcBef>
              <a:defRPr sz="819">
                <a:solidFill>
                  <a:srgbClr val="334155"/>
                </a:solidFill>
                <a:latin typeface="Segoe UI"/>
              </a:defRPr>
            </a:pPr>
            <a:r>
              <a:t>• Cảnh báo định lượng hiện tượng lạm phát token gấp 3.54 lần khi áp dụng tokenizer tiếng Anh lên tiếng Việt; nhấn mạnh tầm quan trọng của việc xây dựng tokenizer tiếng Việt bản địa cho LLM.</a:t>
            </a:r>
          </a:p>
        </p:txBody>
      </p:sp>
      <p:sp>
        <p:nvSpPr>
          <p:cNvPr id="16" name="Rounded Rectangle 15"/>
          <p:cNvSpPr/>
          <p:nvPr/>
        </p:nvSpPr>
        <p:spPr>
          <a:xfrm>
            <a:off x="731520" y="4608576"/>
            <a:ext cx="10728655" cy="14447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4608576"/>
            <a:ext cx="182880" cy="14447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4700016"/>
            <a:ext cx="10149840" cy="274320"/>
          </a:xfrm>
          <a:prstGeom prst="rect">
            <a:avLst/>
          </a:prstGeom>
          <a:noFill/>
        </p:spPr>
        <p:txBody>
          <a:bodyPr wrap="none">
            <a:spAutoFit/>
          </a:bodyPr>
          <a:lstStyle/>
          <a:p>
            <a:pPr>
              <a:defRPr sz="1050" b="1">
                <a:solidFill>
                  <a:srgbClr val="059669"/>
                </a:solidFill>
                <a:latin typeface="Segoe UI"/>
              </a:defRPr>
            </a:pPr>
            <a:r>
              <a:t>ĐÓNG GÓP 3 — THIẾT KẾ CẤU TRÚC DỮ LIỆU TỐI ƯU</a:t>
            </a:r>
          </a:p>
        </p:txBody>
      </p:sp>
      <p:sp>
        <p:nvSpPr>
          <p:cNvPr id="19" name="TextBox 18"/>
          <p:cNvSpPr txBox="1"/>
          <p:nvPr/>
        </p:nvSpPr>
        <p:spPr>
          <a:xfrm>
            <a:off x="1097280" y="4956048"/>
            <a:ext cx="10149840" cy="1005840"/>
          </a:xfrm>
          <a:prstGeom prst="rect">
            <a:avLst/>
          </a:prstGeom>
          <a:noFill/>
        </p:spPr>
        <p:txBody>
          <a:bodyPr wrap="square" lIns="0" rIns="0" tIns="0" bIns="0">
            <a:spAutoFit/>
          </a:bodyPr>
          <a:lstStyle/>
          <a:p>
            <a:pPr>
              <a:spcBef>
                <a:spcPts val="200"/>
              </a:spcBef>
              <a:defRPr sz="819">
                <a:solidFill>
                  <a:srgbClr val="334155"/>
                </a:solidFill>
                <a:latin typeface="Segoe UI"/>
              </a:defRPr>
            </a:pPr>
            <a:r>
              <a:t>• Hiện thực thành công biến thể Incremental Heap với kỹ thuật Lazy Deletion, giảm độ phức tạp chọn cực đại từ O(Pₜ) xuống O(log H).</a:t>
            </a:r>
          </a:p>
          <a:p>
            <a:pPr>
              <a:spcBef>
                <a:spcPts val="200"/>
              </a:spcBef>
              <a:defRPr sz="819">
                <a:solidFill>
                  <a:srgbClr val="334155"/>
                </a:solidFill>
                <a:latin typeface="Segoe UI"/>
              </a:defRPr>
            </a:pPr>
            <a:r>
              <a:t>• Đạt tỷ số tăng tốc ngoạn mục lên tới 104.72× so với Naive và 17.06× so với Noheap trên ngữ liệu 1 MiB.</a:t>
            </a:r>
          </a:p>
          <a:p>
            <a:pPr>
              <a:spcBef>
                <a:spcPts val="200"/>
              </a:spcBef>
              <a:defRPr sz="819">
                <a:solidFill>
                  <a:srgbClr val="334155"/>
                </a:solidFill>
                <a:latin typeface="Segoe UI"/>
              </a:defRPr>
            </a:pPr>
            <a:r>
              <a:t>• Bảo đảm 100% tính tương đương toán học về danh sách merge và vượt qua toàn bộ 761/761 ca kiểm thử phần mềm nghiêm ngặt.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448495" cy="2011680"/>
          </a:xfrm>
          <a:prstGeom prst="rect">
            <a:avLst/>
          </a:prstGeom>
          <a:noFill/>
        </p:spPr>
        <p:txBody>
          <a:bodyPr wrap="square" lIns="0" rIns="0" tIns="0" bIns="0">
            <a:spAutoFit/>
          </a:bodyPr>
          <a:lstStyle/>
          <a:p>
            <a:pPr algn="ctr">
              <a:defRPr sz="2800" b="1">
                <a:solidFill>
                  <a:srgbClr val="FFFFFF"/>
                </a:solidFill>
                <a:latin typeface="Segoe UI"/>
              </a:defRPr>
            </a:pPr>
            <a:r>
              <a:t>CẢM ƠN THẦY CÔ VÀ CÁC BẠN ĐÃ LẮNG NGHE!</a:t>
            </a:r>
          </a:p>
          <a:p>
            <a:pPr algn="ctr">
              <a:spcBef>
                <a:spcPts val="800"/>
              </a:spcBef>
              <a:defRPr sz="1600" b="1">
                <a:solidFill>
                  <a:srgbClr val="3B82F6"/>
                </a:solidFill>
                <a:latin typeface="Segoe UI"/>
              </a:defRPr>
            </a:pPr>
            <a:r>
              <a:t>PHIÊN HỎI &amp; ĐÁP — QUESTIONS &amp; ANSWERS (Q&amp;A)</a:t>
            </a:r>
          </a:p>
          <a:p>
            <a:pPr algn="ctr">
              <a:spcBef>
                <a:spcPts val="600"/>
              </a:spcBef>
              <a:defRPr sz="1100">
                <a:solidFill>
                  <a:srgbClr val="94A3B8"/>
                </a:solidFill>
                <a:latin typeface="Segoe UI"/>
              </a:defRPr>
            </a:pPr>
            <a:r>
              <a:t>Học phần CSD203 — Data Structures and Algorithms with Python · Đề tài 4: Nén Dữ Liệu &amp; BPE Tokenizer</a:t>
            </a:r>
          </a:p>
        </p:txBody>
      </p:sp>
      <p:sp>
        <p:nvSpPr>
          <p:cNvPr id="4" name="Rounded Rectangle 3"/>
          <p:cNvSpPr/>
          <p:nvPr/>
        </p:nvSpPr>
        <p:spPr>
          <a:xfrm>
            <a:off x="1645920" y="3840480"/>
            <a:ext cx="429768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3977639"/>
            <a:ext cx="3931920" cy="1828800"/>
          </a:xfrm>
          <a:prstGeom prst="rect">
            <a:avLst/>
          </a:prstGeom>
          <a:noFill/>
        </p:spPr>
        <p:txBody>
          <a:bodyPr wrap="square" lIns="0" rIns="0" tIns="0" bIns="0">
            <a:spAutoFit/>
          </a:bodyPr>
          <a:lstStyle/>
          <a:p>
            <a:pPr>
              <a:defRPr sz="1100" b="1">
                <a:solidFill>
                  <a:srgbClr val="0891B2"/>
                </a:solidFill>
                <a:latin typeface="Segoe UI"/>
              </a:defRPr>
            </a:pPr>
            <a:r>
              <a:t>Kho Lưu Trữ &amp; Tái Lập</a:t>
            </a:r>
          </a:p>
          <a:p>
            <a:pPr>
              <a:spcBef>
                <a:spcPts val="400"/>
              </a:spcBef>
              <a:defRPr sz="850">
                <a:solidFill>
                  <a:srgbClr val="CBD5E1"/>
                </a:solidFill>
                <a:latin typeface="Segoe UI"/>
              </a:defRPr>
            </a:pPr>
            <a:r>
              <a:t>• Mã nguồn đầy đủ: RLE, Huffman, LZW, BPE (3 trainers)</a:t>
            </a:r>
          </a:p>
          <a:p>
            <a:pPr>
              <a:spcBef>
                <a:spcPts val="400"/>
              </a:spcBef>
              <a:defRPr sz="850">
                <a:solidFill>
                  <a:srgbClr val="CBD5E1"/>
                </a:solidFill>
                <a:latin typeface="Segoe UI"/>
              </a:defRPr>
            </a:pPr>
            <a:r>
              <a:t>• Kiểm thử: python -m pytest -q (761 passed)</a:t>
            </a:r>
          </a:p>
          <a:p>
            <a:pPr>
              <a:spcBef>
                <a:spcPts val="400"/>
              </a:spcBef>
              <a:defRPr sz="850">
                <a:solidFill>
                  <a:srgbClr val="CBD5E1"/>
                </a:solidFill>
                <a:latin typeface="Segoe UI"/>
              </a:defRPr>
            </a:pPr>
            <a:r>
              <a:t>• Báo cáo &amp; Phân tích: python -m rq3.analyze_rq3</a:t>
            </a:r>
          </a:p>
        </p:txBody>
      </p:sp>
      <p:sp>
        <p:nvSpPr>
          <p:cNvPr id="6" name="Rounded Rectangle 5"/>
          <p:cNvSpPr/>
          <p:nvPr/>
        </p:nvSpPr>
        <p:spPr>
          <a:xfrm>
            <a:off x="6217920" y="3840480"/>
            <a:ext cx="429768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3977639"/>
            <a:ext cx="3931920" cy="1828800"/>
          </a:xfrm>
          <a:prstGeom prst="rect">
            <a:avLst/>
          </a:prstGeom>
          <a:noFill/>
        </p:spPr>
        <p:txBody>
          <a:bodyPr wrap="square" lIns="0" rIns="0" tIns="0" bIns="0">
            <a:spAutoFit/>
          </a:bodyPr>
          <a:lstStyle/>
          <a:p>
            <a:pPr>
              <a:defRPr sz="1100" b="1">
                <a:solidFill>
                  <a:srgbClr val="0891B2"/>
                </a:solidFill>
                <a:latin typeface="Segoe UI"/>
              </a:defRPr>
            </a:pPr>
            <a:r>
              <a:t>Nhóm Thực Hiện — Nhóm 4 (AI21B)</a:t>
            </a:r>
          </a:p>
          <a:p>
            <a:pPr>
              <a:spcBef>
                <a:spcPts val="400"/>
              </a:spcBef>
              <a:defRPr sz="850">
                <a:solidFill>
                  <a:srgbClr val="FFFFFF"/>
                </a:solidFill>
                <a:latin typeface="Segoe UI"/>
              </a:defRPr>
            </a:pPr>
            <a:r>
              <a:t>• Trần Châu Hoàng Nam (Trưởng nhóm) — QE210145</a:t>
            </a:r>
          </a:p>
          <a:p>
            <a:pPr>
              <a:spcBef>
                <a:spcPts val="400"/>
              </a:spcBef>
              <a:defRPr sz="850">
                <a:solidFill>
                  <a:srgbClr val="CBD5E1"/>
                </a:solidFill>
                <a:latin typeface="Segoe UI"/>
              </a:defRPr>
            </a:pPr>
            <a:r>
              <a:t>• Nguyễn Trí Viễn — QE210041 · Phạm Minh Tiến — QE210079</a:t>
            </a:r>
          </a:p>
          <a:p>
            <a:pPr>
              <a:spcBef>
                <a:spcPts val="400"/>
              </a:spcBef>
              <a:defRPr sz="850">
                <a:solidFill>
                  <a:srgbClr val="CBD5E1"/>
                </a:solidFill>
                <a:latin typeface="Segoe UI"/>
              </a:defRPr>
            </a:pPr>
            <a:r>
              <a:t>• Hoàng Đức Khánh — SE180114 · Trương Đình Tân — QE210065 · Dương Quốc Thịnh — QE210121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